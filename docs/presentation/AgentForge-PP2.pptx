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package/2006/relationships/metadata/thumbnail" Target="docProps/thumbnail.jpeg"/></Relationships>
</file>

<file path=ppt/presentation.xml><?xml version="1.0" encoding="utf-8"?>
<p:presentation xmlns:p="http://schemas.openxmlformats.org/presentationml/2006/main" xmlns:r="http://schemas.openxmlformats.org/officeDocument/2006/relationships" xmlns:a="http://schemas.openxmlformats.org/drawingml/2006/main">
  <p:sldMasterIdLst>
    <p:sldMasterId id="2147483660"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p:notesSz cx="6857895" cy="9143861"/>
  <p:kinsoku lang="zh-CN" invalStChars="!%),.:;?]}¨·ˇˉ་―‖’”…‰∶、。〃々〉》」』】〕〗！＂＇％），．：；？］｀｜｝～￠" invalEndChars="([{·‘“〈《「『【〔〖（．［｛￡￥"/>
  <p:defaultTextStyle>
    <a:defPPr>
      <a:defRPr lang="zh-CN"/>
    </a:defPPr>
    <a:lvl1pPr marL="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1pPr>
    <a:lvl2pPr marL="4572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2pPr>
    <a:lvl3pPr marL="914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3pPr>
    <a:lvl4pPr marL="13716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4pPr>
    <a:lvl5pPr marL="18288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5pPr>
    <a:lvl6pPr marL="22860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6pPr>
    <a:lvl7pPr marL="27432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7pPr>
    <a:lvl8pPr marL="3200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8pPr>
    <a:lvl9pPr marL="3200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9pPr>
  </p:defaultTextStyle>
</p:presentation>
</file>

<file path=ppt/presProps.xml><?xml version="1.0" encoding="utf-8"?>
<p:presentationPr xmlns:p="http://schemas.openxmlformats.org/presentationml/2006/main" xmlns:r="http://schemas.openxmlformats.org/officeDocument/2006/relationships" xmlns:a="http://schemas.openxmlformats.org/drawingml/2006/main">
  <p:showPr showNarration="1">
    <p:penClr>
      <a:srgbClr val="FF0000"/>
    </p:penClr>
    <p:extLst>
      <p:ext uri="{EC167BDD-8182-4AB7-AECC-EB403E3ABB37}">
        <p14:laserClr xmlns:p14="http://schemas.microsoft.com/office/powerpoint/2010/main">
          <a:srgbClr val="FF0000"/>
        </p14:laserClr>
      </p:ext>
    </p:extLst>
  </p:showPr>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r="http://schemas.openxmlformats.org/officeDocument/2006/relationships" xmlns:a="http://schemas.openxmlformats.org/drawingml/2006/main">
  <p:normalViewPr>
    <p:restoredLeft sz="15611" autoAdjust="0"/>
    <p:restoredTop sz="99500" autoAdjust="0"/>
  </p:normalViewPr>
  <p:slideViewPr>
    <p:cSldViewPr snapToGrid="0" snapToObjects="1">
      <p:cViewPr varScale="1">
        <p:scale>
          <a:sx n="95" d="100"/>
          <a:sy n="95" d="100"/>
        </p:scale>
        <p:origin x="0" y="0"/>
      </p:cViewPr>
      <p:guideLst/>
    </p:cSldViewPr>
  </p:slideViewPr>
  <p:outlineViewPr>
    <p:cViewPr>
      <p:scale>
        <a:sx n="33" d="100"/>
        <a:sy n="33" d="100"/>
      </p:scale>
      <p:origin x="0" y="0"/>
    </p:cViewPr>
    <p:sldLst/>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57" d="100"/>
          <a:sy n="57" d="100"/>
        </p:scale>
        <p:origin x="0" y="0"/>
      </p:cViewPr>
      <p:guideLst/>
    </p:cSldViewPr>
  </p:notesViewPr>
  <p:gridSpacing cx="72009" cy="72009"/>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7" name="Text box"/>
          <p:cNvSpPr>
            <a:spLocks noGrp="1"/>
          </p:cNvSpPr>
          <p:nvPr>
            <p:ph type="sldNum" idx="5"/>
          </p:nvPr>
        </p:nvSpPr>
        <p:spPr>
          <a:xfrm rot="0">
            <a:off x="3884613" y="8685213"/>
            <a:ext cx="2971800" cy="458787"/>
          </a:xfrm>
          <a:prstGeom prst="rect"/>
          <a:noFill/>
          <a:ln w="12700" cmpd="sng" cap="flat">
            <a:noFill/>
            <a:prstDash val="solid"/>
            <a:miter/>
          </a:ln>
        </p:spPr>
        <p:txBody>
          <a:bodyPr vert="horz" wrap="square" lIns="91440" tIns="45720" rIns="91440" bIns="45720" anchor="b" anchorCtr="0">
            <a:prstTxWarp prst="textNoShape"/>
          </a:bodyPr>
          <a:lstStyle/>
          <a:p>
            <a:pPr algn="r"/>
            <a:fld id="{CAD2D6BD-DE1B-4B5F-8B41-2702339687B9}" type="slidenum">
              <a:rPr lang="en-US" altLang="zh-CN" sz="1200" b="0" i="0" u="none" strike="noStrike" kern="1200" cap="none" spc="0" baseline="0">
                <a:solidFill>
                  <a:schemeClr val="tx1"/>
                </a:solidFill>
                <a:latin typeface="Calibri" pitchFamily="0" charset="0"/>
                <a:ea typeface="等线" pitchFamily="0" charset="0"/>
                <a:cs typeface="Calibri" pitchFamily="0" charset="0"/>
              </a:rPr>
              <a:t>&lt;#&gt;</a:t>
            </a:fld>
            <a:endParaRPr lang="zh-CN" altLang="en-US" sz="1200">
              <a:latin typeface="Calibri" pitchFamily="0" charset="0"/>
              <a:ea typeface="等线" pitchFamily="0" charset="0"/>
              <a:cs typeface="Calibri" pitchFamily="0" charset="0"/>
            </a:endParaRPr>
          </a:p>
        </p:txBody>
      </p:sp>
      <p:sp>
        <p:nvSpPr>
          <p:cNvPr id="2" name="Text box"/>
          <p:cNvSpPr>
            <a:spLocks noGrp="1"/>
          </p:cNvSpPr>
          <p:nvPr>
            <p:ph type="hdr"/>
          </p:nvPr>
        </p:nvSpPr>
        <p:spPr>
          <a:xfrm rot="0">
            <a:off x="0" y="0"/>
            <a:ext cx="2971799" cy="458787"/>
          </a:xfrm>
          <a:prstGeom prst="rect"/>
          <a:noFill/>
          <a:ln w="12700" cmpd="sng" cap="flat">
            <a:noFill/>
            <a:prstDash val="solid"/>
            <a:miter/>
          </a:ln>
        </p:spPr>
        <p:txBody>
          <a:bodyPr vert="horz" wrap="square" lIns="91440" tIns="45720" rIns="91440" bIns="45720" anchor="t" anchorCtr="0">
            <a:prstTxWarp prst="textNoShape"/>
          </a:bodyPr>
          <a:lstStyle/>
          <a:p>
            <a:pPr algn="l"/>
            <a:endParaRPr lang="zh-CN" altLang="en-US" sz="1200">
              <a:latin typeface="Calibri" pitchFamily="0" charset="0"/>
              <a:ea typeface="等线" pitchFamily="0" charset="0"/>
              <a:cs typeface="Calibri" pitchFamily="0" charset="0"/>
            </a:endParaRPr>
          </a:p>
        </p:txBody>
      </p:sp>
      <p:sp>
        <p:nvSpPr>
          <p:cNvPr id="3" name="Text box"/>
          <p:cNvSpPr>
            <a:spLocks noGrp="1"/>
          </p:cNvSpPr>
          <p:nvPr>
            <p:ph type="dt" idx="1"/>
          </p:nvPr>
        </p:nvSpPr>
        <p:spPr>
          <a:xfrm rot="0">
            <a:off x="3884613" y="0"/>
            <a:ext cx="2971800" cy="458787"/>
          </a:xfrm>
          <a:prstGeom prst="rect"/>
          <a:noFill/>
          <a:ln w="12700" cmpd="sng" cap="flat">
            <a:noFill/>
            <a:prstDash val="solid"/>
            <a:miter/>
          </a:ln>
        </p:spPr>
        <p:txBody>
          <a:bodyPr vert="horz" wrap="square" lIns="91440" tIns="45720" rIns="91440" bIns="45720" anchor="t" anchorCtr="0">
            <a:prstTxWarp prst="textNoShape"/>
          </a:bodyPr>
          <a:lstStyle/>
          <a:p>
            <a:pPr algn="r"/>
            <a:fld id="{CAD2D6BD-DE1B-4B5F-8B41-2702339687B9}" type="datetime1">
              <a:rPr lang="en-US" altLang="zh-CN" sz="1200">
                <a:latin typeface="Calibri" pitchFamily="0" charset="0"/>
                <a:ea typeface="等线" pitchFamily="0" charset="0"/>
                <a:cs typeface="Calibri" pitchFamily="0" charset="0"/>
              </a:rPr>
              <a:t>10/7/2026</a:t>
            </a:fld>
            <a:endParaRPr lang="zh-CN" altLang="en-US" sz="1200">
              <a:latin typeface="Calibri" pitchFamily="0" charset="0"/>
              <a:ea typeface="等线" pitchFamily="0" charset="0"/>
              <a:cs typeface="Calibri" pitchFamily="0" charset="0"/>
            </a:endParaRPr>
          </a:p>
        </p:txBody>
      </p:sp>
      <p:sp>
        <p:nvSpPr>
          <p:cNvPr id="4" name="Object"/>
          <p:cNvSpPr>
            <a:spLocks noGrp="1" noChangeAspect="1"/>
          </p:cNvSpPr>
          <p:nvPr>
            <p:ph type="sldImg" idx="2"/>
          </p:nvPr>
        </p:nvSpPr>
        <p:spPr>
          <a:xfrm rot="0">
            <a:off x="685800" y="1143000"/>
            <a:ext cx="5486400" cy="3086100"/>
          </a:xfrm>
          <a:prstGeom prst="rect"/>
          <a:noFill/>
          <a:ln w="12700" cmpd="sng" cap="flat">
            <a:solidFill>
              <a:srgbClr val="000000"/>
            </a:solidFill>
            <a:prstDash val="solid"/>
            <a:round/>
          </a:ln>
        </p:spPr>
      </p:sp>
      <p:sp>
        <p:nvSpPr>
          <p:cNvPr id="5" name="Text box"/>
          <p:cNvSpPr>
            <a:spLocks noGrp="1"/>
          </p:cNvSpPr>
          <p:nvPr>
            <p:ph type="body" idx="3"/>
          </p:nvPr>
        </p:nvSpPr>
        <p:spPr>
          <a:xfrm rot="0">
            <a:off x="685800" y="4400550"/>
            <a:ext cx="5486400" cy="3600450"/>
          </a:xfrm>
          <a:prstGeom prst="rect"/>
          <a:noFill/>
          <a:ln w="12700" cmpd="sng" cap="flat">
            <a:noFill/>
            <a:prstDash val="solid"/>
            <a:miter/>
          </a:ln>
        </p:spPr>
        <p:txBody>
          <a:bodyPr vert="horz" wrap="square" lIns="91440" tIns="45720" rIns="91440" bIns="45720" anchor="t" anchorCtr="0">
            <a:prstTxWarp prst="textNoShape"/>
          </a:bodyPr>
          <a:lstStyle/>
          <a:p>
            <a:r>
              <a:rPr lang="en-US" altLang="zh-CN"/>
              <a:t>Click to edit Master text styles</a:t>
            </a:r>
            <a:endParaRPr lang="en-US" altLang="zh-CN"/>
          </a:p>
          <a:p>
            <a:pPr lvl="1"/>
            <a:r>
              <a:rPr lang="en-US" altLang="zh-CN"/>
              <a:t>Second level</a:t>
            </a:r>
            <a:endParaRPr lang="en-US" altLang="zh-CN"/>
          </a:p>
          <a:p>
            <a:pPr lvl="2"/>
            <a:r>
              <a:rPr lang="en-US" altLang="zh-CN"/>
              <a:t>Third level</a:t>
            </a:r>
            <a:endParaRPr lang="en-US" altLang="zh-CN"/>
          </a:p>
          <a:p>
            <a:pPr lvl="3"/>
            <a:r>
              <a:rPr lang="en-US" altLang="zh-CN"/>
              <a:t>Fourth level</a:t>
            </a:r>
            <a:endParaRPr lang="en-US" altLang="zh-CN"/>
          </a:p>
          <a:p>
            <a:pPr lvl="4"/>
            <a:r>
              <a:rPr lang="en-US" altLang="zh-CN"/>
              <a:t>Fifth level</a:t>
            </a:r>
            <a:endParaRPr lang="zh-CN" altLang="en-US"/>
          </a:p>
        </p:txBody>
      </p:sp>
      <p:sp>
        <p:nvSpPr>
          <p:cNvPr id="6" name="Text box"/>
          <p:cNvSpPr>
            <a:spLocks noGrp="1"/>
          </p:cNvSpPr>
          <p:nvPr>
            <p:ph type="ftr" idx="4"/>
          </p:nvPr>
        </p:nvSpPr>
        <p:spPr>
          <a:xfrm rot="0">
            <a:off x="0" y="8685213"/>
            <a:ext cx="2971799" cy="458787"/>
          </a:xfrm>
          <a:prstGeom prst="rect"/>
          <a:noFill/>
          <a:ln w="12700" cmpd="sng" cap="flat">
            <a:noFill/>
            <a:prstDash val="solid"/>
            <a:miter/>
          </a:ln>
        </p:spPr>
        <p:txBody>
          <a:bodyPr vert="horz" wrap="square" lIns="91440" tIns="45720" rIns="91440" bIns="45720" anchor="b" anchorCtr="0">
            <a:prstTxWarp prst="textNoShape"/>
          </a:bodyPr>
          <a:lstStyle/>
          <a:p>
            <a:pPr algn="l"/>
            <a:endParaRPr lang="zh-CN" altLang="en-US" sz="1200">
              <a:latin typeface="Calibri" pitchFamily="0" charset="0"/>
              <a:ea typeface="等线" pitchFamily="0" charset="0"/>
              <a:cs typeface="Calibri" pitchFamily="0" charset="0"/>
            </a:endParaRPr>
          </a:p>
        </p:txBody>
      </p:sp>
    </p:spTree>
    <p:extLst>
      <p:ext uri="{BB962C8B-B14F-4D97-AF65-F5344CB8AC3E}">
        <p14:creationId xmlns:p14="http://schemas.microsoft.com/office/powerpoint/2010/main" val="313230604"/>
      </p:ext>
    </p:extLst>
  </p:cSld>
  <p:clrMap bg1="lt1" tx1="dk1" bg2="lt2" tx2="dk2" accent1="accent1" accent2="accent2" accent3="accent3" accent4="accent4" accent5="accent5" accent6="accent6" hlink="hlink" folHlink="folHlink"/>
  <p:hf sldNum="1" hdr="0" ftr="0" dt="0"/>
  <p:notesStyle>
    <a:lvl1pPr marL="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1pPr>
    <a:lvl2pPr marL="4572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2pPr>
    <a:lvl3pPr marL="914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3pPr>
    <a:lvl4pPr marL="13716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4pPr>
    <a:lvl5pPr marL="18288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5pPr>
    <a:lvl6pPr marL="22860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6pPr>
    <a:lvl7pPr marL="27432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7pPr>
    <a:lvl8pPr marL="3200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8pPr>
    <a:lvl9pPr marL="3200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AgentForge is a studio that takes a product from a single sentence to a running, tested and deployed web application. Five specialist LLM agents (SRS, prototype, builder, QA and deploy) share one persistent project context. Everything on these slides is taken from the AgentForge source code and its README; implemented capability is kept separate from demonstrated results.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talk follows the life of a project: first the problem and the research gap, then the architecture, then each of the five agents with its own tools, then platform-wide features, and finally how the system will be evaluated, its limits and its contributions.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is the design problem AgentForge addresses, not a measured industry statistic. A short idea hides decisions about users, screens, data, permissions and success criteria. If those are not captured and carried forward, each later stage guesses — and a release cannot be verified.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These six gaps come from comparing how current AI coding assistants, prompt-to-app builders and research multi-agent frameworks (for example ChatDev and MetaGPT) work. Each gap maps to a concrete AgentForge mechanism: interview and SRS (G1), one shared context (G2), code-based gates (G3), runner evidence (G4), approval-gated deployment (G5) and local Ollama models with editable prompt packs (G6).</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Read across a row: which kind of tool covers that capability. 'Partial' means the capability exists in a limited form — for example prompt-to-app builders offer one-click hosting but no approval plan or live verification, and MetaGPT writes PRD-style documents but has no adaptive interview. The point is not that other tools are poor; it is that no single category covers the whole path from idea to verified release.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main question is whether specialisation, a shared context and hard gates together produce software that is both complete against the customer's intent and verifiable. Each research question isolates one mechanism so that it can be measured and ablated in the evaluation.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Read the diagram left to right: every stage writes into one shared project context and artifact store. 'Self-optimised' means the system corrects itself through closed loops: a validator, a renderer, a test runner or a live probe produces a concrete failure, and that failure becomes the next instruction to the agent, within a bounded number of rounds.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Top to bottom: the Studio is a Next.js interface; it talks to a Python backend over an HTTP API (long model work runs as jobs that the browser polls) and a WebSocket feed that streams every event. The orchestration layer holds the shared services. The five agents are ordinary Python packages that all go through one ProjectSession, which owns the single model conversation, and everything they produce lands in the project's own folder on disk.</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project record is what makes AgentForge one system rather than five tools. context.json is the shared conversation, events.jsonl is the audit trail the Studio replays, and each stage keeps its outputs in its own folder. The engine features underneath keep long runs alive: bounded plan/execute rounds, memory summarisation with a fallback, retries, and focused parallel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Gates are the only judgement not delegated to a model. Gaps found by the coverage gate go back to the agent as instructions for two rounds and anything left is recorded on the document. In the README's bakery run the coverage gate took the first draft from 1 diagram to 7, from 3 functional requirements to 6, and from seven four-line wireframes to seven drawn screens.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SRS agent owns the first half of a project. The interview has no fixed question list: a one-screen tool finishes in a handful of questions, a multi-role system takes more. The approved plan bounds the specification; the specification bounds the diagrams and wireframes; and the handoff files are generated deterministically so later agents read exactly the same contract.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These are the specialist tools behind the SRS agent — not generic file editing. On the right is everything the agent leaves in the project's .agentforge folder, and the standards its document and diagrams are written against.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prototype is the first time the customer sees the product instead of reading about it. The design is decided once and binds everything after it. The prototype is static HTML, CSS and JavaScript — a stage output for review, not the production application.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prototype agent's tools turn the approved wireframes and design into one coherent, clickable product. The right side lists what it leaves in .agentforge and a sample of the theme catalogue the customer chooses from. The prototype is static HTML for review, not the production application.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After prototype approval the builder installs one of three bundled stacks and then runs a single plan with three sequential phases. The approved HTML prototype is the source of truth for the front end; the SRS is the source of truth for data, permissions and behaviour. Each run's plan is kept as developmentplanN.md in the app's plan folder.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builder's specialist tools are the bundled scaffolds and guides, the Node toolchain, a real MongoDB connection check and the provider catalogue. Customers pick integrations such as Stripe test mode or Google sign-in; the credentials stay encrypted and never enter the model's context.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QA treats the builder's claims as unverified until a runner says otherwise. The report on disk is the record and is written after every layer, so an interrupted run still leaves what it proved. Complete means every planned layer has an honest outcome, including 'unavailable' or 'partial'.</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Each QA tool leaves a machine-readable file, and the Studio's fourteen testing views read those files directly. Unavailable tools and missing reports are shown as gaps, never counted as passes.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Deployment is plan-first. Nothing leaves the computer while the agent plans, and nothing is deployed until the customer approves. After execution the Studio probes the public address itself; failures go back to the agent for up to two repair rounds before the run is reported as failed.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Targets come from the installed deployment skill pages: Vercel, Netlify, Azure, AWS EC2, AWS ECS and GitHub. Each still needs a compatible stack, the provider's CLI, a signed-in account and saved configuration. The monitor catalogue holds 15 GitHub, 15 Vercel, 12 Azure, 11 ECS, 9 EC2, 8 Netlify and 6 AWS-account commands, all read-only.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Studio is the customer's single workspace. Every stage has its own view, and every action by an agent or a person is streamed and kept. These features are implemented in the Studio's components and the backend routes they call.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 later request changes the existing project instead of starting over. The same plan-first flow is used for chat changes and deployments: plan read-only, show it, act only after approval, then record a version with the files touched and the test results before and after.</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Because agents run real commands on the customer's machine, safety cannot depend on the model behaving. Each of these guardrails is implemented in the backend (tools, session, secrets_guard, deploy_vars, plugins, cli_signin and the ZAP scan script) and most are covered by the repository's test suites.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table answers 'what does each tool actually do'. Generic agent operations such as reading or editing files are deliberately left out — they are the engine's plumbing, not tools that give an agent its specialism.</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is a prospective evaluation, not completed measurements. All four metrics can be collected from artifacts AgentForge already writes, so the same numbers can be gathered for every project and for each baseline and ablation.</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Automated checks improve the evidence but do not establish complete correctness. The model is chosen by the user, external services must be prepared, and broad outcome claims need repeated live runs.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code joins five specialist agents through one persistent project context, with closed feedback loops for self-correction. Plans, SRS files, prototypes, build reports and QA evidence make each handoff inspectable. The next proof is repeated end-to-end runs and a successful live probe.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Invite questions about the architecture, the validation gates, the evidence collected so far, the deployment flow or the evaluation design.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a="http://schemas.openxmlformats.org/drawingml/2006/main" xmlns:r="http://schemas.openxmlformats.org/officeDocument/2006/relationships" type="title" preserve="1">
  <p:cSld name="标题幻灯片">
    <p:spTree>
      <p:nvGrpSpPr>
        <p:cNvPr id="1" name=""/>
        <p:cNvGrpSpPr/>
        <p:nvPr/>
      </p:nvGrpSpPr>
      <p:grpSpPr>
        <a:xfrm>
          <a:off x="0" y="0"/>
          <a:ext cx="0" cy="0"/>
          <a:chOff x="0" y="0"/>
          <a:chExt cx="0" cy="0"/>
        </a:xfrm>
      </p:grpSpPr>
      <p:sp>
        <p:nvSpPr>
          <p:cNvPr id="2" name="Text box"/>
          <p:cNvSpPr>
            <a:spLocks noGrp="1"/>
          </p:cNvSpPr>
          <p:nvPr>
            <p:ph type="ctrTitle"/>
          </p:nvPr>
        </p:nvSpPr>
        <p:spPr>
          <a:xfrm>
            <a:off x="914377" y="2130425"/>
            <a:ext cx="10362940" cy="1470025"/>
          </a:xfrm>
        </p:spPr>
        <p:txBody>
          <a:bodyPr/>
          <a:lstStyle/>
          <a:p>
            <a:r>
              <a:rPr lang="zh-CN" altLang="en-US" smtClean="0"/>
              <a:t>单击此处编辑母版标题样式</a:t>
            </a:r>
            <a:endParaRPr lang="zh-CN" altLang="en-US"/>
          </a:p>
        </p:txBody>
      </p:sp>
      <p:sp>
        <p:nvSpPr>
          <p:cNvPr id="3" name="Text box"/>
          <p:cNvSpPr>
            <a:spLocks noGrp="1"/>
          </p:cNvSpPr>
          <p:nvPr>
            <p:ph type="subTitle" idx="1"/>
          </p:nvPr>
        </p:nvSpPr>
        <p:spPr>
          <a:xfrm>
            <a:off x="1828754" y="3886199"/>
            <a:ext cx="8534186"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Tree>
    <p:extLst>
      <p:ext uri="{BB962C8B-B14F-4D97-AF65-F5344CB8AC3E}">
        <p14:creationId xmlns:p14="http://schemas.microsoft.com/office/powerpoint/2010/main" val="418399411"/>
      </p:ext>
    </p:extLst>
  </p:cSld>
  <p:clrMapOvr>
    <a:masterClrMapping/>
  </p:clrMapOvr>
</p:sldLayout>
</file>

<file path=ppt/slideLayouts/slideLayout2.xml><?xml version="1.0" encoding="utf-8"?>
<p:sldLayout xmlns:p="http://schemas.openxmlformats.org/presentationml/2006/main" xmlns:a="http://schemas.openxmlformats.org/drawingml/2006/main" xmlns:r="http://schemas.openxmlformats.org/officeDocument/2006/relationships" type="obj" preserve="1">
  <p:cSld name="标题和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296240878"/>
      </p:ext>
    </p:extLst>
  </p:cSld>
  <p:clrMapOvr>
    <a:masterClrMapping/>
  </p:clrMapOvr>
</p:sldLayout>
</file>

<file path=ppt/slideLayouts/slideLayout3.xml><?xml version="1.0" encoding="utf-8"?>
<p:sldLayout xmlns:p="http://schemas.openxmlformats.org/presentationml/2006/main" xmlns:a="http://schemas.openxmlformats.org/drawingml/2006/main" xmlns:r="http://schemas.openxmlformats.org/officeDocument/2006/relationships" type="secHead" preserve="1">
  <p:cSld name="节标题">
    <p:spTree>
      <p:nvGrpSpPr>
        <p:cNvPr id="1" name=""/>
        <p:cNvGrpSpPr/>
        <p:nvPr/>
      </p:nvGrpSpPr>
      <p:grpSpPr>
        <a:xfrm>
          <a:off x="0" y="0"/>
          <a:ext cx="0" cy="0"/>
          <a:chOff x="0" y="0"/>
          <a:chExt cx="0" cy="0"/>
        </a:xfrm>
      </p:grpSpPr>
      <p:sp>
        <p:nvSpPr>
          <p:cNvPr id="2" name="Text box"/>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Tree>
    <p:extLst>
      <p:ext uri="{BB962C8B-B14F-4D97-AF65-F5344CB8AC3E}">
        <p14:creationId xmlns:p14="http://schemas.microsoft.com/office/powerpoint/2010/main" val="393472963"/>
      </p:ext>
    </p:extLst>
  </p:cSld>
  <p:clrMapOvr>
    <a:masterClrMapping/>
  </p:clrMapOvr>
</p:sldLayout>
</file>

<file path=ppt/slideLayouts/slideLayout4.xml><?xml version="1.0" encoding="utf-8"?>
<p:sldLayout xmlns:p="http://schemas.openxmlformats.org/presentationml/2006/main" xmlns:a="http://schemas.openxmlformats.org/drawingml/2006/main" xmlns:r="http://schemas.openxmlformats.org/officeDocument/2006/relationships" type="twoObj" preserve="1">
  <p:cSld name="两栏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2094970295"/>
      </p:ext>
    </p:extLst>
  </p:cSld>
  <p:clrMapOvr>
    <a:masterClrMapping/>
  </p:clrMapOvr>
</p:sldLayout>
</file>

<file path=ppt/slideLayouts/slideLayout5.xml><?xml version="1.0" encoding="utf-8"?>
<p:sldLayout xmlns:p="http://schemas.openxmlformats.org/presentationml/2006/main" xmlns:a="http://schemas.openxmlformats.org/drawingml/2006/main" xmlns:r="http://schemas.openxmlformats.org/officeDocument/2006/relationships" type="twoTxTwoObj" preserve="1">
  <p:cSld name="比较">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lvl1pPr>
              <a:defRPr/>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Text box"/>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Text box"/>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Text box"/>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802929695"/>
      </p:ext>
    </p:extLst>
  </p:cSld>
  <p:clrMapOvr>
    <a:masterClrMapping/>
  </p:clrMapOvr>
</p:sldLayout>
</file>

<file path=ppt/slideLayouts/slideLayout6.xml><?xml version="1.0" encoding="utf-8"?>
<p:sldLayout xmlns:p="http://schemas.openxmlformats.org/presentationml/2006/main" xmlns:a="http://schemas.openxmlformats.org/drawingml/2006/main" xmlns:r="http://schemas.openxmlformats.org/officeDocument/2006/relationships" type="titleOnly" preserve="1">
  <p:cSld name="仅标题">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1734341828"/>
      </p:ext>
    </p:extLst>
  </p:cSld>
  <p:clrMapOvr>
    <a:masterClrMapping/>
  </p:clrMapOvr>
</p:sldLayout>
</file>

<file path=ppt/slideLayouts/slideLayout7.xml><?xml version="1.0" encoding="utf-8"?>
<p:sldLayout xmlns:p="http://schemas.openxmlformats.org/presentationml/2006/main" xmlns:a="http://schemas.openxmlformats.org/drawingml/2006/main" xmlns:r="http://schemas.openxmlformats.org/officeDocument/2006/relationships"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994036914"/>
      </p:ext>
    </p:extLst>
  </p:cSld>
  <p:clrMapOvr>
    <a:masterClrMapping/>
  </p:clrMapOvr>
</p:sldLayout>
</file>

<file path=ppt/slideLayouts/slideLayout8.xml><?xml version="1.0" encoding="utf-8"?>
<p:sldLayout xmlns:p="http://schemas.openxmlformats.org/presentationml/2006/main" xmlns:a="http://schemas.openxmlformats.org/drawingml/2006/main" xmlns:r="http://schemas.openxmlformats.org/officeDocument/2006/relationships" type="objTx" preserve="1">
  <p:cSld name="内容与标题">
    <p:spTree>
      <p:nvGrpSpPr>
        <p:cNvPr id="1" name=""/>
        <p:cNvGrpSpPr/>
        <p:nvPr/>
      </p:nvGrpSpPr>
      <p:grpSpPr>
        <a:xfrm>
          <a:off x="0" y="0"/>
          <a:ext cx="0" cy="0"/>
          <a:chOff x="0" y="0"/>
          <a:chExt cx="0" cy="0"/>
        </a:xfrm>
      </p:grpSpPr>
      <p:sp>
        <p:nvSpPr>
          <p:cNvPr id="2" name="Text box"/>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extLst>
      <p:ext uri="{BB962C8B-B14F-4D97-AF65-F5344CB8AC3E}">
        <p14:creationId xmlns:p14="http://schemas.microsoft.com/office/powerpoint/2010/main" val="219329916"/>
      </p:ext>
    </p:extLst>
  </p:cSld>
  <p:clrMapOvr>
    <a:masterClrMapping/>
  </p:clrMapOvr>
</p:sldLayout>
</file>

<file path=ppt/slideLayouts/slideLayout9.xml><?xml version="1.0" encoding="utf-8"?>
<p:sldLayout xmlns:p="http://schemas.openxmlformats.org/presentationml/2006/main" xmlns:a="http://schemas.openxmlformats.org/drawingml/2006/main" xmlns:r="http://schemas.openxmlformats.org/officeDocument/2006/relationships" type="picTx" preserve="1">
  <p:cSld name="图片与标题">
    <p:spTree>
      <p:nvGrpSpPr>
        <p:cNvPr id="1" name=""/>
        <p:cNvGrpSpPr/>
        <p:nvPr/>
      </p:nvGrpSpPr>
      <p:grpSpPr>
        <a:xfrm>
          <a:off x="0" y="0"/>
          <a:ext cx="0" cy="0"/>
          <a:chOff x="0" y="0"/>
          <a:chExt cx="0" cy="0"/>
        </a:xfrm>
      </p:grpSpPr>
      <p:sp>
        <p:nvSpPr>
          <p:cNvPr id="2" name="Text box"/>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Text box"/>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extLst>
      <p:ext uri="{BB962C8B-B14F-4D97-AF65-F5344CB8AC3E}">
        <p14:creationId xmlns:p14="http://schemas.microsoft.com/office/powerpoint/2010/main" val="724066951"/>
      </p:ext>
    </p:extLst>
  </p:cSld>
  <p:clrMapOvr>
    <a:masterClrMapping/>
  </p:clrMapOvr>
</p:sldLayout>
</file>

<file path=ppt/slideLayouts/slideLayout10.xml><?xml version="1.0" encoding="utf-8"?>
<p:sldLayout xmlns:p="http://schemas.openxmlformats.org/presentationml/2006/main" xmlns:a="http://schemas.openxmlformats.org/drawingml/2006/main" xmlns:r="http://schemas.openxmlformats.org/officeDocument/2006/relationships" type="vertTx" preserve="1">
  <p:cSld name="标题和竖排文本">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668937304"/>
      </p:ext>
    </p:extLst>
  </p:cSld>
  <p:clrMapOvr>
    <a:masterClrMapping/>
  </p:clrMapOvr>
</p:sldLayout>
</file>

<file path=ppt/slideLayouts/slideLayout11.xml><?xml version="1.0" encoding="utf-8"?>
<p:sldLayout xmlns:p="http://schemas.openxmlformats.org/presentationml/2006/main" xmlns:a="http://schemas.openxmlformats.org/drawingml/2006/main" xmlns:r="http://schemas.openxmlformats.org/officeDocument/2006/relationships" type="vertTitleAndTx" preserve="1">
  <p:cSld name="垂直排列标题与文本">
    <p:spTree>
      <p:nvGrpSpPr>
        <p:cNvPr id="1" name=""/>
        <p:cNvGrpSpPr/>
        <p:nvPr/>
      </p:nvGrpSpPr>
      <p:grpSpPr>
        <a:xfrm>
          <a:off x="0" y="0"/>
          <a:ext cx="0" cy="0"/>
          <a:chOff x="0" y="0"/>
          <a:chExt cx="0" cy="0"/>
        </a:xfrm>
      </p:grpSpPr>
      <p:sp>
        <p:nvSpPr>
          <p:cNvPr id="2" name="Text box"/>
          <p:cNvSpPr>
            <a:spLocks noGrp="1"/>
          </p:cNvSpPr>
          <p:nvPr>
            <p:ph type="title" orient="vert"/>
          </p:nvPr>
        </p:nvSpPr>
        <p:spPr>
          <a:xfrm>
            <a:off x="6629400" y="274638"/>
            <a:ext cx="2057400" cy="5851525"/>
          </a:xfrm>
        </p:spPr>
        <p:txBody>
          <a:bodyPr vert="eaVert"/>
          <a:lstStyle/>
          <a:p>
            <a:r>
              <a:rPr lang="zh-CN" altLang="en-US" smtClean="0"/>
              <a:t>单击此处编辑母版标题样式</a:t>
            </a:r>
            <a:endParaRPr lang="zh-CN" altLang="en-US"/>
          </a:p>
        </p:txBody>
      </p:sp>
      <p:sp>
        <p:nvSpPr>
          <p:cNvPr id="3" name="Text box"/>
          <p:cNvSpPr>
            <a:spLocks noGrp="1"/>
          </p:cNvSpPr>
          <p:nvPr>
            <p:ph type="body" orient="vert" idx="1"/>
          </p:nvPr>
        </p:nvSpPr>
        <p:spPr>
          <a:xfrm>
            <a:off x="457200" y="274638"/>
            <a:ext cx="6019800" cy="5851525"/>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052477100"/>
      </p:ext>
    </p:extLst>
  </p:cSld>
  <p:clrMapOvr>
    <a:masterClrMapping/>
  </p:clrMapOvr>
</p:sldLayout>
</file>

<file path=ppt/slideLayouts/slideLayout12.xml><?xml version="1.0" encoding="utf-8"?>
<p:sldLayout xmlns:p="http://schemas.openxmlformats.org/presentationml/2006/main" xmlns:a="http://schemas.openxmlformats.org/drawingml/2006/main" xmlns:r="http://schemas.openxmlformats.org/officeDocument/2006/relationships" showMasterSp="0" preserve="1">
  <p:cSld name="自定义版式">
    <p:bg>
      <p:bgPr>
        <a:solidFill>
          <a:schemeClr val="bg1"/>
        </a:solidFill>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5162129"/>
      </p:ext>
    </p:extLst>
  </p:cSld>
  <p:clrMapOvr>
    <a:masterClrMapping/>
  </p:clrMapOvr>
  <p:hf sldNum="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p="http://schemas.openxmlformats.org/presentationml/2006/main" xmlns:r="http://schemas.openxmlformats.org/officeDocument/2006/relationships" xmlns:a="http://schemas.openxmlformats.org/drawing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80578498"/>
      </p:ext>
    </p:extLst>
  </p:cSld>
  <p:clrMap bg1="lt1" tx1="dk1" bg2="lt2" tx2="dk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lvl1pPr algn="ctr" defTabSz="914400" eaLnBrk="1" fontAlgn="auto" latinLnBrk="0" hangingPunct="1">
        <a:spcBef>
          <a:spcPts val="0"/>
        </a:spcBef>
        <a:buNone/>
        <a:defRPr sz="4400" kern="1200">
          <a:solidFill>
            <a:schemeClr val="tx1"/>
          </a:solidFill>
          <a:latin typeface="Calibri Light" pitchFamily="0" charset="0"/>
          <a:ea typeface="等线 Light" pitchFamily="0" charset="0"/>
          <a:cs typeface="Calibri Light" pitchFamily="0" charset="0"/>
        </a:defRPr>
      </a:lvl1pPr>
    </p:titleStyle>
    <p:bodyStyle>
      <a:lvl1pPr marL="342900" indent="-342900" algn="l" defTabSz="914400" eaLnBrk="1" fontAlgn="auto" latinLnBrk="0" hangingPunct="1">
        <a:spcBef>
          <a:spcPct val="20000"/>
        </a:spcBef>
        <a:buFont typeface="Arial" pitchFamily="34" charset="0"/>
        <a:buChar char="•"/>
        <a:defRPr sz="3200" kern="1200">
          <a:solidFill>
            <a:schemeClr val="tx1"/>
          </a:solidFill>
          <a:latin typeface="Calibri" pitchFamily="0" charset="0"/>
          <a:ea typeface="等线" pitchFamily="0" charset="0"/>
          <a:cs typeface="Calibri" pitchFamily="0" charset="0"/>
        </a:defRPr>
      </a:lvl1pPr>
      <a:lvl2pPr marL="742950" indent="-285750" algn="l" defTabSz="914400" eaLnBrk="1" fontAlgn="auto" latinLnBrk="0" hangingPunct="1">
        <a:spcBef>
          <a:spcPct val="20000"/>
        </a:spcBef>
        <a:buFont typeface="Arial" pitchFamily="34" charset="0"/>
        <a:buChar char="–"/>
        <a:defRPr sz="2800" kern="1200">
          <a:solidFill>
            <a:schemeClr val="tx1"/>
          </a:solidFill>
          <a:latin typeface="Calibri" pitchFamily="0" charset="0"/>
          <a:ea typeface="等线" pitchFamily="0" charset="0"/>
          <a:cs typeface="Calibri" pitchFamily="0" charset="0"/>
        </a:defRPr>
      </a:lvl2pPr>
      <a:lvl3pPr marL="1143000" indent="-228600" algn="l" defTabSz="914400" eaLnBrk="1" fontAlgn="auto" latinLnBrk="0" hangingPunct="1">
        <a:spcBef>
          <a:spcPct val="20000"/>
        </a:spcBef>
        <a:buFont typeface="Arial" pitchFamily="34" charset="0"/>
        <a:buChar char="•"/>
        <a:defRPr sz="2400" kern="1200">
          <a:solidFill>
            <a:schemeClr val="tx1"/>
          </a:solidFill>
          <a:latin typeface="Calibri" pitchFamily="0" charset="0"/>
          <a:ea typeface="等线" pitchFamily="0" charset="0"/>
          <a:cs typeface="Calibri" pitchFamily="0" charset="0"/>
        </a:defRPr>
      </a:lvl3pPr>
      <a:lvl4pPr marL="16002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4pPr>
      <a:lvl5pPr marL="20574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5pPr>
      <a:lvl6pPr marL="25146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6pPr>
      <a:lvl7pPr marL="29718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7pPr>
      <a:lvl8pPr marL="34290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8pPr>
      <a:lvl9pPr marL="34290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9pPr>
    </p:body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42.png"/><Relationship Id="rId1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4.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6.png"/><Relationship Id="rId4"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612648"/>
            <a:ext cx="5486400" cy="182880"/>
          </a:xfrm>
          <a:prstGeom prst="rect">
            <a:avLst/>
          </a:prstGeom>
          <a:noFill/>
        </p:spPr>
        <p:txBody>
          <a:bodyPr wrap="square" lIns="0" rIns="0" tIns="0" bIns="0" anchor="t"/>
          <a:lstStyle/>
          <a:p>
            <a:pPr algn="l"/>
            <a:r>
              <a:rPr sz="1100" b="0" i="0" spc="308">
                <a:solidFill>
                  <a:srgbClr val="0B1220"/>
                </a:solidFill>
                <a:latin typeface="Urbanist SemiBold"/>
                <a:ea typeface="Urbanist SemiBold"/>
                <a:cs typeface="Urbanist SemiBold"/>
              </a:rPr>
              <a:t>AGENTFORGE · PP2 RESEARCH PRESENTATION</a:t>
            </a:r>
          </a:p>
        </p:txBody>
      </p:sp>
      <p:sp>
        <p:nvSpPr>
          <p:cNvPr id="4" name="TextBox 3"/>
          <p:cNvSpPr txBox="1"/>
          <p:nvPr/>
        </p:nvSpPr>
        <p:spPr>
          <a:xfrm>
            <a:off x="612648" y="1188720"/>
            <a:ext cx="4937760" cy="1600200"/>
          </a:xfrm>
          <a:prstGeom prst="rect">
            <a:avLst/>
          </a:prstGeom>
          <a:noFill/>
        </p:spPr>
        <p:txBody>
          <a:bodyPr wrap="square" lIns="0" rIns="0" tIns="0" bIns="0" anchor="t"/>
          <a:lstStyle/>
          <a:p>
            <a:pPr algn="l">
              <a:lnSpc>
                <a:spcPct val="92000"/>
              </a:lnSpc>
            </a:pPr>
            <a:r>
              <a:rPr sz="3400" b="1" i="0" spc="-102">
                <a:solidFill>
                  <a:srgbClr val="0B1220"/>
                </a:solidFill>
                <a:latin typeface="Inter Bold"/>
                <a:ea typeface="Inter Bold"/>
                <a:cs typeface="Inter Bold"/>
              </a:rPr>
              <a:t>Self-Optimized LLM Multi-Agent System for Software Engineering</a:t>
            </a:r>
          </a:p>
        </p:txBody>
      </p:sp>
      <p:sp>
        <p:nvSpPr>
          <p:cNvPr id="5" name="TextBox 4"/>
          <p:cNvSpPr txBox="1"/>
          <p:nvPr/>
        </p:nvSpPr>
        <p:spPr>
          <a:xfrm>
            <a:off x="612648" y="2852928"/>
            <a:ext cx="5257800" cy="685800"/>
          </a:xfrm>
          <a:prstGeom prst="rect">
            <a:avLst/>
          </a:prstGeom>
          <a:noFill/>
        </p:spPr>
        <p:txBody>
          <a:bodyPr wrap="square" lIns="0" rIns="0" tIns="0" bIns="0" anchor="t"/>
          <a:lstStyle/>
          <a:p>
            <a:pPr algn="l"/>
            <a:r>
              <a:rPr sz="1900" b="0" i="0">
                <a:solidFill>
                  <a:srgbClr val="0B1220"/>
                </a:solidFill>
                <a:latin typeface="Inter"/>
                <a:ea typeface="Inter"/>
                <a:cs typeface="Inter"/>
              </a:rPr>
              <a:t>From a one-sentence idea to a tested, deployed web application</a:t>
            </a:r>
          </a:p>
        </p:txBody>
      </p:sp>
      <p:sp>
        <p:nvSpPr>
          <p:cNvPr id="6" name="TextBox 5"/>
          <p:cNvSpPr txBox="1"/>
          <p:nvPr/>
        </p:nvSpPr>
        <p:spPr>
          <a:xfrm>
            <a:off x="612648"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5</a:t>
            </a:r>
          </a:p>
        </p:txBody>
      </p:sp>
      <p:sp>
        <p:nvSpPr>
          <p:cNvPr id="7" name="TextBox 6"/>
          <p:cNvSpPr txBox="1"/>
          <p:nvPr/>
        </p:nvSpPr>
        <p:spPr>
          <a:xfrm>
            <a:off x="612648"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specialist</a:t>
            </a:r>
          </a:p>
          <a:p>
            <a:pPr algn="l"/>
            <a:r>
              <a:rPr sz="1100" b="0" i="0">
                <a:solidFill>
                  <a:srgbClr val="1F2937"/>
                </a:solidFill>
                <a:latin typeface="Inter"/>
                <a:ea typeface="Inter"/>
                <a:cs typeface="Inter"/>
              </a:rPr>
              <a:t>agents</a:t>
            </a:r>
          </a:p>
        </p:txBody>
      </p:sp>
      <p:sp>
        <p:nvSpPr>
          <p:cNvPr id="8" name="TextBox 7"/>
          <p:cNvSpPr txBox="1"/>
          <p:nvPr/>
        </p:nvSpPr>
        <p:spPr>
          <a:xfrm>
            <a:off x="1943100"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4</a:t>
            </a:r>
          </a:p>
        </p:txBody>
      </p:sp>
      <p:sp>
        <p:nvSpPr>
          <p:cNvPr id="9" name="TextBox 8"/>
          <p:cNvSpPr txBox="1"/>
          <p:nvPr/>
        </p:nvSpPr>
        <p:spPr>
          <a:xfrm>
            <a:off x="1943100"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deterministic</a:t>
            </a:r>
          </a:p>
          <a:p>
            <a:pPr algn="l"/>
            <a:r>
              <a:rPr sz="1100" b="0" i="0">
                <a:solidFill>
                  <a:srgbClr val="1F2937"/>
                </a:solidFill>
                <a:latin typeface="Inter"/>
                <a:ea typeface="Inter"/>
                <a:cs typeface="Inter"/>
              </a:rPr>
              <a:t>quality gates</a:t>
            </a:r>
          </a:p>
        </p:txBody>
      </p:sp>
      <p:sp>
        <p:nvSpPr>
          <p:cNvPr id="10" name="TextBox 9"/>
          <p:cNvSpPr txBox="1"/>
          <p:nvPr/>
        </p:nvSpPr>
        <p:spPr>
          <a:xfrm>
            <a:off x="3273552"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11</a:t>
            </a:r>
          </a:p>
        </p:txBody>
      </p:sp>
      <p:sp>
        <p:nvSpPr>
          <p:cNvPr id="11" name="TextBox 10"/>
          <p:cNvSpPr txBox="1"/>
          <p:nvPr/>
        </p:nvSpPr>
        <p:spPr>
          <a:xfrm>
            <a:off x="3273552"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diagram types</a:t>
            </a:r>
          </a:p>
          <a:p>
            <a:pPr algn="l"/>
            <a:r>
              <a:rPr sz="1100" b="0" i="0">
                <a:solidFill>
                  <a:srgbClr val="1F2937"/>
                </a:solidFill>
                <a:latin typeface="Inter"/>
                <a:ea typeface="Inter"/>
                <a:cs typeface="Inter"/>
              </a:rPr>
              <a:t>per SRS</a:t>
            </a:r>
          </a:p>
        </p:txBody>
      </p:sp>
      <p:sp>
        <p:nvSpPr>
          <p:cNvPr id="12" name="TextBox 11"/>
          <p:cNvSpPr txBox="1"/>
          <p:nvPr/>
        </p:nvSpPr>
        <p:spPr>
          <a:xfrm>
            <a:off x="4604004"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6</a:t>
            </a:r>
          </a:p>
        </p:txBody>
      </p:sp>
      <p:sp>
        <p:nvSpPr>
          <p:cNvPr id="13" name="TextBox 12"/>
          <p:cNvSpPr txBox="1"/>
          <p:nvPr/>
        </p:nvSpPr>
        <p:spPr>
          <a:xfrm>
            <a:off x="4604004"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deployment</a:t>
            </a:r>
          </a:p>
          <a:p>
            <a:pPr algn="l"/>
            <a:r>
              <a:rPr sz="1100" b="0" i="0">
                <a:solidFill>
                  <a:srgbClr val="1F2937"/>
                </a:solidFill>
                <a:latin typeface="Inter"/>
                <a:ea typeface="Inter"/>
                <a:cs typeface="Inter"/>
              </a:rPr>
              <a:t>targets</a:t>
            </a:r>
          </a:p>
        </p:txBody>
      </p:sp>
      <p:sp>
        <p:nvSpPr>
          <p:cNvPr id="14" name="TextBox 13"/>
          <p:cNvSpPr txBox="1"/>
          <p:nvPr/>
        </p:nvSpPr>
        <p:spPr>
          <a:xfrm>
            <a:off x="612648" y="4983480"/>
            <a:ext cx="5257800" cy="566928"/>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One shared project context · runner-based evidence at every handoff · human approval before every release</a:t>
            </a:r>
          </a:p>
        </p:txBody>
      </p:sp>
      <p:sp>
        <p:nvSpPr>
          <p:cNvPr id="15" name="TextBox 14"/>
          <p:cNvSpPr txBox="1"/>
          <p:nvPr/>
        </p:nvSpPr>
        <p:spPr>
          <a:xfrm>
            <a:off x="612648" y="6016752"/>
            <a:ext cx="5486400" cy="228600"/>
          </a:xfrm>
          <a:prstGeom prst="rect">
            <a:avLst/>
          </a:prstGeom>
          <a:noFill/>
        </p:spPr>
        <p:txBody>
          <a:bodyPr wrap="square" lIns="0" rIns="0" tIns="0" bIns="0" anchor="t"/>
          <a:lstStyle/>
          <a:p>
            <a:pPr algn="l"/>
            <a:r>
              <a:rPr sz="1250" b="0" i="0">
                <a:solidFill>
                  <a:srgbClr val="374151"/>
                </a:solidFill>
                <a:latin typeface="Urbanist"/>
                <a:ea typeface="Urbanist"/>
                <a:cs typeface="Urbanist"/>
              </a:rPr>
              <a:t>Requirements → Prototype → Build → QA → Deployment</a:t>
            </a:r>
          </a:p>
        </p:txBody>
      </p:sp>
      <p:pic>
        <p:nvPicPr>
          <p:cNvPr id="16" name="Picture 15" descr="1.png"/>
          <p:cNvPicPr>
            <a:picLocks noChangeAspect="1"/>
          </p:cNvPicPr>
          <p:nvPr/>
        </p:nvPicPr>
        <p:blipFill>
          <a:blip r:embed="rId2"/>
          <a:stretch>
            <a:fillRect/>
          </a:stretch>
        </p:blipFill>
        <p:spPr>
          <a:xfrm>
            <a:off x="6096304" y="0"/>
            <a:ext cx="6096304"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PRESENTATION ROUTE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From idea to release evidence</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Five parts: why the problem matters, how AgentForge works, and what the evidence shows.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02</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3.png"/>
          <p:cNvPicPr>
            <a:picLocks noChangeAspect="1"/>
          </p:cNvPicPr>
          <p:nvPr/>
        </p:nvPicPr>
        <p:blipFill>
          <a:blip r:embed="rId3"/>
          <a:stretch>
            <a:fillRect/>
          </a:stretch>
        </p:blipFill>
        <p:spPr>
          <a:xfrm>
            <a:off x="10488168" y="201168"/>
            <a:ext cx="1316736" cy="1316736"/>
          </a:xfrm>
          <a:prstGeom prst="rect">
            <a:avLst/>
          </a:prstGeom>
        </p:spPr>
      </p:pic>
      <p:sp>
        <p:nvSpPr>
          <p:cNvPr id="10" name="Oval 9"/>
          <p:cNvSpPr/>
          <p:nvPr/>
        </p:nvSpPr>
        <p:spPr>
          <a:xfrm>
            <a:off x="841248" y="2121408"/>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121408"/>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01</a:t>
            </a:r>
          </a:p>
        </p:txBody>
      </p:sp>
      <p:sp>
        <p:nvSpPr>
          <p:cNvPr id="12" name="TextBox 11"/>
          <p:cNvSpPr txBox="1"/>
          <p:nvPr/>
        </p:nvSpPr>
        <p:spPr>
          <a:xfrm>
            <a:off x="1371600" y="2148839"/>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THE PROBLEM AND RESEARCH GAP</a:t>
            </a:r>
          </a:p>
        </p:txBody>
      </p:sp>
      <p:sp>
        <p:nvSpPr>
          <p:cNvPr id="13" name="TextBox 12"/>
          <p:cNvSpPr txBox="1"/>
          <p:nvPr/>
        </p:nvSpPr>
        <p:spPr>
          <a:xfrm>
            <a:off x="1371600" y="2487168"/>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Why AI code generators still fail to deliver complete, verifiable software, and where the gap is.</a:t>
            </a:r>
          </a:p>
        </p:txBody>
      </p:sp>
      <p:sp>
        <p:nvSpPr>
          <p:cNvPr id="14" name="Oval 13"/>
          <p:cNvSpPr/>
          <p:nvPr/>
        </p:nvSpPr>
        <p:spPr>
          <a:xfrm>
            <a:off x="841248" y="2971800"/>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971800"/>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02</a:t>
            </a:r>
          </a:p>
        </p:txBody>
      </p:sp>
      <p:sp>
        <p:nvSpPr>
          <p:cNvPr id="16" name="TextBox 15"/>
          <p:cNvSpPr txBox="1"/>
          <p:nvPr/>
        </p:nvSpPr>
        <p:spPr>
          <a:xfrm>
            <a:off x="1371600" y="2999232"/>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SYSTEM AND ARCHITECTURE</a:t>
            </a:r>
          </a:p>
        </p:txBody>
      </p:sp>
      <p:sp>
        <p:nvSpPr>
          <p:cNvPr id="17" name="TextBox 16"/>
          <p:cNvSpPr txBox="1"/>
          <p:nvPr/>
        </p:nvSpPr>
        <p:spPr>
          <a:xfrm>
            <a:off x="1371600" y="3337560"/>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Five agents in one shared context, a layered platform, four quality gates and an auditable record.</a:t>
            </a:r>
          </a:p>
        </p:txBody>
      </p:sp>
      <p:sp>
        <p:nvSpPr>
          <p:cNvPr id="18" name="Oval 17"/>
          <p:cNvSpPr/>
          <p:nvPr/>
        </p:nvSpPr>
        <p:spPr>
          <a:xfrm>
            <a:off x="841248" y="3822191"/>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3822191"/>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03</a:t>
            </a:r>
          </a:p>
        </p:txBody>
      </p:sp>
      <p:sp>
        <p:nvSpPr>
          <p:cNvPr id="20" name="TextBox 19"/>
          <p:cNvSpPr txBox="1"/>
          <p:nvPr/>
        </p:nvSpPr>
        <p:spPr>
          <a:xfrm>
            <a:off x="1371600" y="3849624"/>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THE FIVE AGENTS</a:t>
            </a:r>
          </a:p>
        </p:txBody>
      </p:sp>
      <p:sp>
        <p:nvSpPr>
          <p:cNvPr id="21" name="TextBox 20"/>
          <p:cNvSpPr txBox="1"/>
          <p:nvPr/>
        </p:nvSpPr>
        <p:spPr>
          <a:xfrm>
            <a:off x="1371600" y="4187952"/>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What each agent does, the specialist tools it uses and the evidence it leaves behind.</a:t>
            </a:r>
          </a:p>
        </p:txBody>
      </p:sp>
      <p:sp>
        <p:nvSpPr>
          <p:cNvPr id="22" name="Oval 21"/>
          <p:cNvSpPr/>
          <p:nvPr/>
        </p:nvSpPr>
        <p:spPr>
          <a:xfrm>
            <a:off x="841248" y="4672583"/>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672583"/>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04</a:t>
            </a:r>
          </a:p>
        </p:txBody>
      </p:sp>
      <p:sp>
        <p:nvSpPr>
          <p:cNvPr id="24" name="TextBox 23"/>
          <p:cNvSpPr txBox="1"/>
          <p:nvPr/>
        </p:nvSpPr>
        <p:spPr>
          <a:xfrm>
            <a:off x="1371600" y="4700016"/>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PLATFORM FEATURES</a:t>
            </a:r>
          </a:p>
        </p:txBody>
      </p:sp>
      <p:sp>
        <p:nvSpPr>
          <p:cNvPr id="25" name="TextBox 24"/>
          <p:cNvSpPr txBox="1"/>
          <p:nvPr/>
        </p:nvSpPr>
        <p:spPr>
          <a:xfrm>
            <a:off x="1371600" y="5038344"/>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Studio workspace, change control and versioning, integrations, security by design and the toolchain.</a:t>
            </a:r>
          </a:p>
        </p:txBody>
      </p:sp>
      <p:sp>
        <p:nvSpPr>
          <p:cNvPr id="26" name="Oval 25"/>
          <p:cNvSpPr/>
          <p:nvPr/>
        </p:nvSpPr>
        <p:spPr>
          <a:xfrm>
            <a:off x="841248" y="5522976"/>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22976"/>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05</a:t>
            </a:r>
          </a:p>
        </p:txBody>
      </p:sp>
      <p:sp>
        <p:nvSpPr>
          <p:cNvPr id="28" name="TextBox 27"/>
          <p:cNvSpPr txBox="1"/>
          <p:nvPr/>
        </p:nvSpPr>
        <p:spPr>
          <a:xfrm>
            <a:off x="1371600" y="5550408"/>
            <a:ext cx="868680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EVALUATION AND OUTLOOK</a:t>
            </a:r>
          </a:p>
        </p:txBody>
      </p:sp>
      <p:sp>
        <p:nvSpPr>
          <p:cNvPr id="29" name="TextBox 28"/>
          <p:cNvSpPr txBox="1"/>
          <p:nvPr/>
        </p:nvSpPr>
        <p:spPr>
          <a:xfrm>
            <a:off x="1371600" y="5888736"/>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How the system will be evaluated, its known limits, the contributions and the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RESEARCH MOTIVATION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An idea must survive the whole lifecycle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5257800" cy="1645920"/>
          </a:xfrm>
          <a:prstGeom prst="rect">
            <a:avLst/>
          </a:prstGeom>
          <a:noFill/>
        </p:spPr>
        <p:txBody>
          <a:bodyPr wrap="square" lIns="0" rIns="0" tIns="0" bIns="0" anchor="t"/>
          <a:lstStyle/>
          <a:p>
            <a:pPr algn="l">
              <a:lnSpc>
                <a:spcPct val="108000"/>
              </a:lnSpc>
            </a:pPr>
            <a:r>
              <a:rPr sz="1550" b="0" i="0">
                <a:solidFill>
                  <a:srgbClr val="111111"/>
                </a:solidFill>
                <a:latin typeface="Inter"/>
                <a:ea typeface="Inter"/>
                <a:cs typeface="Inter"/>
              </a:rPr>
              <a:t>A one-line idea such as “an ordering website for my bakery” leaves most decisions open: who the users are, which screens exist, what data is kept, who may do what, and how success is proven. Every later stage depends on those decisions.</a:t>
            </a:r>
          </a:p>
        </p:txBody>
      </p:sp>
      <p:sp>
        <p:nvSpPr>
          <p:cNvPr id="10" name="Rounded Rectangle 9"/>
          <p:cNvSpPr/>
          <p:nvPr/>
        </p:nvSpPr>
        <p:spPr>
          <a:xfrm>
            <a:off x="6327648" y="1783080"/>
            <a:ext cx="5257800" cy="160020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965960"/>
            <a:ext cx="475488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AGENTFORGE'S ANSWER</a:t>
            </a:r>
          </a:p>
        </p:txBody>
      </p:sp>
      <p:sp>
        <p:nvSpPr>
          <p:cNvPr id="12" name="TextBox 11"/>
          <p:cNvSpPr txBox="1"/>
          <p:nvPr/>
        </p:nvSpPr>
        <p:spPr>
          <a:xfrm>
            <a:off x="6583680" y="2331720"/>
            <a:ext cx="4800600" cy="960120"/>
          </a:xfrm>
          <a:prstGeom prst="rect">
            <a:avLst/>
          </a:prstGeom>
          <a:noFill/>
        </p:spPr>
        <p:txBody>
          <a:bodyPr wrap="square" lIns="0" rIns="0" tIns="0" bIns="0" anchor="t"/>
          <a:lstStyle/>
          <a:p>
            <a:pPr algn="l">
              <a:lnSpc>
                <a:spcPct val="105000"/>
              </a:lnSpc>
            </a:pPr>
            <a:r>
              <a:rPr sz="1300" b="0" i="0">
                <a:solidFill>
                  <a:srgbClr val="111111"/>
                </a:solidFill>
                <a:latin typeface="Inter"/>
                <a:ea typeface="Inter"/>
                <a:cs typeface="Inter"/>
              </a:rPr>
              <a:t>Five specialist agents share one persistent project record, check every artifact before the next stage uses it, and carry QA findings back into repair — until a human approves the release.</a:t>
            </a:r>
          </a:p>
        </p:txBody>
      </p:sp>
      <p:sp>
        <p:nvSpPr>
          <p:cNvPr id="13" name="Chevron 12"/>
          <p:cNvSpPr/>
          <p:nvPr/>
        </p:nvSpPr>
        <p:spPr>
          <a:xfrm>
            <a:off x="612648"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IDEA</a:t>
            </a:r>
          </a:p>
        </p:txBody>
      </p:sp>
      <p:sp>
        <p:nvSpPr>
          <p:cNvPr id="15" name="Chevron 14"/>
          <p:cNvSpPr/>
          <p:nvPr/>
        </p:nvSpPr>
        <p:spPr>
          <a:xfrm>
            <a:off x="2447544"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0424"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REQUIREMENTS</a:t>
            </a:r>
          </a:p>
        </p:txBody>
      </p:sp>
      <p:sp>
        <p:nvSpPr>
          <p:cNvPr id="17" name="Chevron 16"/>
          <p:cNvSpPr/>
          <p:nvPr/>
        </p:nvSpPr>
        <p:spPr>
          <a:xfrm>
            <a:off x="4282440"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5320"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DESIGN</a:t>
            </a:r>
          </a:p>
        </p:txBody>
      </p:sp>
      <p:sp>
        <p:nvSpPr>
          <p:cNvPr id="19" name="Chevron 18"/>
          <p:cNvSpPr/>
          <p:nvPr/>
        </p:nvSpPr>
        <p:spPr>
          <a:xfrm>
            <a:off x="6117336"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CODE</a:t>
            </a:r>
          </a:p>
        </p:txBody>
      </p:sp>
      <p:sp>
        <p:nvSpPr>
          <p:cNvPr id="21" name="Chevron 20"/>
          <p:cNvSpPr/>
          <p:nvPr/>
        </p:nvSpPr>
        <p:spPr>
          <a:xfrm>
            <a:off x="7952232"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5112"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TESTS</a:t>
            </a:r>
          </a:p>
        </p:txBody>
      </p:sp>
      <p:sp>
        <p:nvSpPr>
          <p:cNvPr id="23" name="Chevron 22"/>
          <p:cNvSpPr/>
          <p:nvPr/>
        </p:nvSpPr>
        <p:spPr>
          <a:xfrm>
            <a:off x="9787128"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70008"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RELEASE</a:t>
            </a:r>
          </a:p>
        </p:txBody>
      </p:sp>
      <p:sp>
        <p:nvSpPr>
          <p:cNvPr id="25" name="Rounded Rectangle 24"/>
          <p:cNvSpPr/>
          <p:nvPr/>
        </p:nvSpPr>
        <p:spPr>
          <a:xfrm>
            <a:off x="6126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AMBIGUITY</a:t>
            </a:r>
          </a:p>
        </p:txBody>
      </p:sp>
      <p:sp>
        <p:nvSpPr>
          <p:cNvPr id="27" name="TextBox 26"/>
          <p:cNvSpPr txBox="1"/>
          <p:nvPr/>
        </p:nvSpPr>
        <p:spPr>
          <a:xfrm>
            <a:off x="841248" y="4899152"/>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Code generators start coding before requirements exist, so missing roles, rules and edge cases surface late — when they are most expensive to fix.</a:t>
            </a:r>
          </a:p>
        </p:txBody>
      </p:sp>
      <p:sp>
        <p:nvSpPr>
          <p:cNvPr id="28" name="Rounded Rectangle 27"/>
          <p:cNvSpPr/>
          <p:nvPr/>
        </p:nvSpPr>
        <p:spPr>
          <a:xfrm>
            <a:off x="43464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50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CONTEXT LOSS</a:t>
            </a:r>
          </a:p>
        </p:txBody>
      </p:sp>
      <p:sp>
        <p:nvSpPr>
          <p:cNvPr id="30" name="TextBox 29"/>
          <p:cNvSpPr txBox="1"/>
          <p:nvPr/>
        </p:nvSpPr>
        <p:spPr>
          <a:xfrm>
            <a:off x="4575048" y="4899152"/>
            <a:ext cx="30480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When each step starts a fresh conversation, earlier decisions are forgotten or re-invented, and the product drifts away from what the customer asked for.</a:t>
            </a:r>
          </a:p>
        </p:txBody>
      </p:sp>
      <p:sp>
        <p:nvSpPr>
          <p:cNvPr id="31" name="Rounded Rectangle 30"/>
          <p:cNvSpPr/>
          <p:nvPr/>
        </p:nvSpPr>
        <p:spPr>
          <a:xfrm>
            <a:off x="80802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88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UNPROVEN QUALITY</a:t>
            </a:r>
          </a:p>
        </p:txBody>
      </p:sp>
      <p:sp>
        <p:nvSpPr>
          <p:cNvPr id="33" name="TextBox 32"/>
          <p:cNvSpPr txBox="1"/>
          <p:nvPr/>
        </p:nvSpPr>
        <p:spPr>
          <a:xfrm>
            <a:off x="8308848" y="4899152"/>
            <a:ext cx="30480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“It works” is usually the model's own claim. Without runner evidence for tests, accessibility, performance and security, nobody can verify the release.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RESEARCH GAP</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Six gaps in AI-assisted delivery</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Code now comes fast, but the path from idea to verified release still breaks in six places.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04</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76.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G1</a:t>
            </a:r>
          </a:p>
        </p:txBody>
      </p:sp>
      <p:sp>
        <p:nvSpPr>
          <p:cNvPr id="12" name="TextBox 11"/>
          <p:cNvSpPr txBox="1"/>
          <p:nvPr/>
        </p:nvSpPr>
        <p:spPr>
          <a:xfrm>
            <a:off x="8412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REQUIREMENTS ARE ASSUMED</a:t>
            </a:r>
          </a:p>
        </p:txBody>
      </p:sp>
      <p:sp>
        <p:nvSpPr>
          <p:cNvPr id="13" name="TextBox 12"/>
          <p:cNvSpPr txBox="1"/>
          <p:nvPr/>
        </p:nvSpPr>
        <p:spPr>
          <a:xfrm>
            <a:off x="8412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Prompt-to-code tools rarely elicit requirements. There is no standards-based SRS that traces features to screens, data and tests.</a:t>
            </a:r>
          </a:p>
        </p:txBody>
      </p:sp>
      <p:sp>
        <p:nvSpPr>
          <p:cNvPr id="14" name="Rounded Rectangle 13"/>
          <p:cNvSpPr/>
          <p:nvPr/>
        </p:nvSpPr>
        <p:spPr>
          <a:xfrm>
            <a:off x="43464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0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G2</a:t>
            </a:r>
          </a:p>
        </p:txBody>
      </p:sp>
      <p:sp>
        <p:nvSpPr>
          <p:cNvPr id="16" name="TextBox 15"/>
          <p:cNvSpPr txBox="1"/>
          <p:nvPr/>
        </p:nvSpPr>
        <p:spPr>
          <a:xfrm>
            <a:off x="45750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CONTEXT IS FRAGMENTED</a:t>
            </a:r>
          </a:p>
        </p:txBody>
      </p:sp>
      <p:sp>
        <p:nvSpPr>
          <p:cNvPr id="17" name="TextBox 16"/>
          <p:cNvSpPr txBox="1"/>
          <p:nvPr/>
        </p:nvSpPr>
        <p:spPr>
          <a:xfrm>
            <a:off x="45750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Multi-agent pipelines hand documents between separate conversations; earlier decisions are summarised away or lost between roles.</a:t>
            </a:r>
          </a:p>
        </p:txBody>
      </p:sp>
      <p:sp>
        <p:nvSpPr>
          <p:cNvPr id="18" name="Rounded Rectangle 17"/>
          <p:cNvSpPr/>
          <p:nvPr/>
        </p:nvSpPr>
        <p:spPr>
          <a:xfrm>
            <a:off x="80802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88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G3</a:t>
            </a:r>
          </a:p>
        </p:txBody>
      </p:sp>
      <p:sp>
        <p:nvSpPr>
          <p:cNvPr id="20" name="TextBox 19"/>
          <p:cNvSpPr txBox="1"/>
          <p:nvPr/>
        </p:nvSpPr>
        <p:spPr>
          <a:xfrm>
            <a:off x="83088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LLMS GRADE THEMSELVES</a:t>
            </a:r>
          </a:p>
        </p:txBody>
      </p:sp>
      <p:sp>
        <p:nvSpPr>
          <p:cNvPr id="21" name="TextBox 20"/>
          <p:cNvSpPr txBox="1"/>
          <p:nvPr/>
        </p:nvSpPr>
        <p:spPr>
          <a:xfrm>
            <a:off x="83088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Quality is usually judged by the same kind of model that wrote the output. Few systems use deterministic, code-based acceptance gates.</a:t>
            </a:r>
          </a:p>
        </p:txBody>
      </p:sp>
      <p:sp>
        <p:nvSpPr>
          <p:cNvPr id="22" name="Rounded Rectangle 21"/>
          <p:cNvSpPr/>
          <p:nvPr/>
        </p:nvSpPr>
        <p:spPr>
          <a:xfrm>
            <a:off x="6126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G4</a:t>
            </a:r>
          </a:p>
        </p:txBody>
      </p:sp>
      <p:sp>
        <p:nvSpPr>
          <p:cNvPr id="24" name="TextBox 23"/>
          <p:cNvSpPr txBox="1"/>
          <p:nvPr/>
        </p:nvSpPr>
        <p:spPr>
          <a:xfrm>
            <a:off x="8412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TESTING WITHOUT EVIDENCE</a:t>
            </a:r>
          </a:p>
        </p:txBody>
      </p:sp>
      <p:sp>
        <p:nvSpPr>
          <p:cNvPr id="25" name="TextBox 24"/>
          <p:cNvSpPr txBox="1"/>
          <p:nvPr/>
        </p:nvSpPr>
        <p:spPr>
          <a:xfrm>
            <a:off x="8412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Tests are claimed, not proven; a missing report can read as a pass. Accessibility, performance and security are often skipped.</a:t>
            </a:r>
          </a:p>
        </p:txBody>
      </p:sp>
      <p:sp>
        <p:nvSpPr>
          <p:cNvPr id="26" name="Rounded Rectangle 25"/>
          <p:cNvSpPr/>
          <p:nvPr/>
        </p:nvSpPr>
        <p:spPr>
          <a:xfrm>
            <a:off x="43464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50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G5</a:t>
            </a:r>
          </a:p>
        </p:txBody>
      </p:sp>
      <p:sp>
        <p:nvSpPr>
          <p:cNvPr id="28" name="TextBox 27"/>
          <p:cNvSpPr txBox="1"/>
          <p:nvPr/>
        </p:nvSpPr>
        <p:spPr>
          <a:xfrm>
            <a:off x="45750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THE LAST MILE IS MANUAL</a:t>
            </a:r>
          </a:p>
        </p:txBody>
      </p:sp>
      <p:sp>
        <p:nvSpPr>
          <p:cNvPr id="29" name="TextBox 28"/>
          <p:cNvSpPr txBox="1"/>
          <p:nvPr/>
        </p:nvSpPr>
        <p:spPr>
          <a:xfrm>
            <a:off x="45750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Deployment, secrets, databases, domains, rollback and live verification are left to the developer, or done without human approval.</a:t>
            </a:r>
          </a:p>
        </p:txBody>
      </p:sp>
      <p:sp>
        <p:nvSpPr>
          <p:cNvPr id="30" name="Rounded Rectangle 29"/>
          <p:cNvSpPr/>
          <p:nvPr/>
        </p:nvSpPr>
        <p:spPr>
          <a:xfrm>
            <a:off x="80802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088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G6</a:t>
            </a:r>
          </a:p>
        </p:txBody>
      </p:sp>
      <p:sp>
        <p:nvSpPr>
          <p:cNvPr id="32" name="TextBox 31"/>
          <p:cNvSpPr txBox="1"/>
          <p:nvPr/>
        </p:nvSpPr>
        <p:spPr>
          <a:xfrm>
            <a:off x="83088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CLOUD-ONLY AND OPAQUE</a:t>
            </a:r>
          </a:p>
        </p:txBody>
      </p:sp>
      <p:sp>
        <p:nvSpPr>
          <p:cNvPr id="33" name="TextBox 32"/>
          <p:cNvSpPr txBox="1"/>
          <p:nvPr/>
        </p:nvSpPr>
        <p:spPr>
          <a:xfrm>
            <a:off x="83088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Most tools depend on proprietary cloud models with hidden prompts; local open-weight models and inspectable behaviour are rare.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POSITIONING</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AgentForge closes the gap</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Capability coverage by category of tool — what each approach typically provides out of the box.</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05</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74.png"/>
          <p:cNvPicPr>
            <a:picLocks noChangeAspect="1"/>
          </p:cNvPicPr>
          <p:nvPr/>
        </p:nvPicPr>
        <p:blipFill>
          <a:blip r:embed="rId3"/>
          <a:stretch>
            <a:fillRect/>
          </a:stretch>
        </p:blipFill>
        <p:spPr>
          <a:xfrm>
            <a:off x="10488168" y="201168"/>
            <a:ext cx="1316736" cy="1316736"/>
          </a:xfrm>
          <a:prstGeom prst="rect">
            <a:avLst/>
          </a:prstGeom>
        </p:spPr>
      </p:pic>
      <p:graphicFrame>
        <p:nvGraphicFramePr>
          <p:cNvPr id="10" name="Table 9"/>
          <p:cNvGraphicFramePr>
            <a:graphicFrameLocks noGrp="1"/>
          </p:cNvGraphicFramePr>
          <p:nvPr/>
        </p:nvGraphicFramePr>
        <p:xfrm>
          <a:off x="612648" y="2057400"/>
          <a:ext cx="10972800" cy="3785616"/>
        </p:xfrm>
        <a:graphic>
          <a:graphicData uri="http://schemas.openxmlformats.org/drawingml/2006/table">
            <a:tbl>
              <a:tblPr firstRow="0" bandRow="0" firstCol="0" lastRow="0" lastCol="0" bandCol="0">
                <a:tableStyleId>{2D5ABB26-0587-4C30-8999-92F81FD0307C}</a:tableStyleId>
              </a:tblPr>
              <a:tblGrid>
                <a:gridCol w="4297680"/>
                <a:gridCol w="1664208"/>
                <a:gridCol w="1664208"/>
                <a:gridCol w="1664208"/>
                <a:gridCol w="1682496"/>
              </a:tblGrid>
              <a:tr h="566928">
                <a:tc>
                  <a:txBody>
                    <a:bodyPr wrap="square"/>
                    <a:lstStyle/>
                    <a:p>
                      <a:pPr algn="l"/>
                      <a:r>
                        <a:rPr sz="1150" b="0" i="0">
                          <a:solidFill>
                            <a:srgbClr val="111111"/>
                          </a:solidFill>
                          <a:latin typeface="Outfit ExtraBold"/>
                          <a:ea typeface="Outfit ExtraBold"/>
                          <a:cs typeface="Outfit ExtraBold"/>
                        </a:rPr>
                        <a:t>Capability</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Coding assistants
(Copilot, Cursor)</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Prompt-to-app
(Bolt, Lovable, v0)</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Research agents
(ChatDev, MetaGPT)</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FFFFFF"/>
                          </a:solidFill>
                          <a:latin typeface="Outfit ExtraBold"/>
                          <a:ea typeface="Outfit ExtraBold"/>
                          <a:cs typeface="Outfit ExtraBold"/>
                        </a:rPr>
                        <a:t>AgentForge</a:t>
                      </a:r>
                    </a:p>
                  </a:txBody>
                  <a:tcPr marL="109728" marR="91440" marT="36576" marB="36576" anchor="ctr">
                    <a:lnL w="0">
                      <a:noFill/>
                    </a:lnL>
                    <a:lnR w="0">
                      <a:noFill/>
                    </a:lnR>
                    <a:lnT w="0">
                      <a:noFill/>
                    </a:lnT>
                    <a:lnB w="9525">
                      <a:solidFill>
                        <a:srgbClr val="D5DEEF"/>
                      </a:solidFill>
                    </a:lnB>
                    <a:solidFill>
                      <a:srgbClr val="1F6BFF"/>
                    </a:solidFill>
                  </a:tcPr>
                </a:tc>
              </a:tr>
              <a:tr h="402336">
                <a:tc>
                  <a:txBody>
                    <a:bodyPr wrap="square"/>
                    <a:lstStyle/>
                    <a:p>
                      <a:pPr algn="l"/>
                      <a:r>
                        <a:rPr sz="1200" b="0" i="0">
                          <a:solidFill>
                            <a:srgbClr val="111111"/>
                          </a:solidFill>
                          <a:latin typeface="Inter"/>
                          <a:ea typeface="Inter"/>
                          <a:cs typeface="Inter"/>
                        </a:rPr>
                        <a:t>Requirements interview and approved plan (G1)</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Standards-based SRS with UML/BPMN diagrams (G1)</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One persistent context shared by every role (G2)</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Deterministic, code-based quality gates (G3)</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Clickable prototype approved before coding</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Test evidence: E2E, accessibility, security (G4)</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Approval-gated deploy with live HTTPS check (G5)</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Local open models and editable prompt packs (G6)</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bl>
          </a:graphicData>
        </a:graphic>
      </p:graphicFrame>
      <p:sp>
        <p:nvSpPr>
          <p:cNvPr id="11" name="TextBox 10"/>
          <p:cNvSpPr txBox="1"/>
          <p:nvPr/>
        </p:nvSpPr>
        <p:spPr>
          <a:xfrm>
            <a:off x="612648" y="6053328"/>
            <a:ext cx="10972800" cy="274320"/>
          </a:xfrm>
          <a:prstGeom prst="rect">
            <a:avLst/>
          </a:prstGeom>
          <a:noFill/>
        </p:spPr>
        <p:txBody>
          <a:bodyPr wrap="square" lIns="0" rIns="0" tIns="0" bIns="0" anchor="t"/>
          <a:lstStyle/>
          <a:p>
            <a:pPr algn="l"/>
            <a:r>
              <a:rPr sz="1150" b="0" i="0">
                <a:solidFill>
                  <a:srgbClr val="6B7280"/>
                </a:solidFill>
                <a:latin typeface="Urbanist"/>
                <a:ea typeface="Urbanist"/>
                <a:cs typeface="Urbanist"/>
              </a:rPr>
              <a:t>Indicative comparison by capability category, based on public documentation (2026). Not a benchmark — individual products change quickly.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SCOPE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Research objective and questions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TextBox 7"/>
          <p:cNvSpPr txBox="1"/>
          <p:nvPr/>
        </p:nvSpPr>
        <p:spPr>
          <a:xfrm>
            <a:off x="612648" y="1645920"/>
            <a:ext cx="7772400" cy="1143000"/>
          </a:xfrm>
          <a:prstGeom prst="rect">
            <a:avLst/>
          </a:prstGeom>
          <a:noFill/>
        </p:spPr>
        <p:txBody>
          <a:bodyPr wrap="square" lIns="0" rIns="0" tIns="0" bIns="0" anchor="t"/>
          <a:lstStyle/>
          <a:p>
            <a:pPr algn="l">
              <a:lnSpc>
                <a:spcPct val="102000"/>
              </a:lnSpc>
            </a:pPr>
            <a:r>
              <a:rPr sz="1850" b="0" i="0" spc="18">
                <a:solidFill>
                  <a:srgbClr val="111111"/>
                </a:solidFill>
                <a:latin typeface="Outfit ExtraBold"/>
                <a:ea typeface="Outfit ExtraBold"/>
                <a:cs typeface="Outfit ExtraBold"/>
              </a:rPr>
              <a:t>CAN SPECIALISED LLM AGENTS THAT SHARE ONE PROJECT CONTEXT, AND ARE HELD TO DETERMINISTIC QUALITY GATES, TURN A NATURAL-LANGUAGE IDEA INTO A VERIFIED, DEPLOYED APPLICATION?</a:t>
            </a:r>
          </a:p>
        </p:txBody>
      </p:sp>
      <p:sp>
        <p:nvSpPr>
          <p:cNvPr id="9" name="TextBox 8"/>
          <p:cNvSpPr txBox="1"/>
          <p:nvPr/>
        </p:nvSpPr>
        <p:spPr>
          <a:xfrm>
            <a:off x="612648" y="3017520"/>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RQ1 · SHARED CONTEXT</a:t>
            </a:r>
          </a:p>
        </p:txBody>
      </p:sp>
      <p:sp>
        <p:nvSpPr>
          <p:cNvPr id="10" name="TextBox 9"/>
          <p:cNvSpPr txBox="1"/>
          <p:nvPr/>
        </p:nvSpPr>
        <p:spPr>
          <a:xfrm>
            <a:off x="612648" y="3328797"/>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Does one persistent context reduce requirement drift between stages, compared with agents in isolated conversations?</a:t>
            </a:r>
          </a:p>
        </p:txBody>
      </p:sp>
      <p:sp>
        <p:nvSpPr>
          <p:cNvPr id="11" name="TextBox 10"/>
          <p:cNvSpPr txBox="1"/>
          <p:nvPr/>
        </p:nvSpPr>
        <p:spPr>
          <a:xfrm>
            <a:off x="4658868" y="3017520"/>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RQ2 · QUALITY GATES</a:t>
            </a:r>
          </a:p>
        </p:txBody>
      </p:sp>
      <p:sp>
        <p:nvSpPr>
          <p:cNvPr id="12" name="TextBox 11"/>
          <p:cNvSpPr txBox="1"/>
          <p:nvPr/>
        </p:nvSpPr>
        <p:spPr>
          <a:xfrm>
            <a:off x="4658868" y="3328797"/>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Do code-based gates (plan depth, schema, coverage, review) measurably improve the completeness of the specification?</a:t>
            </a:r>
          </a:p>
        </p:txBody>
      </p:sp>
      <p:sp>
        <p:nvSpPr>
          <p:cNvPr id="13" name="TextBox 12"/>
          <p:cNvSpPr txBox="1"/>
          <p:nvPr/>
        </p:nvSpPr>
        <p:spPr>
          <a:xfrm>
            <a:off x="612648" y="4498848"/>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RQ3 · RUNNER EVIDENCE</a:t>
            </a:r>
          </a:p>
        </p:txBody>
      </p:sp>
      <p:sp>
        <p:nvSpPr>
          <p:cNvPr id="14" name="TextBox 13"/>
          <p:cNvSpPr txBox="1"/>
          <p:nvPr/>
        </p:nvSpPr>
        <p:spPr>
          <a:xfrm>
            <a:off x="612648" y="4810125"/>
            <a:ext cx="3726180" cy="87122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Can runner-based QA — unit, E2E, accessibility, performance, security — give trustworthy release evidence for generated apps?</a:t>
            </a:r>
          </a:p>
        </p:txBody>
      </p:sp>
      <p:sp>
        <p:nvSpPr>
          <p:cNvPr id="15" name="TextBox 14"/>
          <p:cNvSpPr txBox="1"/>
          <p:nvPr/>
        </p:nvSpPr>
        <p:spPr>
          <a:xfrm>
            <a:off x="4658868" y="4498848"/>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RQ4 · GOVERNED DELIVERY</a:t>
            </a:r>
          </a:p>
        </p:txBody>
      </p:sp>
      <p:sp>
        <p:nvSpPr>
          <p:cNvPr id="16" name="TextBox 15"/>
          <p:cNvSpPr txBox="1"/>
          <p:nvPr/>
        </p:nvSpPr>
        <p:spPr>
          <a:xfrm>
            <a:off x="4658868" y="4810125"/>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Can an approval-gated deploy agent publish a real application and verify it independently at its live HTTPS address?</a:t>
            </a:r>
          </a:p>
        </p:txBody>
      </p:sp>
      <p:pic>
        <p:nvPicPr>
          <p:cNvPr id="17" name="Picture 16" descr="5.png"/>
          <p:cNvPicPr>
            <a:picLocks noChangeAspect="1"/>
          </p:cNvPicPr>
          <p:nvPr/>
        </p:nvPicPr>
        <p:blipFill>
          <a:blip r:embed="rId3"/>
          <a:stretch>
            <a:fillRect/>
          </a:stretch>
        </p:blipFill>
        <p:spPr>
          <a:xfrm>
            <a:off x="8887968" y="1463040"/>
            <a:ext cx="2688336" cy="3593592"/>
          </a:xfrm>
          <a:prstGeom prst="rect">
            <a:avLst/>
          </a:prstGeom>
        </p:spPr>
      </p:pic>
      <p:sp>
        <p:nvSpPr>
          <p:cNvPr id="18" name="Rounded Rectangle 17"/>
          <p:cNvSpPr/>
          <p:nvPr/>
        </p:nvSpPr>
        <p:spPr>
          <a:xfrm>
            <a:off x="8412480" y="5257800"/>
            <a:ext cx="3172968" cy="109728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77072" y="5358384"/>
            <a:ext cx="2880360" cy="914400"/>
          </a:xfrm>
          <a:prstGeom prst="rect">
            <a:avLst/>
          </a:prstGeom>
          <a:noFill/>
        </p:spPr>
        <p:txBody>
          <a:bodyPr wrap="square" lIns="0" rIns="0" tIns="0" bIns="0" anchor="t"/>
          <a:lstStyle/>
          <a:p>
            <a:pPr algn="l">
              <a:lnSpc>
                <a:spcPct val="102000"/>
              </a:lnSpc>
            </a:pPr>
            <a:r>
              <a:rPr sz="1150" b="1" i="0">
                <a:solidFill>
                  <a:srgbClr val="111111"/>
                </a:solidFill>
                <a:latin typeface="Inter"/>
                <a:ea typeface="Inter"/>
                <a:cs typeface="Inter"/>
              </a:rPr>
              <a:t>Hypothesis: </a:t>
            </a:r>
            <a:r>
              <a:rPr sz="1150" b="0" i="0">
                <a:solidFill>
                  <a:srgbClr val="111111"/>
                </a:solidFill>
                <a:latin typeface="Inter"/>
                <a:ea typeface="Inter"/>
                <a:cs typeface="Inter"/>
              </a:rPr>
              <a:t>shared context + deterministic gates + runner evidence give more complete, more verifiable apps than prompt-to-code.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SYSTEM ARCHITECTURE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Shared context, self-correcting loops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07</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8.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7.png"/>
          <p:cNvPicPr>
            <a:picLocks noChangeAspect="1"/>
          </p:cNvPicPr>
          <p:nvPr/>
        </p:nvPicPr>
        <p:blipFill>
          <a:blip r:embed="rId4"/>
          <a:stretch>
            <a:fillRect/>
          </a:stretch>
        </p:blipFill>
        <p:spPr>
          <a:xfrm>
            <a:off x="1527048" y="1554480"/>
            <a:ext cx="9144000" cy="3698875"/>
          </a:xfrm>
          <a:prstGeom prst="rect">
            <a:avLst/>
          </a:prstGeom>
        </p:spPr>
      </p:pic>
      <p:sp>
        <p:nvSpPr>
          <p:cNvPr id="10" name="TextBox 9"/>
          <p:cNvSpPr txBox="1"/>
          <p:nvPr/>
        </p:nvSpPr>
        <p:spPr>
          <a:xfrm>
            <a:off x="612648" y="5413248"/>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SELF-OPTIMISATION: FOUR CLOSED FEEDBACK LOOPS</a:t>
            </a:r>
          </a:p>
        </p:txBody>
      </p:sp>
      <p:sp>
        <p:nvSpPr>
          <p:cNvPr id="11" name="TextBox 10"/>
          <p:cNvSpPr txBox="1"/>
          <p:nvPr/>
        </p:nvSpPr>
        <p:spPr>
          <a:xfrm>
            <a:off x="61264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SPECIFICATION</a:t>
            </a:r>
          </a:p>
        </p:txBody>
      </p:sp>
      <p:sp>
        <p:nvSpPr>
          <p:cNvPr id="12" name="TextBox 11"/>
          <p:cNvSpPr txBox="1"/>
          <p:nvPr/>
        </p:nvSpPr>
        <p:spPr>
          <a:xfrm>
            <a:off x="61264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Gaps return as repair instructions (2 rounds). Bakery test run: diagrams 1 → 7, requirements 3 → 6.</a:t>
            </a:r>
          </a:p>
        </p:txBody>
      </p:sp>
      <p:sp>
        <p:nvSpPr>
          <p:cNvPr id="13" name="TextBox 12"/>
          <p:cNvSpPr txBox="1"/>
          <p:nvPr/>
        </p:nvSpPr>
        <p:spPr>
          <a:xfrm>
            <a:off x="341299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JSON &amp; DIAGRAMS</a:t>
            </a:r>
          </a:p>
        </p:txBody>
      </p:sp>
      <p:sp>
        <p:nvSpPr>
          <p:cNvPr id="14" name="TextBox 13"/>
          <p:cNvSpPr txBox="1"/>
          <p:nvPr/>
        </p:nvSpPr>
        <p:spPr>
          <a:xfrm>
            <a:off x="341299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Invalid JSON, schema errors and Mermaid parse errors are fed back in-context until they pass.</a:t>
            </a:r>
          </a:p>
        </p:txBody>
      </p:sp>
      <p:sp>
        <p:nvSpPr>
          <p:cNvPr id="15" name="TextBox 14"/>
          <p:cNvSpPr txBox="1"/>
          <p:nvPr/>
        </p:nvSpPr>
        <p:spPr>
          <a:xfrm>
            <a:off x="621334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BUILD &amp; QA</a:t>
            </a:r>
          </a:p>
        </p:txBody>
      </p:sp>
      <p:sp>
        <p:nvSpPr>
          <p:cNvPr id="16" name="TextBox 15"/>
          <p:cNvSpPr txBox="1"/>
          <p:nvPr/>
        </p:nvSpPr>
        <p:spPr>
          <a:xfrm>
            <a:off x="621334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A failed check is fixed in product code; only the affected test is rerun, never the whole plan.</a:t>
            </a:r>
          </a:p>
        </p:txBody>
      </p:sp>
      <p:sp>
        <p:nvSpPr>
          <p:cNvPr id="17" name="TextBox 16"/>
          <p:cNvSpPr txBox="1"/>
          <p:nvPr/>
        </p:nvSpPr>
        <p:spPr>
          <a:xfrm>
            <a:off x="901369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DEPLOYMENT</a:t>
            </a:r>
          </a:p>
        </p:txBody>
      </p:sp>
      <p:sp>
        <p:nvSpPr>
          <p:cNvPr id="18" name="TextBox 17"/>
          <p:cNvSpPr txBox="1"/>
          <p:nvPr/>
        </p:nvSpPr>
        <p:spPr>
          <a:xfrm>
            <a:off x="9013698" y="5922581"/>
            <a:ext cx="2571750" cy="394969"/>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A failed live probe triggers the repair skill and a redeploy (up to 2 rounds).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TECHNICAL ARCHITECTURE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the platform is built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08</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8.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37360"/>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STUDIO UI</a:t>
            </a:r>
          </a:p>
        </p:txBody>
      </p:sp>
      <p:sp>
        <p:nvSpPr>
          <p:cNvPr id="10" name="Rounded Rectangle 9"/>
          <p:cNvSpPr/>
          <p:nvPr/>
        </p:nvSpPr>
        <p:spPr>
          <a:xfrm>
            <a:off x="2331720" y="1737360"/>
            <a:ext cx="925372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59736" y="1737360"/>
            <a:ext cx="8997696"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AgentForge Studio · Next.js / React — interview · plan · SRS review · diagrams · wireframes · design · prototype · code · preview · testing · deploy</a:t>
            </a:r>
          </a:p>
        </p:txBody>
      </p:sp>
      <p:sp>
        <p:nvSpPr>
          <p:cNvPr id="12" name="TextBox 11"/>
          <p:cNvSpPr txBox="1"/>
          <p:nvPr/>
        </p:nvSpPr>
        <p:spPr>
          <a:xfrm>
            <a:off x="612648" y="2505456"/>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INTERFACES</a:t>
            </a:r>
          </a:p>
        </p:txBody>
      </p:sp>
      <p:sp>
        <p:nvSpPr>
          <p:cNvPr id="13" name="Rounded Rectangle 12"/>
          <p:cNvSpPr/>
          <p:nvPr/>
        </p:nvSpPr>
        <p:spPr>
          <a:xfrm>
            <a:off x="2331720"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9736"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HTTP API :7824 — jobs + polling, never blocks on a model</a:t>
            </a:r>
          </a:p>
        </p:txBody>
      </p:sp>
      <p:sp>
        <p:nvSpPr>
          <p:cNvPr id="15" name="Rounded Rectangle 14"/>
          <p:cNvSpPr/>
          <p:nvPr/>
        </p:nvSpPr>
        <p:spPr>
          <a:xfrm>
            <a:off x="5446776"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4792"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Live feed :7825 — WebSocket, event replay on reload</a:t>
            </a:r>
          </a:p>
        </p:txBody>
      </p:sp>
      <p:sp>
        <p:nvSpPr>
          <p:cNvPr id="17" name="Rounded Rectangle 16"/>
          <p:cNvSpPr/>
          <p:nvPr/>
        </p:nvSpPr>
        <p:spPr>
          <a:xfrm>
            <a:off x="8561832"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9848"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Managed preview — one server per project, stack port</a:t>
            </a:r>
          </a:p>
        </p:txBody>
      </p:sp>
      <p:sp>
        <p:nvSpPr>
          <p:cNvPr id="19" name="TextBox 18"/>
          <p:cNvSpPr txBox="1"/>
          <p:nvPr/>
        </p:nvSpPr>
        <p:spPr>
          <a:xfrm>
            <a:off x="612648" y="3273551"/>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ORCHESTRATION</a:t>
            </a:r>
          </a:p>
        </p:txBody>
      </p:sp>
      <p:sp>
        <p:nvSpPr>
          <p:cNvPr id="20" name="Rounded Rectangle 19"/>
          <p:cNvSpPr/>
          <p:nvPr/>
        </p:nvSpPr>
        <p:spPr>
          <a:xfrm>
            <a:off x="2331720"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59736"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Event bus</a:t>
            </a:r>
          </a:p>
        </p:txBody>
      </p:sp>
      <p:sp>
        <p:nvSpPr>
          <p:cNvPr id="22" name="Rounded Rectangle 21"/>
          <p:cNvSpPr/>
          <p:nvPr/>
        </p:nvSpPr>
        <p:spPr>
          <a:xfrm>
            <a:off x="3889247"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17263"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Job queue</a:t>
            </a:r>
          </a:p>
        </p:txBody>
      </p:sp>
      <p:sp>
        <p:nvSpPr>
          <p:cNvPr id="24" name="Rounded Rectangle 23"/>
          <p:cNvSpPr/>
          <p:nvPr/>
        </p:nvSpPr>
        <p:spPr>
          <a:xfrm>
            <a:off x="5446776"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4792"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Prompt packs</a:t>
            </a:r>
          </a:p>
        </p:txBody>
      </p:sp>
      <p:sp>
        <p:nvSpPr>
          <p:cNvPr id="26" name="Rounded Rectangle 25"/>
          <p:cNvSpPr/>
          <p:nvPr/>
        </p:nvSpPr>
        <p:spPr>
          <a:xfrm>
            <a:off x="7004304"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0"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Validation gates</a:t>
            </a:r>
          </a:p>
        </p:txBody>
      </p:sp>
      <p:sp>
        <p:nvSpPr>
          <p:cNvPr id="28" name="Rounded Rectangle 27"/>
          <p:cNvSpPr/>
          <p:nvPr/>
        </p:nvSpPr>
        <p:spPr>
          <a:xfrm>
            <a:off x="8561832"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9848"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Changes &amp; versions</a:t>
            </a:r>
          </a:p>
        </p:txBody>
      </p:sp>
      <p:sp>
        <p:nvSpPr>
          <p:cNvPr id="30" name="Rounded Rectangle 29"/>
          <p:cNvSpPr/>
          <p:nvPr/>
        </p:nvSpPr>
        <p:spPr>
          <a:xfrm>
            <a:off x="10119360"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7376"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Sign-in &amp; secrets</a:t>
            </a:r>
          </a:p>
        </p:txBody>
      </p:sp>
      <p:sp>
        <p:nvSpPr>
          <p:cNvPr id="32" name="TextBox 31"/>
          <p:cNvSpPr txBox="1"/>
          <p:nvPr/>
        </p:nvSpPr>
        <p:spPr>
          <a:xfrm>
            <a:off x="612648" y="4041648"/>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AGENTS</a:t>
            </a:r>
          </a:p>
        </p:txBody>
      </p:sp>
      <p:sp>
        <p:nvSpPr>
          <p:cNvPr id="33" name="Rounded Rectangle 32"/>
          <p:cNvSpPr/>
          <p:nvPr/>
        </p:nvSpPr>
        <p:spPr>
          <a:xfrm>
            <a:off x="2331720"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23160"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SRS agent</a:t>
            </a:r>
          </a:p>
        </p:txBody>
      </p:sp>
      <p:sp>
        <p:nvSpPr>
          <p:cNvPr id="35" name="Rounded Rectangle 34"/>
          <p:cNvSpPr/>
          <p:nvPr/>
        </p:nvSpPr>
        <p:spPr>
          <a:xfrm>
            <a:off x="4200753"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92193"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Prototype agent</a:t>
            </a:r>
          </a:p>
        </p:txBody>
      </p:sp>
      <p:sp>
        <p:nvSpPr>
          <p:cNvPr id="37" name="Rounded Rectangle 36"/>
          <p:cNvSpPr/>
          <p:nvPr/>
        </p:nvSpPr>
        <p:spPr>
          <a:xfrm>
            <a:off x="6069787"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1227"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Builder agent</a:t>
            </a:r>
          </a:p>
        </p:txBody>
      </p:sp>
      <p:sp>
        <p:nvSpPr>
          <p:cNvPr id="39" name="Rounded Rectangle 38"/>
          <p:cNvSpPr/>
          <p:nvPr/>
        </p:nvSpPr>
        <p:spPr>
          <a:xfrm>
            <a:off x="7938820"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30260"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QA agent</a:t>
            </a:r>
          </a:p>
        </p:txBody>
      </p:sp>
      <p:sp>
        <p:nvSpPr>
          <p:cNvPr id="41" name="Rounded Rectangle 40"/>
          <p:cNvSpPr/>
          <p:nvPr/>
        </p:nvSpPr>
        <p:spPr>
          <a:xfrm>
            <a:off x="9807854"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99294"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Deploy agent</a:t>
            </a:r>
          </a:p>
        </p:txBody>
      </p:sp>
      <p:sp>
        <p:nvSpPr>
          <p:cNvPr id="43" name="TextBox 42"/>
          <p:cNvSpPr txBox="1"/>
          <p:nvPr/>
        </p:nvSpPr>
        <p:spPr>
          <a:xfrm>
            <a:off x="612648" y="4809744"/>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ENGINE</a:t>
            </a:r>
          </a:p>
        </p:txBody>
      </p:sp>
      <p:sp>
        <p:nvSpPr>
          <p:cNvPr id="44" name="Rounded Rectangle 43"/>
          <p:cNvSpPr/>
          <p:nvPr/>
        </p:nvSpPr>
        <p:spPr>
          <a:xfrm>
            <a:off x="2331720"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459736"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ProjectSession — one agent per project, plan / act modes, memory</a:t>
            </a:r>
          </a:p>
        </p:txBody>
      </p:sp>
      <p:sp>
        <p:nvSpPr>
          <p:cNvPr id="46" name="Rounded Rectangle 45"/>
          <p:cNvSpPr/>
          <p:nvPr/>
        </p:nvSpPr>
        <p:spPr>
          <a:xfrm>
            <a:off x="5446776"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574792"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Focused LLM calls — parallel lanes for documents, diagrams, pages</a:t>
            </a:r>
          </a:p>
        </p:txBody>
      </p:sp>
      <p:sp>
        <p:nvSpPr>
          <p:cNvPr id="48" name="Rounded Rectangle 47"/>
          <p:cNvSpPr/>
          <p:nvPr/>
        </p:nvSpPr>
        <p:spPr>
          <a:xfrm>
            <a:off x="8561832"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9848"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Ollama — local or cloud models, web search</a:t>
            </a:r>
          </a:p>
        </p:txBody>
      </p:sp>
      <p:sp>
        <p:nvSpPr>
          <p:cNvPr id="50" name="TextBox 49"/>
          <p:cNvSpPr txBox="1"/>
          <p:nvPr/>
        </p:nvSpPr>
        <p:spPr>
          <a:xfrm>
            <a:off x="612648" y="5577840"/>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PROJECT STORE</a:t>
            </a:r>
          </a:p>
        </p:txBody>
      </p:sp>
      <p:sp>
        <p:nvSpPr>
          <p:cNvPr id="51" name="Rounded Rectangle 50"/>
          <p:cNvSpPr/>
          <p:nvPr/>
        </p:nvSpPr>
        <p:spPr>
          <a:xfrm>
            <a:off x="2331720" y="5577840"/>
            <a:ext cx="925372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459736" y="5577840"/>
            <a:ext cx="8997696"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workspaces/&lt;project&gt;/ — the application + .agentforge/ : context.json · events.jsonl · interview · plan · design · srs/ · prototype/ · build/ · qa/ · deploy/ · versions/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ARCHITECTURE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The shared project record</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All five agents reuse one session and one workspace, so later roles keep every decision.</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09</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10.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CONTEXT.JSON</a:t>
            </a:r>
          </a:p>
        </p:txBody>
      </p:sp>
      <p:sp>
        <p:nvSpPr>
          <p:cNvPr id="12" name="TextBox 11"/>
          <p:cNvSpPr txBox="1"/>
          <p:nvPr/>
        </p:nvSpPr>
        <p:spPr>
          <a:xfrm>
            <a:off x="841248" y="2583307"/>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The one conversation all five agents share. Saved after every turn and restored after a restart; switching the model keeps it.</a:t>
            </a:r>
          </a:p>
        </p:txBody>
      </p:sp>
      <p:sp>
        <p:nvSpPr>
          <p:cNvPr id="13" name="Rounded Rectangle 12"/>
          <p:cNvSpPr/>
          <p:nvPr/>
        </p:nvSpPr>
        <p:spPr>
          <a:xfrm>
            <a:off x="436168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EVENTS.JSONL</a:t>
            </a:r>
          </a:p>
        </p:txBody>
      </p:sp>
      <p:sp>
        <p:nvSpPr>
          <p:cNvPr id="15" name="TextBox 14"/>
          <p:cNvSpPr txBox="1"/>
          <p:nvPr/>
        </p:nvSpPr>
        <p:spPr>
          <a:xfrm>
            <a:off x="4590288" y="2583307"/>
            <a:ext cx="3017520"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Every narration, tool call, file diff and command output — streamed live to the Studio and replayed after a reload.</a:t>
            </a:r>
          </a:p>
        </p:txBody>
      </p:sp>
      <p:sp>
        <p:nvSpPr>
          <p:cNvPr id="16" name="Rounded Rectangle 15"/>
          <p:cNvSpPr/>
          <p:nvPr/>
        </p:nvSpPr>
        <p:spPr>
          <a:xfrm>
            <a:off x="811072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STAGE FOLDERS</a:t>
            </a:r>
          </a:p>
        </p:txBody>
      </p:sp>
      <p:sp>
        <p:nvSpPr>
          <p:cNvPr id="18" name="TextBox 17"/>
          <p:cNvSpPr txBox="1"/>
          <p:nvPr/>
        </p:nvSpPr>
        <p:spPr>
          <a:xfrm>
            <a:off x="8339328" y="2583307"/>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interview, plan, design, srs/, prototype/, build/, qa/, deploy/ and versions/ — kept beside the application they describe.</a:t>
            </a:r>
          </a:p>
        </p:txBody>
      </p:sp>
      <p:sp>
        <p:nvSpPr>
          <p:cNvPr id="19" name="TextBox 18"/>
          <p:cNvSpPr txBox="1"/>
          <p:nvPr/>
        </p:nvSpPr>
        <p:spPr>
          <a:xfrm>
            <a:off x="612648" y="3931920"/>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HOW THE ENGINE STAYS RELIABLE</a:t>
            </a:r>
          </a:p>
        </p:txBody>
      </p:sp>
      <p:sp>
        <p:nvSpPr>
          <p:cNvPr id="20" name="Rounded Rectangle 19"/>
          <p:cNvSpPr/>
          <p:nvPr/>
        </p:nvSpPr>
        <p:spPr>
          <a:xfrm>
            <a:off x="61264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SILENT PLAN MODE</a:t>
            </a:r>
          </a:p>
        </p:txBody>
      </p:sp>
      <p:sp>
        <p:nvSpPr>
          <p:cNvPr id="22" name="TextBox 21"/>
          <p:cNvSpPr txBox="1"/>
          <p:nvPr/>
        </p:nvSpPr>
        <p:spPr>
          <a:xfrm>
            <a:off x="795528" y="4711954"/>
            <a:ext cx="2240280"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Each stage plans, then executes at once — bounded to 8 execution and 3 audit rounds, ending only on an explicit complete or blocked signal.</a:t>
            </a:r>
          </a:p>
        </p:txBody>
      </p:sp>
      <p:sp>
        <p:nvSpPr>
          <p:cNvPr id="23" name="Rounded Rectangle 22"/>
          <p:cNvSpPr/>
          <p:nvPr/>
        </p:nvSpPr>
        <p:spPr>
          <a:xfrm>
            <a:off x="340156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8444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DURABLE MEMORY</a:t>
            </a:r>
          </a:p>
        </p:txBody>
      </p:sp>
      <p:sp>
        <p:nvSpPr>
          <p:cNvPr id="25" name="TextBox 24"/>
          <p:cNvSpPr txBox="1"/>
          <p:nvPr/>
        </p:nvSpPr>
        <p:spPr>
          <a:xfrm>
            <a:off x="3584448" y="4711954"/>
            <a:ext cx="2240280"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At 88% of the context window the oldest turns are summarised; if the model returns nothing, a digest of files, commands and requests is kept.</a:t>
            </a:r>
          </a:p>
        </p:txBody>
      </p:sp>
      <p:sp>
        <p:nvSpPr>
          <p:cNvPr id="26" name="Rounded Rectangle 25"/>
          <p:cNvSpPr/>
          <p:nvPr/>
        </p:nvSpPr>
        <p:spPr>
          <a:xfrm>
            <a:off x="619048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7336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RESILIENT CALLS</a:t>
            </a:r>
          </a:p>
        </p:txBody>
      </p:sp>
      <p:sp>
        <p:nvSpPr>
          <p:cNvPr id="28" name="TextBox 27"/>
          <p:cNvSpPr txBox="1"/>
          <p:nvPr/>
        </p:nvSpPr>
        <p:spPr>
          <a:xfrm>
            <a:off x="6373368" y="4711954"/>
            <a:ext cx="2240280"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Transient errors (429, 5xx, timeouts) retry with 2 s, 8 s and 20 s back-off; broken JSON is repaired in the same conversation.</a:t>
            </a:r>
          </a:p>
        </p:txBody>
      </p:sp>
      <p:sp>
        <p:nvSpPr>
          <p:cNvPr id="29" name="Rounded Rectangle 28"/>
          <p:cNvSpPr/>
          <p:nvPr/>
        </p:nvSpPr>
        <p:spPr>
          <a:xfrm>
            <a:off x="897940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6228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FOCUSED CALLS</a:t>
            </a:r>
          </a:p>
        </p:txBody>
      </p:sp>
      <p:sp>
        <p:nvSpPr>
          <p:cNvPr id="31" name="TextBox 30"/>
          <p:cNvSpPr txBox="1"/>
          <p:nvPr/>
        </p:nvSpPr>
        <p:spPr>
          <a:xfrm>
            <a:off x="9162288" y="4711954"/>
            <a:ext cx="2240280"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Specifications, diagrams, wireframes and pages are written as independent parallel calls, so long outputs never truncate.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VALIDATION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Four gates that can say no</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Only these code-based rules can reject a model's output; everything else is an editable prompt.</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10</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24.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2" name="TextBox 11"/>
          <p:cNvSpPr txBox="1"/>
          <p:nvPr/>
        </p:nvSpPr>
        <p:spPr>
          <a:xfrm>
            <a:off x="81381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PLAN DEPTH</a:t>
            </a:r>
          </a:p>
        </p:txBody>
      </p:sp>
      <p:sp>
        <p:nvSpPr>
          <p:cNvPr id="13" name="TextBox 12"/>
          <p:cNvSpPr txBox="1"/>
          <p:nvPr/>
        </p:nvSpPr>
        <p:spPr>
          <a:xfrm>
            <a:off x="813816" y="2823464"/>
            <a:ext cx="2203704" cy="14903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Every screen has a purpose; every record keeps at least 2 fields; every signed-in role can do 2 things; public sign-up can never create a privileged role.</a:t>
            </a:r>
          </a:p>
        </p:txBody>
      </p:sp>
      <p:sp>
        <p:nvSpPr>
          <p:cNvPr id="14" name="Rounded Rectangle 13"/>
          <p:cNvSpPr/>
          <p:nvPr/>
        </p:nvSpPr>
        <p:spPr>
          <a:xfrm>
            <a:off x="340156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6" name="TextBox 15"/>
          <p:cNvSpPr txBox="1"/>
          <p:nvPr/>
        </p:nvSpPr>
        <p:spPr>
          <a:xfrm>
            <a:off x="360273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SRS SCHEMA</a:t>
            </a:r>
          </a:p>
        </p:txBody>
      </p:sp>
      <p:sp>
        <p:nvSpPr>
          <p:cNvPr id="17" name="TextBox 16"/>
          <p:cNvSpPr txBox="1"/>
          <p:nvPr/>
        </p:nvSpPr>
        <p:spPr>
          <a:xfrm>
            <a:off x="3602736" y="2823464"/>
            <a:ext cx="2203704" cy="128397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A Pydantic model of 30+ sections — the same one the Studio's views read — with floors of 3 functional and 3 quality requirements and 1 role.</a:t>
            </a:r>
          </a:p>
        </p:txBody>
      </p:sp>
      <p:sp>
        <p:nvSpPr>
          <p:cNvPr id="18" name="Rounded Rectangle 17"/>
          <p:cNvSpPr/>
          <p:nvPr/>
        </p:nvSpPr>
        <p:spPr>
          <a:xfrm>
            <a:off x="619048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20" name="TextBox 19"/>
          <p:cNvSpPr txBox="1"/>
          <p:nvPr/>
        </p:nvSpPr>
        <p:spPr>
          <a:xfrm>
            <a:off x="639165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COVERAGE</a:t>
            </a:r>
          </a:p>
        </p:txBody>
      </p:sp>
      <p:sp>
        <p:nvSpPr>
          <p:cNvPr id="21" name="TextBox 20"/>
          <p:cNvSpPr txBox="1"/>
          <p:nvPr/>
        </p:nvSpPr>
        <p:spPr>
          <a:xfrm>
            <a:off x="6391656" y="2823464"/>
            <a:ext cx="2203704" cy="14903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Counts the plan against the spec: dropped screens, features with no requirement, skipped diagrams, half-drawn wireframes, dead prototype links.</a:t>
            </a:r>
          </a:p>
        </p:txBody>
      </p:sp>
      <p:sp>
        <p:nvSpPr>
          <p:cNvPr id="22" name="Rounded Rectangle 21"/>
          <p:cNvSpPr/>
          <p:nvPr/>
        </p:nvSpPr>
        <p:spPr>
          <a:xfrm>
            <a:off x="897940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057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4" name="TextBox 23"/>
          <p:cNvSpPr txBox="1"/>
          <p:nvPr/>
        </p:nvSpPr>
        <p:spPr>
          <a:xfrm>
            <a:off x="918057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STANDARDS REVIEW</a:t>
            </a:r>
          </a:p>
        </p:txBody>
      </p:sp>
      <p:sp>
        <p:nvSpPr>
          <p:cNvPr id="25" name="TextBox 24"/>
          <p:cNvSpPr txBox="1"/>
          <p:nvPr/>
        </p:nvSpPr>
        <p:spPr>
          <a:xfrm>
            <a:off x="9180576" y="2823464"/>
            <a:ext cx="2203704" cy="128397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A reviewer scores 5 dimensions from 0 to 5. Python — not the model — decides the pass: no blockers and every score at least 3.</a:t>
            </a:r>
          </a:p>
        </p:txBody>
      </p:sp>
      <p:sp>
        <p:nvSpPr>
          <p:cNvPr id="26" name="Rounded Rectangle 25"/>
          <p:cNvSpPr/>
          <p:nvPr/>
        </p:nvSpPr>
        <p:spPr>
          <a:xfrm>
            <a:off x="612648" y="4983480"/>
            <a:ext cx="10972800" cy="132588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5148072"/>
            <a:ext cx="27432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EVERYTHING IS A PROMPT</a:t>
            </a:r>
          </a:p>
        </p:txBody>
      </p:sp>
      <p:sp>
        <p:nvSpPr>
          <p:cNvPr id="28" name="TextBox 27"/>
          <p:cNvSpPr txBox="1"/>
          <p:nvPr/>
        </p:nvSpPr>
        <p:spPr>
          <a:xfrm>
            <a:off x="886968" y="5468112"/>
            <a:ext cx="10424160" cy="731520"/>
          </a:xfrm>
          <a:prstGeom prst="rect">
            <a:avLst/>
          </a:prstGeom>
          <a:noFill/>
        </p:spPr>
        <p:txBody>
          <a:bodyPr wrap="square" lIns="0" rIns="0" tIns="0" bIns="0" anchor="t"/>
          <a:lstStyle/>
          <a:p>
            <a:pPr algn="l">
              <a:lnSpc>
                <a:spcPct val="104000"/>
              </a:lnSpc>
            </a:pPr>
            <a:r>
              <a:rPr sz="1250" b="0" i="0">
                <a:solidFill>
                  <a:srgbClr val="111111"/>
                </a:solidFill>
                <a:latin typeface="Inter"/>
                <a:ea typeface="Inter"/>
                <a:cs typeface="Inter"/>
              </a:rPr>
              <a:t>Every instruction lives in prompts/ as Markdown: 12 packs (engine, interview, plan, SRS, design, prototype, builder, testing, deployment, changes, chat, research), 71 design themes and 12 deployment skill pages. Changing how a stage behaves means editing a file, not the code.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1 · SRS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SRS agent: conversation to contract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11</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2.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ADAPTIVE INTERVIEW</a:t>
            </a:r>
          </a:p>
        </p:txBody>
      </p:sp>
      <p:sp>
        <p:nvSpPr>
          <p:cNvPr id="11" name="TextBox 10"/>
          <p:cNvSpPr txBox="1"/>
          <p:nvPr/>
        </p:nvSpPr>
        <p:spPr>
          <a:xfrm>
            <a:off x="612648"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The first question fixes the product type (10 kinds, e.g. POS, booking, e-commerce, SaaS). Each next question targets what is still unknown: choices, yes/no, numbers, free text and attachments.</a:t>
            </a:r>
          </a:p>
        </p:txBody>
      </p:sp>
      <p:sp>
        <p:nvSpPr>
          <p:cNvPr id="12" name="TextBox 11"/>
          <p:cNvSpPr txBox="1"/>
          <p:nvPr/>
        </p:nvSpPr>
        <p:spPr>
          <a:xfrm>
            <a:off x="4392167"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4392167"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APPROVAL PLAN</a:t>
            </a:r>
          </a:p>
        </p:txBody>
      </p:sp>
      <p:sp>
        <p:nvSpPr>
          <p:cNvPr id="14" name="TextBox 13"/>
          <p:cNvSpPr txBox="1"/>
          <p:nvPr/>
        </p:nvSpPr>
        <p:spPr>
          <a:xfrm>
            <a:off x="4392167"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Users, screens, records, workflows and open decisions in plain language. Revisions keep untouched sections; open questions block approval. The plan is a ceiling nothing may exceed.</a:t>
            </a:r>
          </a:p>
        </p:txBody>
      </p:sp>
      <p:sp>
        <p:nvSpPr>
          <p:cNvPr id="15" name="TextBox 14"/>
          <p:cNvSpPr txBox="1"/>
          <p:nvPr/>
        </p:nvSpPr>
        <p:spPr>
          <a:xfrm>
            <a:off x="8171687"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8171687"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STRUCTURED SRS</a:t>
            </a:r>
          </a:p>
        </p:txBody>
      </p:sp>
      <p:sp>
        <p:nvSpPr>
          <p:cNvPr id="17" name="TextBox 16"/>
          <p:cNvSpPr txBox="1"/>
          <p:nvPr/>
        </p:nvSpPr>
        <p:spPr>
          <a:xfrm>
            <a:off x="8171687"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ISO/IEC/IEEE 29148-aligned JSON and Markdown: roles, access matrix, pages, database, API, functional and quality requirements, workflows, risks, acceptance criteria, traceability.</a:t>
            </a:r>
          </a:p>
        </p:txBody>
      </p:sp>
      <p:sp>
        <p:nvSpPr>
          <p:cNvPr id="18" name="TextBox 17"/>
          <p:cNvSpPr txBox="1"/>
          <p:nvPr/>
        </p:nvSpPr>
        <p:spPr>
          <a:xfrm>
            <a:off x="612648"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612648"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11 DIAGRAMS</a:t>
            </a:r>
          </a:p>
        </p:txBody>
      </p:sp>
      <p:sp>
        <p:nvSpPr>
          <p:cNvPr id="20" name="TextBox 19"/>
          <p:cNvSpPr txBox="1"/>
          <p:nvPr/>
        </p:nvSpPr>
        <p:spPr>
          <a:xfrm>
            <a:off x="612648" y="4351718"/>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System context, use case, ERD (Crow's Foot), sequence, activity, class, state machine, data flow, BPMN 2.0, component and deployment — one focused call each, rendered to SVG.</a:t>
            </a:r>
          </a:p>
        </p:txBody>
      </p:sp>
      <p:sp>
        <p:nvSpPr>
          <p:cNvPr id="21" name="TextBox 20"/>
          <p:cNvSpPr txBox="1"/>
          <p:nvPr/>
        </p:nvSpPr>
        <p:spPr>
          <a:xfrm>
            <a:off x="4392167"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2" name="TextBox 21"/>
          <p:cNvSpPr txBox="1"/>
          <p:nvPr/>
        </p:nvSpPr>
        <p:spPr>
          <a:xfrm>
            <a:off x="4392167"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PAGE WIREFRAMES</a:t>
            </a:r>
          </a:p>
        </p:txBody>
      </p:sp>
      <p:sp>
        <p:nvSpPr>
          <p:cNvPr id="23" name="TextBox 22"/>
          <p:cNvSpPr txBox="1"/>
          <p:nvPr/>
        </p:nvSpPr>
        <p:spPr>
          <a:xfrm>
            <a:off x="4392167" y="4351718"/>
            <a:ext cx="341375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Web research on how similar products lay out screens, one shared layout, then a complete HTML wireframe per route. Redraw one or all; edit by hand or by AI.</a:t>
            </a:r>
          </a:p>
        </p:txBody>
      </p:sp>
      <p:sp>
        <p:nvSpPr>
          <p:cNvPr id="24" name="TextBox 23"/>
          <p:cNvSpPr txBox="1"/>
          <p:nvPr/>
        </p:nvSpPr>
        <p:spPr>
          <a:xfrm>
            <a:off x="8171687"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06</a:t>
            </a:r>
          </a:p>
        </p:txBody>
      </p:sp>
      <p:sp>
        <p:nvSpPr>
          <p:cNvPr id="25" name="TextBox 24"/>
          <p:cNvSpPr txBox="1"/>
          <p:nvPr/>
        </p:nvSpPr>
        <p:spPr>
          <a:xfrm>
            <a:off x="8171687"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HANDOFF CONTRACT</a:t>
            </a:r>
          </a:p>
        </p:txBody>
      </p:sp>
      <p:sp>
        <p:nvSpPr>
          <p:cNvPr id="26" name="TextBox 25"/>
          <p:cNvSpPr txBox="1"/>
          <p:nvPr/>
        </p:nvSpPr>
        <p:spPr>
          <a:xfrm>
            <a:off x="8171687" y="4351718"/>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app.md, sitemap.md, prototype.md and builder.md are projections of the SRS made without a model call, so every later agent reads the same contract; journeys map to pages.</a:t>
            </a:r>
          </a:p>
        </p:txBody>
      </p:sp>
      <p:sp>
        <p:nvSpPr>
          <p:cNvPr id="27" name="Rounded Rectangle 26"/>
          <p:cNvSpPr/>
          <p:nvPr/>
        </p:nvSpPr>
        <p:spPr>
          <a:xfrm>
            <a:off x="612648" y="5989320"/>
            <a:ext cx="8412480" cy="310896"/>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5989320"/>
            <a:ext cx="8138159" cy="310896"/>
          </a:xfrm>
          <a:prstGeom prst="rect">
            <a:avLst/>
          </a:prstGeom>
          <a:noFill/>
        </p:spPr>
        <p:txBody>
          <a:bodyPr wrap="square" lIns="0" rIns="0" tIns="0" bIns="0" anchor="ctr"/>
          <a:lstStyle/>
          <a:p>
            <a:pPr algn="l"/>
            <a:r>
              <a:rPr sz="1150" b="0" i="0" spc="220">
                <a:solidFill>
                  <a:srgbClr val="111111"/>
                </a:solidFill>
                <a:latin typeface="Urbanist SemiBold"/>
                <a:ea typeface="Urbanist SemiBold"/>
                <a:cs typeface="Urbanist SemiBold"/>
              </a:rPr>
              <a:t>INTERVIEW → PLAN → APPROVE → SPECIFY → VALIDATE → REPAIR → HANDOFF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1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SRS agent: tools and what they do</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12</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6.png"/>
          <p:cNvPicPr>
            <a:picLocks noChangeAspect="1"/>
          </p:cNvPicPr>
          <p:nvPr/>
        </p:nvPicPr>
        <p:blipFill>
          <a:blip r:embed="rId3"/>
          <a:stretch>
            <a:fillRect/>
          </a:stretch>
        </p:blipFill>
        <p:spPr>
          <a:xfrm>
            <a:off x="10488168" y="201168"/>
            <a:ext cx="1316736" cy="1316736"/>
          </a:xfrm>
          <a:prstGeom prst="rect">
            <a:avLst/>
          </a:prstGeom>
        </p:spPr>
      </p:pic>
      <p:sp>
        <p:nvSpPr>
          <p:cNvPr id="9" name="Oval 8"/>
          <p:cNvSpPr/>
          <p:nvPr/>
        </p:nvSpPr>
        <p:spPr>
          <a:xfrm>
            <a:off x="612648" y="176479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6479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1</a:t>
            </a:r>
          </a:p>
        </p:txBody>
      </p:sp>
      <p:sp>
        <p:nvSpPr>
          <p:cNvPr id="11" name="TextBox 10"/>
          <p:cNvSpPr txBox="1"/>
          <p:nvPr/>
        </p:nvSpPr>
        <p:spPr>
          <a:xfrm>
            <a:off x="1024128" y="178308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OLLAMA LLM · FOCUSED CALLS</a:t>
            </a:r>
          </a:p>
        </p:txBody>
      </p:sp>
      <p:sp>
        <p:nvSpPr>
          <p:cNvPr id="12" name="TextBox 11"/>
          <p:cNvSpPr txBox="1"/>
          <p:nvPr/>
        </p:nvSpPr>
        <p:spPr>
          <a:xfrm>
            <a:off x="1024128" y="2029967"/>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Writes each question, the plan, the SRS, every diagram and every page in parallel lanes, so no output is truncated.</a:t>
            </a:r>
          </a:p>
        </p:txBody>
      </p:sp>
      <p:sp>
        <p:nvSpPr>
          <p:cNvPr id="13" name="Oval 12"/>
          <p:cNvSpPr/>
          <p:nvPr/>
        </p:nvSpPr>
        <p:spPr>
          <a:xfrm>
            <a:off x="612648" y="2514600"/>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514600"/>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2</a:t>
            </a:r>
          </a:p>
        </p:txBody>
      </p:sp>
      <p:sp>
        <p:nvSpPr>
          <p:cNvPr id="15" name="TextBox 14"/>
          <p:cNvSpPr txBox="1"/>
          <p:nvPr/>
        </p:nvSpPr>
        <p:spPr>
          <a:xfrm>
            <a:off x="1024128" y="2532888"/>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OLLAMA WEB SEARCH</a:t>
            </a:r>
          </a:p>
        </p:txBody>
      </p:sp>
      <p:sp>
        <p:nvSpPr>
          <p:cNvPr id="16" name="TextBox 15"/>
          <p:cNvSpPr txBox="1"/>
          <p:nvPr/>
        </p:nvSpPr>
        <p:spPr>
          <a:xfrm>
            <a:off x="1024128" y="2779776"/>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Researches what products of this kind normally contain before the SRS and the wireframes are written.</a:t>
            </a:r>
          </a:p>
        </p:txBody>
      </p:sp>
      <p:sp>
        <p:nvSpPr>
          <p:cNvPr id="17" name="Oval 16"/>
          <p:cNvSpPr/>
          <p:nvPr/>
        </p:nvSpPr>
        <p:spPr>
          <a:xfrm>
            <a:off x="612648" y="3264408"/>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264408"/>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3</a:t>
            </a:r>
          </a:p>
        </p:txBody>
      </p:sp>
      <p:sp>
        <p:nvSpPr>
          <p:cNvPr id="19" name="TextBox 18"/>
          <p:cNvSpPr txBox="1"/>
          <p:nvPr/>
        </p:nvSpPr>
        <p:spPr>
          <a:xfrm>
            <a:off x="1024128" y="3282696"/>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MERMAID CLI + HEADLESS CHROMIUM</a:t>
            </a:r>
          </a:p>
        </p:txBody>
      </p:sp>
      <p:sp>
        <p:nvSpPr>
          <p:cNvPr id="20" name="TextBox 19"/>
          <p:cNvSpPr txBox="1"/>
          <p:nvPr/>
        </p:nvSpPr>
        <p:spPr>
          <a:xfrm>
            <a:off x="1024128" y="3529584"/>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Renders each diagram to SVG; its parse error becomes the model's repair instruction.</a:t>
            </a:r>
          </a:p>
        </p:txBody>
      </p:sp>
      <p:sp>
        <p:nvSpPr>
          <p:cNvPr id="21" name="Oval 20"/>
          <p:cNvSpPr/>
          <p:nvPr/>
        </p:nvSpPr>
        <p:spPr>
          <a:xfrm>
            <a:off x="612648" y="4014216"/>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14216"/>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4</a:t>
            </a:r>
          </a:p>
        </p:txBody>
      </p:sp>
      <p:sp>
        <p:nvSpPr>
          <p:cNvPr id="23" name="TextBox 22"/>
          <p:cNvSpPr txBox="1"/>
          <p:nvPr/>
        </p:nvSpPr>
        <p:spPr>
          <a:xfrm>
            <a:off x="1024128" y="4032504"/>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PYDANTIC SRS SCHEMA</a:t>
            </a:r>
          </a:p>
        </p:txBody>
      </p:sp>
      <p:sp>
        <p:nvSpPr>
          <p:cNvPr id="24" name="TextBox 23"/>
          <p:cNvSpPr txBox="1"/>
          <p:nvPr/>
        </p:nvSpPr>
        <p:spPr>
          <a:xfrm>
            <a:off x="1024128" y="4279392"/>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Rejects a malformed specification and names the exact field to fix.</a:t>
            </a:r>
          </a:p>
        </p:txBody>
      </p:sp>
      <p:sp>
        <p:nvSpPr>
          <p:cNvPr id="25" name="Oval 24"/>
          <p:cNvSpPr/>
          <p:nvPr/>
        </p:nvSpPr>
        <p:spPr>
          <a:xfrm>
            <a:off x="612648" y="4764024"/>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 y="4764024"/>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5</a:t>
            </a:r>
          </a:p>
        </p:txBody>
      </p:sp>
      <p:sp>
        <p:nvSpPr>
          <p:cNvPr id="27" name="TextBox 26"/>
          <p:cNvSpPr txBox="1"/>
          <p:nvPr/>
        </p:nvSpPr>
        <p:spPr>
          <a:xfrm>
            <a:off x="1024128" y="4782312"/>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COVERAGE AND REVIEW VALIDATORS</a:t>
            </a:r>
          </a:p>
        </p:txBody>
      </p:sp>
      <p:sp>
        <p:nvSpPr>
          <p:cNvPr id="28" name="TextBox 27"/>
          <p:cNvSpPr txBox="1"/>
          <p:nvPr/>
        </p:nvSpPr>
        <p:spPr>
          <a:xfrm>
            <a:off x="1024128" y="5029200"/>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Count plan against spec and score quality; gaps return as repair instructions.</a:t>
            </a:r>
          </a:p>
        </p:txBody>
      </p:sp>
      <p:sp>
        <p:nvSpPr>
          <p:cNvPr id="29" name="Oval 28"/>
          <p:cNvSpPr/>
          <p:nvPr/>
        </p:nvSpPr>
        <p:spPr>
          <a:xfrm>
            <a:off x="612648" y="551383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551383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6</a:t>
            </a:r>
          </a:p>
        </p:txBody>
      </p:sp>
      <p:sp>
        <p:nvSpPr>
          <p:cNvPr id="31" name="TextBox 30"/>
          <p:cNvSpPr txBox="1"/>
          <p:nvPr/>
        </p:nvSpPr>
        <p:spPr>
          <a:xfrm>
            <a:off x="1024128" y="553212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JOURNEY MAPPER + DOCUMENT EXPORT</a:t>
            </a:r>
          </a:p>
        </p:txBody>
      </p:sp>
      <p:sp>
        <p:nvSpPr>
          <p:cNvPr id="32" name="TextBox 31"/>
          <p:cNvSpPr txBox="1"/>
          <p:nvPr/>
        </p:nvSpPr>
        <p:spPr>
          <a:xfrm>
            <a:off x="1024128" y="5779008"/>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Ties each workflow step to the page it happens on; exports the SRS as a readable document for sign-off.</a:t>
            </a:r>
          </a:p>
        </p:txBody>
      </p:sp>
      <p:sp>
        <p:nvSpPr>
          <p:cNvPr id="33" name="Rounded Rectangle 32"/>
          <p:cNvSpPr/>
          <p:nvPr/>
        </p:nvSpPr>
        <p:spPr>
          <a:xfrm>
            <a:off x="6035040" y="1783080"/>
            <a:ext cx="5550408" cy="3246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1965960"/>
            <a:ext cx="5038344"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WHAT THE SRS AGENT PRODUCES</a:t>
            </a:r>
          </a:p>
        </p:txBody>
      </p:sp>
      <p:sp>
        <p:nvSpPr>
          <p:cNvPr id="35" name="TextBox 34"/>
          <p:cNvSpPr txBox="1"/>
          <p:nvPr/>
        </p:nvSpPr>
        <p:spPr>
          <a:xfrm>
            <a:off x="6291072" y="2350008"/>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interview.json · plan.json</a:t>
            </a:r>
          </a:p>
        </p:txBody>
      </p:sp>
      <p:sp>
        <p:nvSpPr>
          <p:cNvPr id="36" name="TextBox 35"/>
          <p:cNvSpPr txBox="1"/>
          <p:nvPr/>
        </p:nvSpPr>
        <p:spPr>
          <a:xfrm>
            <a:off x="6291072" y="2578608"/>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Every answer, and the plan the customer approved</a:t>
            </a:r>
          </a:p>
        </p:txBody>
      </p:sp>
      <p:sp>
        <p:nvSpPr>
          <p:cNvPr id="37" name="TextBox 36"/>
          <p:cNvSpPr txBox="1"/>
          <p:nvPr/>
        </p:nvSpPr>
        <p:spPr>
          <a:xfrm>
            <a:off x="6291072" y="2862072"/>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srs/srs.json · SRS.md</a:t>
            </a:r>
          </a:p>
        </p:txBody>
      </p:sp>
      <p:sp>
        <p:nvSpPr>
          <p:cNvPr id="38" name="TextBox 37"/>
          <p:cNvSpPr txBox="1"/>
          <p:nvPr/>
        </p:nvSpPr>
        <p:spPr>
          <a:xfrm>
            <a:off x="6291072" y="3090672"/>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The specification as structured data and as a readable document</a:t>
            </a:r>
          </a:p>
        </p:txBody>
      </p:sp>
      <p:sp>
        <p:nvSpPr>
          <p:cNvPr id="39" name="TextBox 38"/>
          <p:cNvSpPr txBox="1"/>
          <p:nvPr/>
        </p:nvSpPr>
        <p:spPr>
          <a:xfrm>
            <a:off x="6291072" y="3374136"/>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srs/diagrams/</a:t>
            </a:r>
          </a:p>
        </p:txBody>
      </p:sp>
      <p:sp>
        <p:nvSpPr>
          <p:cNvPr id="40" name="TextBox 39"/>
          <p:cNvSpPr txBox="1"/>
          <p:nvPr/>
        </p:nvSpPr>
        <p:spPr>
          <a:xfrm>
            <a:off x="6291072" y="3602736"/>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11 diagrams as Mermaid source, rendered to SVG</a:t>
            </a:r>
          </a:p>
        </p:txBody>
      </p:sp>
      <p:sp>
        <p:nvSpPr>
          <p:cNvPr id="41" name="TextBox 40"/>
          <p:cNvSpPr txBox="1"/>
          <p:nvPr/>
        </p:nvSpPr>
        <p:spPr>
          <a:xfrm>
            <a:off x="6291072" y="3886200"/>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srs/wireframes/</a:t>
            </a:r>
          </a:p>
        </p:txBody>
      </p:sp>
      <p:sp>
        <p:nvSpPr>
          <p:cNvPr id="42" name="TextBox 41"/>
          <p:cNvSpPr txBox="1"/>
          <p:nvPr/>
        </p:nvSpPr>
        <p:spPr>
          <a:xfrm>
            <a:off x="6291072" y="4114800"/>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One complete HTML wireframe for every route</a:t>
            </a:r>
          </a:p>
        </p:txBody>
      </p:sp>
      <p:sp>
        <p:nvSpPr>
          <p:cNvPr id="43" name="TextBox 42"/>
          <p:cNvSpPr txBox="1"/>
          <p:nvPr/>
        </p:nvSpPr>
        <p:spPr>
          <a:xfrm>
            <a:off x="6291072" y="4398264"/>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srs/handoff/</a:t>
            </a:r>
          </a:p>
        </p:txBody>
      </p:sp>
      <p:sp>
        <p:nvSpPr>
          <p:cNvPr id="44" name="TextBox 43"/>
          <p:cNvSpPr txBox="1"/>
          <p:nvPr/>
        </p:nvSpPr>
        <p:spPr>
          <a:xfrm>
            <a:off x="6291072" y="4626864"/>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app.md · sitemap.md · prototype.md · builder.md for later agents</a:t>
            </a:r>
          </a:p>
        </p:txBody>
      </p:sp>
      <p:sp>
        <p:nvSpPr>
          <p:cNvPr id="45" name="TextBox 44"/>
          <p:cNvSpPr txBox="1"/>
          <p:nvPr/>
        </p:nvSpPr>
        <p:spPr>
          <a:xfrm>
            <a:off x="6035040" y="5230368"/>
            <a:ext cx="5550408"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STANDARDS THE DOCUMENT FOLLOWS</a:t>
            </a:r>
          </a:p>
        </p:txBody>
      </p:sp>
      <p:sp>
        <p:nvSpPr>
          <p:cNvPr id="46" name="Rounded Rectangle 45"/>
          <p:cNvSpPr/>
          <p:nvPr/>
        </p:nvSpPr>
        <p:spPr>
          <a:xfrm>
            <a:off x="6035040" y="5504688"/>
            <a:ext cx="1936134"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0" y="5504688"/>
            <a:ext cx="1936134" cy="310896"/>
          </a:xfrm>
          <a:prstGeom prst="rect">
            <a:avLst/>
          </a:prstGeom>
          <a:noFill/>
        </p:spPr>
        <p:txBody>
          <a:bodyPr wrap="square" lIns="0" rIns="0" tIns="0" bIns="0" anchor="ctr"/>
          <a:lstStyle/>
          <a:p>
            <a:pPr algn="ctr"/>
            <a:r>
              <a:rPr sz="1100" b="0" i="0">
                <a:solidFill>
                  <a:srgbClr val="111111"/>
                </a:solidFill>
                <a:latin typeface="Inter"/>
                <a:ea typeface="Inter"/>
                <a:cs typeface="Inter"/>
              </a:rPr>
              <a:t>ISO/IEC/IEEE 29148:2018</a:t>
            </a:r>
          </a:p>
        </p:txBody>
      </p:sp>
      <p:sp>
        <p:nvSpPr>
          <p:cNvPr id="48" name="Rounded Rectangle 47"/>
          <p:cNvSpPr/>
          <p:nvPr/>
        </p:nvSpPr>
        <p:spPr>
          <a:xfrm>
            <a:off x="8062614" y="5504688"/>
            <a:ext cx="1307222"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62614" y="5504688"/>
            <a:ext cx="1307222" cy="310896"/>
          </a:xfrm>
          <a:prstGeom prst="rect">
            <a:avLst/>
          </a:prstGeom>
          <a:noFill/>
        </p:spPr>
        <p:txBody>
          <a:bodyPr wrap="square" lIns="0" rIns="0" tIns="0" bIns="0" anchor="ctr"/>
          <a:lstStyle/>
          <a:p>
            <a:pPr algn="ctr"/>
            <a:r>
              <a:rPr sz="1100" b="0" i="0">
                <a:solidFill>
                  <a:srgbClr val="111111"/>
                </a:solidFill>
                <a:latin typeface="Inter"/>
                <a:ea typeface="Inter"/>
                <a:cs typeface="Inter"/>
              </a:rPr>
              <a:t>OMG UML 2.5.1</a:t>
            </a:r>
          </a:p>
        </p:txBody>
      </p:sp>
      <p:sp>
        <p:nvSpPr>
          <p:cNvPr id="50" name="Rounded Rectangle 49"/>
          <p:cNvSpPr/>
          <p:nvPr/>
        </p:nvSpPr>
        <p:spPr>
          <a:xfrm>
            <a:off x="9461277" y="5504688"/>
            <a:ext cx="1075953"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461277" y="5504688"/>
            <a:ext cx="1075953" cy="310896"/>
          </a:xfrm>
          <a:prstGeom prst="rect">
            <a:avLst/>
          </a:prstGeom>
          <a:noFill/>
        </p:spPr>
        <p:txBody>
          <a:bodyPr wrap="square" lIns="0" rIns="0" tIns="0" bIns="0" anchor="ctr"/>
          <a:lstStyle/>
          <a:p>
            <a:pPr algn="ctr"/>
            <a:r>
              <a:rPr sz="1100" b="0" i="0">
                <a:solidFill>
                  <a:srgbClr val="111111"/>
                </a:solidFill>
                <a:latin typeface="Inter"/>
                <a:ea typeface="Inter"/>
                <a:cs typeface="Inter"/>
              </a:rPr>
              <a:t>BPMN 2.0.2</a:t>
            </a:r>
          </a:p>
        </p:txBody>
      </p:sp>
      <p:sp>
        <p:nvSpPr>
          <p:cNvPr id="52" name="Rounded Rectangle 51"/>
          <p:cNvSpPr/>
          <p:nvPr/>
        </p:nvSpPr>
        <p:spPr>
          <a:xfrm>
            <a:off x="6035040" y="5907023"/>
            <a:ext cx="1399621"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35040" y="5907023"/>
            <a:ext cx="1399621" cy="310896"/>
          </a:xfrm>
          <a:prstGeom prst="rect">
            <a:avLst/>
          </a:prstGeom>
          <a:noFill/>
        </p:spPr>
        <p:txBody>
          <a:bodyPr wrap="square" lIns="0" rIns="0" tIns="0" bIns="0" anchor="ctr"/>
          <a:lstStyle/>
          <a:p>
            <a:pPr algn="ctr"/>
            <a:r>
              <a:rPr sz="1100" b="0" i="0">
                <a:solidFill>
                  <a:srgbClr val="111111"/>
                </a:solidFill>
                <a:latin typeface="Inter"/>
                <a:ea typeface="Inter"/>
                <a:cs typeface="Inter"/>
              </a:rPr>
              <a:t>Crow's Foot ERD</a:t>
            </a:r>
          </a:p>
        </p:txBody>
      </p:sp>
      <p:sp>
        <p:nvSpPr>
          <p:cNvPr id="54" name="Rounded Rectangle 53"/>
          <p:cNvSpPr/>
          <p:nvPr/>
        </p:nvSpPr>
        <p:spPr>
          <a:xfrm>
            <a:off x="7526101" y="5907023"/>
            <a:ext cx="1169029"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26101" y="5907023"/>
            <a:ext cx="1169029" cy="310896"/>
          </a:xfrm>
          <a:prstGeom prst="rect">
            <a:avLst/>
          </a:prstGeom>
          <a:noFill/>
        </p:spPr>
        <p:txBody>
          <a:bodyPr wrap="square" lIns="0" rIns="0" tIns="0" bIns="0" anchor="ctr"/>
          <a:lstStyle/>
          <a:p>
            <a:pPr algn="ctr"/>
            <a:r>
              <a:rPr sz="1100" b="0" i="0">
                <a:solidFill>
                  <a:srgbClr val="111111"/>
                </a:solidFill>
                <a:latin typeface="Inter"/>
                <a:ea typeface="Inter"/>
                <a:cs typeface="Inter"/>
              </a:rPr>
              <a:t>WCAG 2.1 AA</a:t>
            </a:r>
          </a:p>
        </p:txBody>
      </p:sp>
      <p:sp>
        <p:nvSpPr>
          <p:cNvPr id="56" name="Rounded Rectangle 55"/>
          <p:cNvSpPr/>
          <p:nvPr/>
        </p:nvSpPr>
        <p:spPr>
          <a:xfrm>
            <a:off x="8786570" y="5907023"/>
            <a:ext cx="1276554"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786570" y="5907023"/>
            <a:ext cx="1276554" cy="310896"/>
          </a:xfrm>
          <a:prstGeom prst="rect">
            <a:avLst/>
          </a:prstGeom>
          <a:noFill/>
        </p:spPr>
        <p:txBody>
          <a:bodyPr wrap="square" lIns="0" rIns="0" tIns="0" bIns="0" anchor="ctr"/>
          <a:lstStyle/>
          <a:p>
            <a:pPr algn="ctr"/>
            <a:r>
              <a:rPr sz="1100" b="0" i="0">
                <a:solidFill>
                  <a:srgbClr val="111111"/>
                </a:solidFill>
                <a:latin typeface="Inter"/>
                <a:ea typeface="Inter"/>
                <a:cs typeface="Inter"/>
              </a:rPr>
              <a:t>OWASP Top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2 · PROTOTYPE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Prototype agent: see it before it is built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4.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39112"/>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DESIGN CONTRACT</a:t>
            </a:r>
          </a:p>
        </p:txBody>
      </p:sp>
      <p:sp>
        <p:nvSpPr>
          <p:cNvPr id="11" name="TextBox 10"/>
          <p:cNvSpPr txBox="1"/>
          <p:nvPr/>
        </p:nvSpPr>
        <p:spPr>
          <a:xfrm>
            <a:off x="612648" y="2350389"/>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Pick one of 71 themes (minimal, bento, glassmorphism, brutalism…) or describe a direction. Tokens and styling are previewed and approved once, then bind every page.</a:t>
            </a:r>
          </a:p>
        </p:txBody>
      </p:sp>
      <p:sp>
        <p:nvSpPr>
          <p:cNvPr id="12" name="TextBox 11"/>
          <p:cNvSpPr txBox="1"/>
          <p:nvPr/>
        </p:nvSpPr>
        <p:spPr>
          <a:xfrm>
            <a:off x="47274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4727448" y="2039112"/>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SHARED KIT</a:t>
            </a:r>
          </a:p>
        </p:txBody>
      </p:sp>
      <p:sp>
        <p:nvSpPr>
          <p:cNvPr id="14" name="TextBox 13"/>
          <p:cNvSpPr txBox="1"/>
          <p:nvPr/>
        </p:nvSpPr>
        <p:spPr>
          <a:xfrm>
            <a:off x="4727448" y="2350389"/>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One stylesheet, one script and one page shell drawn once, so every screen is the same product rather than a set of separate mock-ups.</a:t>
            </a:r>
          </a:p>
        </p:txBody>
      </p:sp>
      <p:sp>
        <p:nvSpPr>
          <p:cNvPr id="15" name="TextBox 14"/>
          <p:cNvSpPr txBox="1"/>
          <p:nvPr/>
        </p:nvSpPr>
        <p:spPr>
          <a:xfrm>
            <a:off x="612648" y="3310128"/>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612648" y="3566160"/>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FLOW AND ROUTES</a:t>
            </a:r>
          </a:p>
        </p:txBody>
      </p:sp>
      <p:sp>
        <p:nvSpPr>
          <p:cNvPr id="17" name="TextBox 16"/>
          <p:cNvSpPr txBox="1"/>
          <p:nvPr/>
        </p:nvSpPr>
        <p:spPr>
          <a:xfrm>
            <a:off x="612648" y="3877437"/>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Journeys become 'this page leads to that page' in flow.js and routes.json, so a link can never point to a page that does not exist.</a:t>
            </a:r>
          </a:p>
        </p:txBody>
      </p:sp>
      <p:sp>
        <p:nvSpPr>
          <p:cNvPr id="18" name="TextBox 17"/>
          <p:cNvSpPr txBox="1"/>
          <p:nvPr/>
        </p:nvSpPr>
        <p:spPr>
          <a:xfrm>
            <a:off x="4727448" y="3310128"/>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4727448" y="3566160"/>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ROLE-AWARE DEMO</a:t>
            </a:r>
          </a:p>
        </p:txBody>
      </p:sp>
      <p:sp>
        <p:nvSpPr>
          <p:cNvPr id="20" name="TextBox 19"/>
          <p:cNvSpPr txBox="1"/>
          <p:nvPr/>
        </p:nvSpPr>
        <p:spPr>
          <a:xfrm>
            <a:off x="4727448" y="3877437"/>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One fictitious demo account per signing-in role, created without an LLM call; the access matrix decides which pages each role may open.</a:t>
            </a:r>
          </a:p>
        </p:txBody>
      </p:sp>
      <p:sp>
        <p:nvSpPr>
          <p:cNvPr id="21" name="TextBox 20"/>
          <p:cNvSpPr txBox="1"/>
          <p:nvPr/>
        </p:nvSpPr>
        <p:spPr>
          <a:xfrm>
            <a:off x="612648" y="4837176"/>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2" name="TextBox 21"/>
          <p:cNvSpPr txBox="1"/>
          <p:nvPr/>
        </p:nvSpPr>
        <p:spPr>
          <a:xfrm>
            <a:off x="612648" y="5093208"/>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PAGE-BY-PAGE DRAWING</a:t>
            </a:r>
          </a:p>
        </p:txBody>
      </p:sp>
      <p:sp>
        <p:nvSpPr>
          <p:cNvPr id="23" name="TextBox 22"/>
          <p:cNvSpPr txBox="1"/>
          <p:nvPr/>
        </p:nvSpPr>
        <p:spPr>
          <a:xfrm>
            <a:off x="612648" y="5404485"/>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Each route is drawn from its approved wireframe with its own output budget, and published the moment it is ready while the rest keep drawing.</a:t>
            </a:r>
          </a:p>
        </p:txBody>
      </p:sp>
      <p:sp>
        <p:nvSpPr>
          <p:cNvPr id="24" name="TextBox 23"/>
          <p:cNvSpPr txBox="1"/>
          <p:nvPr/>
        </p:nvSpPr>
        <p:spPr>
          <a:xfrm>
            <a:off x="4727448" y="4837176"/>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06</a:t>
            </a:r>
          </a:p>
        </p:txBody>
      </p:sp>
      <p:sp>
        <p:nvSpPr>
          <p:cNvPr id="25" name="TextBox 24"/>
          <p:cNvSpPr txBox="1"/>
          <p:nvPr/>
        </p:nvSpPr>
        <p:spPr>
          <a:xfrm>
            <a:off x="4727448" y="5093208"/>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CHECKS AND REVISIONS</a:t>
            </a:r>
          </a:p>
        </p:txBody>
      </p:sp>
      <p:sp>
        <p:nvSpPr>
          <p:cNvPr id="26" name="TextBox 25"/>
          <p:cNvSpPr txBox="1"/>
          <p:nvPr/>
        </p:nvSpPr>
        <p:spPr>
          <a:xfrm>
            <a:off x="4727448" y="5404485"/>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Pages are checked for dead links, missing kit functions and leaked spec text; images are repaired. Chat or point-and-edit revises any page.</a:t>
            </a:r>
          </a:p>
        </p:txBody>
      </p:sp>
      <p:pic>
        <p:nvPicPr>
          <p:cNvPr id="27" name="Picture 26" descr="33.png"/>
          <p:cNvPicPr>
            <a:picLocks noChangeAspect="1"/>
          </p:cNvPicPr>
          <p:nvPr/>
        </p:nvPicPr>
        <p:blipFill>
          <a:blip r:embed="rId4"/>
          <a:stretch>
            <a:fillRect/>
          </a:stretch>
        </p:blipFill>
        <p:spPr>
          <a:xfrm>
            <a:off x="9006840" y="2331720"/>
            <a:ext cx="2377440" cy="317296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2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Prototype agent: tools and what they do</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14</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6.png"/>
          <p:cNvPicPr>
            <a:picLocks noChangeAspect="1"/>
          </p:cNvPicPr>
          <p:nvPr/>
        </p:nvPicPr>
        <p:blipFill>
          <a:blip r:embed="rId3"/>
          <a:stretch>
            <a:fillRect/>
          </a:stretch>
        </p:blipFill>
        <p:spPr>
          <a:xfrm>
            <a:off x="10488168" y="201168"/>
            <a:ext cx="1316736" cy="1316736"/>
          </a:xfrm>
          <a:prstGeom prst="rect">
            <a:avLst/>
          </a:prstGeom>
        </p:spPr>
      </p:pic>
      <p:sp>
        <p:nvSpPr>
          <p:cNvPr id="9" name="Oval 8"/>
          <p:cNvSpPr/>
          <p:nvPr/>
        </p:nvSpPr>
        <p:spPr>
          <a:xfrm>
            <a:off x="612648" y="176479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6479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1</a:t>
            </a:r>
          </a:p>
        </p:txBody>
      </p:sp>
      <p:sp>
        <p:nvSpPr>
          <p:cNvPr id="11" name="TextBox 10"/>
          <p:cNvSpPr txBox="1"/>
          <p:nvPr/>
        </p:nvSpPr>
        <p:spPr>
          <a:xfrm>
            <a:off x="1024128" y="178308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DESIGN THEME CATALOGUE</a:t>
            </a:r>
          </a:p>
        </p:txBody>
      </p:sp>
      <p:sp>
        <p:nvSpPr>
          <p:cNvPr id="12" name="TextBox 11"/>
          <p:cNvSpPr txBox="1"/>
          <p:nvPr/>
        </p:nvSpPr>
        <p:spPr>
          <a:xfrm>
            <a:off x="1024128" y="2029967"/>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71 ready themes, each a DESIGN.md, plus a customiser for colour, type, density and component style.</a:t>
            </a:r>
          </a:p>
        </p:txBody>
      </p:sp>
      <p:sp>
        <p:nvSpPr>
          <p:cNvPr id="13" name="Oval 12"/>
          <p:cNvSpPr/>
          <p:nvPr/>
        </p:nvSpPr>
        <p:spPr>
          <a:xfrm>
            <a:off x="612648" y="2514600"/>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514600"/>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2</a:t>
            </a:r>
          </a:p>
        </p:txBody>
      </p:sp>
      <p:sp>
        <p:nvSpPr>
          <p:cNvPr id="15" name="TextBox 14"/>
          <p:cNvSpPr txBox="1"/>
          <p:nvPr/>
        </p:nvSpPr>
        <p:spPr>
          <a:xfrm>
            <a:off x="1024128" y="2532888"/>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LLM PAGE WRITER</a:t>
            </a:r>
          </a:p>
        </p:txBody>
      </p:sp>
      <p:sp>
        <p:nvSpPr>
          <p:cNvPr id="16" name="TextBox 15"/>
          <p:cNvSpPr txBox="1"/>
          <p:nvPr/>
        </p:nvSpPr>
        <p:spPr>
          <a:xfrm>
            <a:off x="1024128" y="2779776"/>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Draws the shared kit once, then each page from its wireframe's structure with the low-fidelity look stripped out.</a:t>
            </a:r>
          </a:p>
        </p:txBody>
      </p:sp>
      <p:sp>
        <p:nvSpPr>
          <p:cNvPr id="17" name="Oval 16"/>
          <p:cNvSpPr/>
          <p:nvPr/>
        </p:nvSpPr>
        <p:spPr>
          <a:xfrm>
            <a:off x="612648" y="3264408"/>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264408"/>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3</a:t>
            </a:r>
          </a:p>
        </p:txBody>
      </p:sp>
      <p:sp>
        <p:nvSpPr>
          <p:cNvPr id="19" name="TextBox 18"/>
          <p:cNvSpPr txBox="1"/>
          <p:nvPr/>
        </p:nvSpPr>
        <p:spPr>
          <a:xfrm>
            <a:off x="1024128" y="3282696"/>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ROUTE AND FLOW BUILDER</a:t>
            </a:r>
          </a:p>
        </p:txBody>
      </p:sp>
      <p:sp>
        <p:nvSpPr>
          <p:cNvPr id="20" name="TextBox 19"/>
          <p:cNvSpPr txBox="1"/>
          <p:nvPr/>
        </p:nvSpPr>
        <p:spPr>
          <a:xfrm>
            <a:off x="1024128" y="3529584"/>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Writes routes.json and flow.js from the SRS journeys and the role access matrix.</a:t>
            </a:r>
          </a:p>
        </p:txBody>
      </p:sp>
      <p:sp>
        <p:nvSpPr>
          <p:cNvPr id="21" name="Oval 20"/>
          <p:cNvSpPr/>
          <p:nvPr/>
        </p:nvSpPr>
        <p:spPr>
          <a:xfrm>
            <a:off x="612648" y="4014216"/>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14216"/>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4</a:t>
            </a:r>
          </a:p>
        </p:txBody>
      </p:sp>
      <p:sp>
        <p:nvSpPr>
          <p:cNvPr id="23" name="TextBox 22"/>
          <p:cNvSpPr txBox="1"/>
          <p:nvPr/>
        </p:nvSpPr>
        <p:spPr>
          <a:xfrm>
            <a:off x="1024128" y="4032504"/>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DEMO-ACCOUNT GENERATOR</a:t>
            </a:r>
          </a:p>
        </p:txBody>
      </p:sp>
      <p:sp>
        <p:nvSpPr>
          <p:cNvPr id="24" name="TextBox 23"/>
          <p:cNvSpPr txBox="1"/>
          <p:nvPr/>
        </p:nvSpPr>
        <p:spPr>
          <a:xfrm>
            <a:off x="1024128" y="4279392"/>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Creates one stable, fictitious login per role and tells the customer how to enter as each one.</a:t>
            </a:r>
          </a:p>
        </p:txBody>
      </p:sp>
      <p:sp>
        <p:nvSpPr>
          <p:cNvPr id="25" name="Oval 24"/>
          <p:cNvSpPr/>
          <p:nvPr/>
        </p:nvSpPr>
        <p:spPr>
          <a:xfrm>
            <a:off x="612648" y="4764024"/>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 y="4764024"/>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5</a:t>
            </a:r>
          </a:p>
        </p:txBody>
      </p:sp>
      <p:sp>
        <p:nvSpPr>
          <p:cNvPr id="27" name="TextBox 26"/>
          <p:cNvSpPr txBox="1"/>
          <p:nvPr/>
        </p:nvSpPr>
        <p:spPr>
          <a:xfrm>
            <a:off x="1024128" y="4782312"/>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STATIC PAGE CHECKER</a:t>
            </a:r>
          </a:p>
        </p:txBody>
      </p:sp>
      <p:sp>
        <p:nvSpPr>
          <p:cNvPr id="28" name="TextBox 27"/>
          <p:cNvSpPr txBox="1"/>
          <p:nvPr/>
        </p:nvSpPr>
        <p:spPr>
          <a:xfrm>
            <a:off x="1024128" y="5029200"/>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Flags dead links, unknown kit functions, undefined classes and specification text printed on a page.</a:t>
            </a:r>
          </a:p>
        </p:txBody>
      </p:sp>
      <p:sp>
        <p:nvSpPr>
          <p:cNvPr id="29" name="Oval 28"/>
          <p:cNvSpPr/>
          <p:nvPr/>
        </p:nvSpPr>
        <p:spPr>
          <a:xfrm>
            <a:off x="612648" y="551383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551383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6</a:t>
            </a:r>
          </a:p>
        </p:txBody>
      </p:sp>
      <p:sp>
        <p:nvSpPr>
          <p:cNvPr id="31" name="TextBox 30"/>
          <p:cNvSpPr txBox="1"/>
          <p:nvPr/>
        </p:nvSpPr>
        <p:spPr>
          <a:xfrm>
            <a:off x="1024128" y="553212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VISUAL INSPECTOR</a:t>
            </a:r>
          </a:p>
        </p:txBody>
      </p:sp>
      <p:sp>
        <p:nvSpPr>
          <p:cNvPr id="32" name="TextBox 31"/>
          <p:cNvSpPr txBox="1"/>
          <p:nvPr/>
        </p:nvSpPr>
        <p:spPr>
          <a:xfrm>
            <a:off x="1024128" y="5779008"/>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Click any element in the preview to restyle, move, duplicate or delete it, with undo and redo.</a:t>
            </a:r>
          </a:p>
        </p:txBody>
      </p:sp>
      <p:sp>
        <p:nvSpPr>
          <p:cNvPr id="33" name="Rounded Rectangle 32"/>
          <p:cNvSpPr/>
          <p:nvPr/>
        </p:nvSpPr>
        <p:spPr>
          <a:xfrm>
            <a:off x="6035040" y="1783080"/>
            <a:ext cx="5550408" cy="3246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1072" y="1965960"/>
            <a:ext cx="5038344"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WHAT THE PROTOTYPE AGENT PRODUCES</a:t>
            </a:r>
          </a:p>
        </p:txBody>
      </p:sp>
      <p:sp>
        <p:nvSpPr>
          <p:cNvPr id="35" name="TextBox 34"/>
          <p:cNvSpPr txBox="1"/>
          <p:nvPr/>
        </p:nvSpPr>
        <p:spPr>
          <a:xfrm>
            <a:off x="6291072" y="2350008"/>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design.json</a:t>
            </a:r>
          </a:p>
        </p:txBody>
      </p:sp>
      <p:sp>
        <p:nvSpPr>
          <p:cNvPr id="36" name="TextBox 35"/>
          <p:cNvSpPr txBox="1"/>
          <p:nvPr/>
        </p:nvSpPr>
        <p:spPr>
          <a:xfrm>
            <a:off x="6291072" y="2578608"/>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The approved theme, tokens and customisation</a:t>
            </a:r>
          </a:p>
        </p:txBody>
      </p:sp>
      <p:sp>
        <p:nvSpPr>
          <p:cNvPr id="37" name="TextBox 36"/>
          <p:cNvSpPr txBox="1"/>
          <p:nvPr/>
        </p:nvSpPr>
        <p:spPr>
          <a:xfrm>
            <a:off x="6291072" y="2862072"/>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prototype/*.html</a:t>
            </a:r>
          </a:p>
        </p:txBody>
      </p:sp>
      <p:sp>
        <p:nvSpPr>
          <p:cNvPr id="38" name="TextBox 37"/>
          <p:cNvSpPr txBox="1"/>
          <p:nvPr/>
        </p:nvSpPr>
        <p:spPr>
          <a:xfrm>
            <a:off x="6291072" y="3090672"/>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One linked static page per route, starting at index.html</a:t>
            </a:r>
          </a:p>
        </p:txBody>
      </p:sp>
      <p:sp>
        <p:nvSpPr>
          <p:cNvPr id="39" name="TextBox 38"/>
          <p:cNvSpPr txBox="1"/>
          <p:nvPr/>
        </p:nvSpPr>
        <p:spPr>
          <a:xfrm>
            <a:off x="6291072" y="3374136"/>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assets/app.css · app.js</a:t>
            </a:r>
          </a:p>
        </p:txBody>
      </p:sp>
      <p:sp>
        <p:nvSpPr>
          <p:cNvPr id="40" name="TextBox 39"/>
          <p:cNvSpPr txBox="1"/>
          <p:nvPr/>
        </p:nvSpPr>
        <p:spPr>
          <a:xfrm>
            <a:off x="6291072" y="3602736"/>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The shared kit every page is built on</a:t>
            </a:r>
          </a:p>
        </p:txBody>
      </p:sp>
      <p:sp>
        <p:nvSpPr>
          <p:cNvPr id="41" name="TextBox 40"/>
          <p:cNvSpPr txBox="1"/>
          <p:nvPr/>
        </p:nvSpPr>
        <p:spPr>
          <a:xfrm>
            <a:off x="6291072" y="3886200"/>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assets/flow.js</a:t>
            </a:r>
          </a:p>
        </p:txBody>
      </p:sp>
      <p:sp>
        <p:nvSpPr>
          <p:cNvPr id="42" name="TextBox 41"/>
          <p:cNvSpPr txBox="1"/>
          <p:nvPr/>
        </p:nvSpPr>
        <p:spPr>
          <a:xfrm>
            <a:off x="6291072" y="4114800"/>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Route map, journeys and demo accounts, as data</a:t>
            </a:r>
          </a:p>
        </p:txBody>
      </p:sp>
      <p:sp>
        <p:nvSpPr>
          <p:cNvPr id="43" name="TextBox 42"/>
          <p:cNvSpPr txBox="1"/>
          <p:nvPr/>
        </p:nvSpPr>
        <p:spPr>
          <a:xfrm>
            <a:off x="6291072" y="4398264"/>
            <a:ext cx="5038344" cy="219456"/>
          </a:xfrm>
          <a:prstGeom prst="rect">
            <a:avLst/>
          </a:prstGeom>
          <a:noFill/>
        </p:spPr>
        <p:txBody>
          <a:bodyPr wrap="square" lIns="0" rIns="0" tIns="0" bIns="0" anchor="t"/>
          <a:lstStyle/>
          <a:p>
            <a:pPr algn="l"/>
            <a:r>
              <a:rPr sz="1200" b="0" i="0">
                <a:solidFill>
                  <a:srgbClr val="1F6BFF"/>
                </a:solidFill>
                <a:latin typeface="Inter SemiBold"/>
                <a:ea typeface="Inter SemiBold"/>
                <a:cs typeface="Inter SemiBold"/>
              </a:rPr>
              <a:t>routes.json</a:t>
            </a:r>
          </a:p>
        </p:txBody>
      </p:sp>
      <p:sp>
        <p:nvSpPr>
          <p:cNvPr id="44" name="TextBox 43"/>
          <p:cNvSpPr txBox="1"/>
          <p:nvPr/>
        </p:nvSpPr>
        <p:spPr>
          <a:xfrm>
            <a:off x="6291072" y="4626864"/>
            <a:ext cx="5038344" cy="237744"/>
          </a:xfrm>
          <a:prstGeom prst="rect">
            <a:avLst/>
          </a:prstGeom>
          <a:noFill/>
        </p:spPr>
        <p:txBody>
          <a:bodyPr wrap="square" lIns="0" rIns="0" tIns="0" bIns="0" anchor="t"/>
          <a:lstStyle/>
          <a:p>
            <a:pPr algn="l"/>
            <a:r>
              <a:rPr sz="1150" b="0" i="0">
                <a:solidFill>
                  <a:srgbClr val="1F2937"/>
                </a:solidFill>
                <a:latin typeface="Inter"/>
                <a:ea typeface="Inter"/>
                <a:cs typeface="Inter"/>
              </a:rPr>
              <a:t>Every screen with its roles and sign-in needs</a:t>
            </a:r>
          </a:p>
        </p:txBody>
      </p:sp>
      <p:sp>
        <p:nvSpPr>
          <p:cNvPr id="45" name="TextBox 44"/>
          <p:cNvSpPr txBox="1"/>
          <p:nvPr/>
        </p:nvSpPr>
        <p:spPr>
          <a:xfrm>
            <a:off x="6035040" y="5230368"/>
            <a:ext cx="5550408"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A FEW OF THE 71 DESIGN THEMES</a:t>
            </a:r>
          </a:p>
        </p:txBody>
      </p:sp>
      <p:sp>
        <p:nvSpPr>
          <p:cNvPr id="46" name="Rounded Rectangle 45"/>
          <p:cNvSpPr/>
          <p:nvPr/>
        </p:nvSpPr>
        <p:spPr>
          <a:xfrm>
            <a:off x="6035040" y="5504688"/>
            <a:ext cx="803648"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0" y="5504688"/>
            <a:ext cx="803648" cy="310896"/>
          </a:xfrm>
          <a:prstGeom prst="rect">
            <a:avLst/>
          </a:prstGeom>
          <a:noFill/>
        </p:spPr>
        <p:txBody>
          <a:bodyPr wrap="square" lIns="0" rIns="0" tIns="0" bIns="0" anchor="ctr"/>
          <a:lstStyle/>
          <a:p>
            <a:pPr algn="ctr"/>
            <a:r>
              <a:rPr sz="1100" b="0" i="0">
                <a:solidFill>
                  <a:srgbClr val="111111"/>
                </a:solidFill>
                <a:latin typeface="Inter"/>
                <a:ea typeface="Inter"/>
                <a:cs typeface="Inter"/>
              </a:rPr>
              <a:t>Minimal</a:t>
            </a:r>
          </a:p>
        </p:txBody>
      </p:sp>
      <p:sp>
        <p:nvSpPr>
          <p:cNvPr id="48" name="Rounded Rectangle 47"/>
          <p:cNvSpPr/>
          <p:nvPr/>
        </p:nvSpPr>
        <p:spPr>
          <a:xfrm>
            <a:off x="6930128" y="5504688"/>
            <a:ext cx="676128"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930128" y="5504688"/>
            <a:ext cx="676128" cy="310896"/>
          </a:xfrm>
          <a:prstGeom prst="rect">
            <a:avLst/>
          </a:prstGeom>
          <a:noFill/>
        </p:spPr>
        <p:txBody>
          <a:bodyPr wrap="square" lIns="0" rIns="0" tIns="0" bIns="0" anchor="ctr"/>
          <a:lstStyle/>
          <a:p>
            <a:pPr algn="ctr"/>
            <a:r>
              <a:rPr sz="1100" b="0" i="0">
                <a:solidFill>
                  <a:srgbClr val="111111"/>
                </a:solidFill>
                <a:latin typeface="Inter"/>
                <a:ea typeface="Inter"/>
                <a:cs typeface="Inter"/>
              </a:rPr>
              <a:t>Bento</a:t>
            </a:r>
          </a:p>
        </p:txBody>
      </p:sp>
      <p:sp>
        <p:nvSpPr>
          <p:cNvPr id="50" name="Rounded Rectangle 49"/>
          <p:cNvSpPr/>
          <p:nvPr/>
        </p:nvSpPr>
        <p:spPr>
          <a:xfrm>
            <a:off x="7697696" y="5504688"/>
            <a:ext cx="1315583"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97696" y="5504688"/>
            <a:ext cx="1315583" cy="310896"/>
          </a:xfrm>
          <a:prstGeom prst="rect">
            <a:avLst/>
          </a:prstGeom>
          <a:noFill/>
        </p:spPr>
        <p:txBody>
          <a:bodyPr wrap="square" lIns="0" rIns="0" tIns="0" bIns="0" anchor="ctr"/>
          <a:lstStyle/>
          <a:p>
            <a:pPr algn="ctr"/>
            <a:r>
              <a:rPr sz="1100" b="0" i="0">
                <a:solidFill>
                  <a:srgbClr val="111111"/>
                </a:solidFill>
                <a:latin typeface="Inter"/>
                <a:ea typeface="Inter"/>
                <a:cs typeface="Inter"/>
              </a:rPr>
              <a:t>Glassmorphism</a:t>
            </a:r>
          </a:p>
        </p:txBody>
      </p:sp>
      <p:sp>
        <p:nvSpPr>
          <p:cNvPr id="52" name="Rounded Rectangle 51"/>
          <p:cNvSpPr/>
          <p:nvPr/>
        </p:nvSpPr>
        <p:spPr>
          <a:xfrm>
            <a:off x="9104719" y="5504688"/>
            <a:ext cx="907811"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104719" y="5504688"/>
            <a:ext cx="907811" cy="310896"/>
          </a:xfrm>
          <a:prstGeom prst="rect">
            <a:avLst/>
          </a:prstGeom>
          <a:noFill/>
        </p:spPr>
        <p:txBody>
          <a:bodyPr wrap="square" lIns="0" rIns="0" tIns="0" bIns="0" anchor="ctr"/>
          <a:lstStyle/>
          <a:p>
            <a:pPr algn="ctr"/>
            <a:r>
              <a:rPr sz="1100" b="0" i="0">
                <a:solidFill>
                  <a:srgbClr val="111111"/>
                </a:solidFill>
                <a:latin typeface="Inter"/>
                <a:ea typeface="Inter"/>
                <a:cs typeface="Inter"/>
              </a:rPr>
              <a:t>Brutalism</a:t>
            </a:r>
          </a:p>
        </p:txBody>
      </p:sp>
      <p:sp>
        <p:nvSpPr>
          <p:cNvPr id="54" name="Rounded Rectangle 53"/>
          <p:cNvSpPr/>
          <p:nvPr/>
        </p:nvSpPr>
        <p:spPr>
          <a:xfrm>
            <a:off x="10103971" y="5504688"/>
            <a:ext cx="1220892"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03971" y="5504688"/>
            <a:ext cx="1220892" cy="310896"/>
          </a:xfrm>
          <a:prstGeom prst="rect">
            <a:avLst/>
          </a:prstGeom>
          <a:noFill/>
        </p:spPr>
        <p:txBody>
          <a:bodyPr wrap="square" lIns="0" rIns="0" tIns="0" bIns="0" anchor="ctr"/>
          <a:lstStyle/>
          <a:p>
            <a:pPr algn="ctr"/>
            <a:r>
              <a:rPr sz="1100" b="0" i="0">
                <a:solidFill>
                  <a:srgbClr val="111111"/>
                </a:solidFill>
                <a:latin typeface="Inter"/>
                <a:ea typeface="Inter"/>
                <a:cs typeface="Inter"/>
              </a:rPr>
              <a:t>Neumorphism</a:t>
            </a:r>
          </a:p>
        </p:txBody>
      </p:sp>
      <p:sp>
        <p:nvSpPr>
          <p:cNvPr id="56" name="Rounded Rectangle 55"/>
          <p:cNvSpPr/>
          <p:nvPr/>
        </p:nvSpPr>
        <p:spPr>
          <a:xfrm>
            <a:off x="6035040" y="5907023"/>
            <a:ext cx="823926"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035040" y="5907023"/>
            <a:ext cx="823926" cy="310896"/>
          </a:xfrm>
          <a:prstGeom prst="rect">
            <a:avLst/>
          </a:prstGeom>
          <a:noFill/>
        </p:spPr>
        <p:txBody>
          <a:bodyPr wrap="square" lIns="0" rIns="0" tIns="0" bIns="0" anchor="ctr"/>
          <a:lstStyle/>
          <a:p>
            <a:pPr algn="ctr"/>
            <a:r>
              <a:rPr sz="1100" b="0" i="0">
                <a:solidFill>
                  <a:srgbClr val="111111"/>
                </a:solidFill>
                <a:latin typeface="Inter"/>
                <a:ea typeface="Inter"/>
                <a:cs typeface="Inter"/>
              </a:rPr>
              <a:t>Material</a:t>
            </a:r>
          </a:p>
        </p:txBody>
      </p:sp>
      <p:sp>
        <p:nvSpPr>
          <p:cNvPr id="58" name="Rounded Rectangle 57"/>
          <p:cNvSpPr/>
          <p:nvPr/>
        </p:nvSpPr>
        <p:spPr>
          <a:xfrm>
            <a:off x="6950406" y="5907023"/>
            <a:ext cx="824974"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950406" y="5907023"/>
            <a:ext cx="824974" cy="310896"/>
          </a:xfrm>
          <a:prstGeom prst="rect">
            <a:avLst/>
          </a:prstGeom>
          <a:noFill/>
        </p:spPr>
        <p:txBody>
          <a:bodyPr wrap="square" lIns="0" rIns="0" tIns="0" bIns="0" anchor="ctr"/>
          <a:lstStyle/>
          <a:p>
            <a:pPr algn="ctr"/>
            <a:r>
              <a:rPr sz="1100" b="0" i="0">
                <a:solidFill>
                  <a:srgbClr val="111111"/>
                </a:solidFill>
                <a:latin typeface="Inter"/>
                <a:ea typeface="Inter"/>
                <a:cs typeface="Inter"/>
              </a:rPr>
              <a:t>Editorial</a:t>
            </a:r>
          </a:p>
        </p:txBody>
      </p:sp>
      <p:sp>
        <p:nvSpPr>
          <p:cNvPr id="60" name="Rounded Rectangle 59"/>
          <p:cNvSpPr/>
          <p:nvPr/>
        </p:nvSpPr>
        <p:spPr>
          <a:xfrm>
            <a:off x="7866820" y="5907023"/>
            <a:ext cx="641661"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66820" y="5907023"/>
            <a:ext cx="641661" cy="310896"/>
          </a:xfrm>
          <a:prstGeom prst="rect">
            <a:avLst/>
          </a:prstGeom>
          <a:noFill/>
        </p:spPr>
        <p:txBody>
          <a:bodyPr wrap="square" lIns="0" rIns="0" tIns="0" bIns="0" anchor="ctr"/>
          <a:lstStyle/>
          <a:p>
            <a:pPr algn="ctr"/>
            <a:r>
              <a:rPr sz="1100" b="0" i="0">
                <a:solidFill>
                  <a:srgbClr val="111111"/>
                </a:solidFill>
                <a:latin typeface="Inter"/>
                <a:ea typeface="Inter"/>
                <a:cs typeface="Inter"/>
              </a:rPr>
              <a:t>Retro</a:t>
            </a:r>
          </a:p>
        </p:txBody>
      </p:sp>
      <p:sp>
        <p:nvSpPr>
          <p:cNvPr id="62" name="Rounded Rectangle 61"/>
          <p:cNvSpPr/>
          <p:nvPr/>
        </p:nvSpPr>
        <p:spPr>
          <a:xfrm>
            <a:off x="8599922" y="5907023"/>
            <a:ext cx="959348"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9922" y="5907023"/>
            <a:ext cx="959348" cy="310896"/>
          </a:xfrm>
          <a:prstGeom prst="rect">
            <a:avLst/>
          </a:prstGeom>
          <a:noFill/>
        </p:spPr>
        <p:txBody>
          <a:bodyPr wrap="square" lIns="0" rIns="0" tIns="0" bIns="0" anchor="ctr"/>
          <a:lstStyle/>
          <a:p>
            <a:pPr algn="ctr"/>
            <a:r>
              <a:rPr sz="1100" b="0" i="0">
                <a:solidFill>
                  <a:srgbClr val="111111"/>
                </a:solidFill>
                <a:latin typeface="Inter"/>
                <a:ea typeface="Inter"/>
                <a:cs typeface="Inter"/>
              </a:rPr>
              <a:t>Corporate</a:t>
            </a:r>
          </a:p>
        </p:txBody>
      </p:sp>
      <p:sp>
        <p:nvSpPr>
          <p:cNvPr id="64" name="Rounded Rectangle 63"/>
          <p:cNvSpPr/>
          <p:nvPr/>
        </p:nvSpPr>
        <p:spPr>
          <a:xfrm>
            <a:off x="9650710" y="5907023"/>
            <a:ext cx="902944"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650710" y="5907023"/>
            <a:ext cx="902944" cy="310896"/>
          </a:xfrm>
          <a:prstGeom prst="rect">
            <a:avLst/>
          </a:prstGeom>
          <a:noFill/>
        </p:spPr>
        <p:txBody>
          <a:bodyPr wrap="square" lIns="0" rIns="0" tIns="0" bIns="0" anchor="ctr"/>
          <a:lstStyle/>
          <a:p>
            <a:pPr algn="ctr"/>
            <a:r>
              <a:rPr sz="1100" b="0" i="0">
                <a:solidFill>
                  <a:srgbClr val="111111"/>
                </a:solidFill>
                <a:latin typeface="Inter"/>
                <a:ea typeface="Inter"/>
                <a:cs typeface="Inter"/>
              </a:rPr>
              <a:t>Futuristic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3 · BUILDER</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Builder agent: scaffold, then one plan</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15</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2.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5486400" cy="4572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1965960"/>
            <a:ext cx="493776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ONE SEQUENTIAL PLAN</a:t>
            </a:r>
          </a:p>
        </p:txBody>
      </p:sp>
      <p:sp>
        <p:nvSpPr>
          <p:cNvPr id="11" name="Oval 10"/>
          <p:cNvSpPr/>
          <p:nvPr/>
        </p:nvSpPr>
        <p:spPr>
          <a:xfrm>
            <a:off x="886968" y="2423160"/>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423160"/>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1</a:t>
            </a:r>
          </a:p>
        </p:txBody>
      </p:sp>
      <p:sp>
        <p:nvSpPr>
          <p:cNvPr id="13" name="TextBox 12"/>
          <p:cNvSpPr txBox="1"/>
          <p:nvPr/>
        </p:nvSpPr>
        <p:spPr>
          <a:xfrm>
            <a:off x="1344168" y="2459736"/>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1 · COMPLETE THE REAL APP</a:t>
            </a:r>
          </a:p>
        </p:txBody>
      </p:sp>
      <p:sp>
        <p:nvSpPr>
          <p:cNvPr id="14" name="TextBox 13"/>
          <p:cNvSpPr txBox="1"/>
          <p:nvPr/>
        </p:nvSpPr>
        <p:spPr>
          <a:xfrm>
            <a:off x="1344168" y="2770632"/>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Every approved page, route, role, business rule, record and workflow — with real validation, persistence and authorisation. Only a minimal compile check.</a:t>
            </a:r>
          </a:p>
        </p:txBody>
      </p:sp>
      <p:sp>
        <p:nvSpPr>
          <p:cNvPr id="15" name="Oval 14"/>
          <p:cNvSpPr/>
          <p:nvPr/>
        </p:nvSpPr>
        <p:spPr>
          <a:xfrm>
            <a:off x="886968" y="3703320"/>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703320"/>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2</a:t>
            </a:r>
          </a:p>
        </p:txBody>
      </p:sp>
      <p:sp>
        <p:nvSpPr>
          <p:cNvPr id="17" name="TextBox 16"/>
          <p:cNvSpPr txBox="1"/>
          <p:nvPr/>
        </p:nvSpPr>
        <p:spPr>
          <a:xfrm>
            <a:off x="1344168" y="3739896"/>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2 · FOCUSED UNIT TESTS</a:t>
            </a:r>
          </a:p>
        </p:txBody>
      </p:sp>
      <p:sp>
        <p:nvSpPr>
          <p:cNvPr id="18" name="TextBox 17"/>
          <p:cNvSpPr txBox="1"/>
          <p:nvPr/>
        </p:nvSpPr>
        <p:spPr>
          <a:xfrm>
            <a:off x="1344168" y="4050791"/>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Calculations, validation, permissions, state transitions and persistence rules. A real defect is fixed and only that test file is rerun.</a:t>
            </a:r>
          </a:p>
        </p:txBody>
      </p:sp>
      <p:sp>
        <p:nvSpPr>
          <p:cNvPr id="19" name="Oval 18"/>
          <p:cNvSpPr/>
          <p:nvPr/>
        </p:nvSpPr>
        <p:spPr>
          <a:xfrm>
            <a:off x="886968" y="4983479"/>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983479"/>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3</a:t>
            </a:r>
          </a:p>
        </p:txBody>
      </p:sp>
      <p:sp>
        <p:nvSpPr>
          <p:cNvPr id="21" name="TextBox 20"/>
          <p:cNvSpPr txBox="1"/>
          <p:nvPr/>
        </p:nvSpPr>
        <p:spPr>
          <a:xfrm>
            <a:off x="1344168" y="5020055"/>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3 · FINAL PRODUCT CHECKS</a:t>
            </a:r>
          </a:p>
        </p:txBody>
      </p:sp>
      <p:sp>
        <p:nvSpPr>
          <p:cNvPr id="22" name="TextBox 21"/>
          <p:cNvSpPr txBox="1"/>
          <p:nvPr/>
        </p:nvSpPr>
        <p:spPr>
          <a:xfrm>
            <a:off x="1344168" y="5330951"/>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E2E journeys derived from the SRS, prototype and actual code, then visual, accessibility, performance, security and dependency checks.</a:t>
            </a:r>
          </a:p>
        </p:txBody>
      </p:sp>
      <p:sp>
        <p:nvSpPr>
          <p:cNvPr id="23" name="TextBox 22"/>
          <p:cNvSpPr txBox="1"/>
          <p:nvPr/>
        </p:nvSpPr>
        <p:spPr>
          <a:xfrm>
            <a:off x="6400800" y="1783080"/>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SCAFFOLD FIRST</a:t>
            </a:r>
          </a:p>
        </p:txBody>
      </p:sp>
      <p:sp>
        <p:nvSpPr>
          <p:cNvPr id="24" name="TextBox 23"/>
          <p:cNvSpPr txBox="1"/>
          <p:nvPr/>
        </p:nvSpPr>
        <p:spPr>
          <a:xfrm>
            <a:off x="6400800" y="2078482"/>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tested template is copied into an empty workspace only; existing code is never overwritten, and scaffold.json records what was installed.</a:t>
            </a:r>
          </a:p>
        </p:txBody>
      </p:sp>
      <p:sp>
        <p:nvSpPr>
          <p:cNvPr id="25" name="TextBox 24"/>
          <p:cNvSpPr txBox="1"/>
          <p:nvPr/>
        </p:nvSpPr>
        <p:spPr>
          <a:xfrm>
            <a:off x="6400800" y="2860294"/>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100% PROTOTYPE PARITY</a:t>
            </a:r>
          </a:p>
        </p:txBody>
      </p:sp>
      <p:sp>
        <p:nvSpPr>
          <p:cNvPr id="26" name="TextBox 25"/>
          <p:cNvSpPr txBox="1"/>
          <p:nvPr/>
        </p:nvSpPr>
        <p:spPr>
          <a:xfrm>
            <a:off x="6400800" y="3155696"/>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Before planning, every prototype page is read and mapped: route → HTML source → app files → images. The page is reopened before each route is coded.</a:t>
            </a:r>
          </a:p>
        </p:txBody>
      </p:sp>
      <p:sp>
        <p:nvSpPr>
          <p:cNvPr id="27" name="TextBox 26"/>
          <p:cNvSpPr txBox="1"/>
          <p:nvPr/>
        </p:nvSpPr>
        <p:spPr>
          <a:xfrm>
            <a:off x="6400800" y="3937508"/>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REQUIREMENT RECOVERY</a:t>
            </a:r>
          </a:p>
        </p:txBody>
      </p:sp>
      <p:sp>
        <p:nvSpPr>
          <p:cNvPr id="28" name="TextBox 27"/>
          <p:cNvSpPr txBox="1"/>
          <p:nvPr/>
        </p:nvSpPr>
        <p:spPr>
          <a:xfrm>
            <a:off x="6400800" y="4232910"/>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When something is unclear, the builder re-reads the approved plan, the SRS section and the mapped page instead of guessing, then continues.</a:t>
            </a:r>
          </a:p>
        </p:txBody>
      </p:sp>
      <p:sp>
        <p:nvSpPr>
          <p:cNvPr id="29" name="TextBox 28"/>
          <p:cNvSpPr txBox="1"/>
          <p:nvPr/>
        </p:nvSpPr>
        <p:spPr>
          <a:xfrm>
            <a:off x="6400800" y="5014721"/>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ISOLATED DATA, MANAGED PREVIEW</a:t>
            </a:r>
          </a:p>
        </p:txBody>
      </p:sp>
      <p:sp>
        <p:nvSpPr>
          <p:cNvPr id="30" name="TextBox 29"/>
          <p:cNvSpPr txBox="1"/>
          <p:nvPr/>
        </p:nvSpPr>
        <p:spPr>
          <a:xfrm>
            <a:off x="6400800" y="5310123"/>
            <a:ext cx="5184648"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Each app gets its own MongoDB database; the Studio — not the agent — starts the preview on the stack's own port.</a:t>
            </a:r>
          </a:p>
        </p:txBody>
      </p:sp>
      <p:sp>
        <p:nvSpPr>
          <p:cNvPr id="31" name="Rounded Rectangle 30"/>
          <p:cNvSpPr/>
          <p:nvPr/>
        </p:nvSpPr>
        <p:spPr>
          <a:xfrm>
            <a:off x="6400800" y="5989320"/>
            <a:ext cx="5184648" cy="365760"/>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5989320"/>
            <a:ext cx="4910328" cy="365760"/>
          </a:xfrm>
          <a:prstGeom prst="rect">
            <a:avLst/>
          </a:prstGeom>
          <a:noFill/>
        </p:spPr>
        <p:txBody>
          <a:bodyPr wrap="square" lIns="0" rIns="0" tIns="0" bIns="0" anchor="ctr"/>
          <a:lstStyle/>
          <a:p>
            <a:pPr algn="l"/>
            <a:r>
              <a:rPr sz="1000" b="0" i="0" spc="220">
                <a:solidFill>
                  <a:srgbClr val="111111"/>
                </a:solidFill>
                <a:latin typeface="Urbanist SemiBold"/>
                <a:ea typeface="Urbanist SemiBold"/>
                <a:cs typeface="Urbanist SemiBold"/>
              </a:rPr>
              <a:t>PROTOTYPE SETS THE LOOK · SRS SETS THE BEHAVIOUR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3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Builder agent: stacks, tools, integrations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7.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58521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THREE BUNDLED APPLICATION STACKS</a:t>
            </a:r>
          </a:p>
        </p:txBody>
      </p:sp>
      <p:graphicFrame>
        <p:nvGraphicFramePr>
          <p:cNvPr id="10" name="Table 9"/>
          <p:cNvGraphicFramePr>
            <a:graphicFrameLocks noGrp="1"/>
          </p:cNvGraphicFramePr>
          <p:nvPr/>
        </p:nvGraphicFramePr>
        <p:xfrm>
          <a:off x="612648" y="2103120"/>
          <a:ext cx="5852160" cy="1481328"/>
        </p:xfrm>
        <a:graphic>
          <a:graphicData uri="http://schemas.openxmlformats.org/drawingml/2006/table">
            <a:tbl>
              <a:tblPr firstRow="0" bandRow="0" firstCol="0" lastRow="0" lastCol="0" bandCol="0">
                <a:tableStyleId>{2D5ABB26-0587-4C30-8999-92F81FD0307C}</a:tableStyleId>
              </a:tblPr>
              <a:tblGrid>
                <a:gridCol w="1783080"/>
                <a:gridCol w="2514600"/>
                <a:gridCol w="1554480"/>
              </a:tblGrid>
              <a:tr h="329184">
                <a:tc>
                  <a:txBody>
                    <a:bodyPr wrap="square"/>
                    <a:lstStyle/>
                    <a:p>
                      <a:pPr algn="l"/>
                      <a:r>
                        <a:rPr sz="1100" b="0" i="0">
                          <a:solidFill>
                            <a:srgbClr val="111111"/>
                          </a:solidFill>
                          <a:latin typeface="Outfit ExtraBold"/>
                          <a:ea typeface="Outfit ExtraBold"/>
                          <a:cs typeface="Outfit ExtraBold"/>
                        </a:rPr>
                        <a:t>Stack</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Architecture</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Deploys to</a:t>
                      </a:r>
                    </a:p>
                  </a:txBody>
                  <a:tcPr marL="109728" marR="91440" marT="36576" marB="36576" anchor="ctr">
                    <a:lnL w="0">
                      <a:noFill/>
                    </a:lnL>
                    <a:lnR w="0">
                      <a:noFill/>
                    </a:lnR>
                    <a:lnT w="0">
                      <a:noFill/>
                    </a:lnT>
                    <a:lnB w="9525">
                      <a:solidFill>
                        <a:srgbClr val="D5DEEF"/>
                      </a:solidFill>
                    </a:lnB>
                    <a:solidFill>
                      <a:srgbClr val="CCDDFF"/>
                    </a:solidFill>
                  </a:tcPr>
                </a:tc>
              </a:tr>
              <a:tr h="384048">
                <a:tc>
                  <a:txBody>
                    <a:bodyPr wrap="square"/>
                    <a:lstStyle/>
                    <a:p>
                      <a:pPr algn="l"/>
                      <a:r>
                        <a:rPr sz="1150" b="1" i="0">
                          <a:solidFill>
                            <a:srgbClr val="111111"/>
                          </a:solidFill>
                          <a:latin typeface="Inter"/>
                          <a:ea typeface="Inter"/>
                          <a:cs typeface="Inter"/>
                        </a:rPr>
                        <a:t>Next.js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Full-stack React, server routes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6 targets</a:t>
                      </a:r>
                    </a:p>
                  </a:txBody>
                  <a:tcPr marL="109728" marR="91440" marT="36576" marB="36576" anchor="ctr">
                    <a:lnL w="0">
                      <a:noFill/>
                    </a:lnL>
                    <a:lnR w="0">
                      <a:noFill/>
                    </a:lnR>
                    <a:lnT w="0">
                      <a:noFill/>
                    </a:lnT>
                    <a:lnB w="9525">
                      <a:solidFill>
                        <a:srgbClr val="D5DEEF"/>
                      </a:solidFill>
                    </a:lnB>
                    <a:noFill/>
                  </a:tcPr>
                </a:tc>
              </a:tr>
              <a:tr h="384048">
                <a:tc>
                  <a:txBody>
                    <a:bodyPr wrap="square"/>
                    <a:lstStyle/>
                    <a:p>
                      <a:pPr algn="l"/>
                      <a:r>
                        <a:rPr sz="1150" b="1" i="0">
                          <a:solidFill>
                            <a:srgbClr val="111111"/>
                          </a:solidFill>
                          <a:latin typeface="Inter"/>
                          <a:ea typeface="Inter"/>
                          <a:cs typeface="Inter"/>
                        </a:rPr>
                        <a:t>Remix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Server-rendered React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6 targets</a:t>
                      </a:r>
                    </a:p>
                  </a:txBody>
                  <a:tcPr marL="109728" marR="91440" marT="36576" marB="36576" anchor="ctr">
                    <a:lnL w="0">
                      <a:noFill/>
                    </a:lnL>
                    <a:lnR w="0">
                      <a:noFill/>
                    </a:lnR>
                    <a:lnT w="0">
                      <a:noFill/>
                    </a:lnT>
                    <a:lnB w="9525">
                      <a:solidFill>
                        <a:srgbClr val="D5DEEF"/>
                      </a:solidFill>
                    </a:lnB>
                    <a:noFill/>
                  </a:tcPr>
                </a:tc>
              </a:tr>
              <a:tr h="384048">
                <a:tc>
                  <a:txBody>
                    <a:bodyPr wrap="square"/>
                    <a:lstStyle/>
                    <a:p>
                      <a:pPr algn="l"/>
                      <a:r>
                        <a:rPr sz="1150" b="1" i="0">
                          <a:solidFill>
                            <a:srgbClr val="111111"/>
                          </a:solidFill>
                          <a:latin typeface="Inter"/>
                          <a:ea typeface="Inter"/>
                          <a:cs typeface="Inter"/>
                        </a:rPr>
                        <a:t>MERN microservices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React client, API gateway, Express services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AWS EC2/ECS, Azure</a:t>
                      </a:r>
                    </a:p>
                  </a:txBody>
                  <a:tcPr marL="109728" marR="91440" marT="36576" marB="36576" anchor="ctr">
                    <a:lnL w="0">
                      <a:noFill/>
                    </a:lnL>
                    <a:lnR w="0">
                      <a:noFill/>
                    </a:lnR>
                    <a:lnT w="0">
                      <a:noFill/>
                    </a:lnT>
                    <a:lnB w="9525">
                      <a:solidFill>
                        <a:srgbClr val="D5DEEF"/>
                      </a:solidFill>
                    </a:lnB>
                    <a:noFill/>
                  </a:tcPr>
                </a:tc>
              </a:tr>
            </a:tbl>
          </a:graphicData>
        </a:graphic>
      </p:graphicFrame>
      <p:sp>
        <p:nvSpPr>
          <p:cNvPr id="11" name="TextBox 10"/>
          <p:cNvSpPr txBox="1"/>
          <p:nvPr/>
        </p:nvSpPr>
        <p:spPr>
          <a:xfrm>
            <a:off x="612648" y="379476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SCAFFOLD INSTALLER</a:t>
            </a:r>
          </a:p>
        </p:txBody>
      </p:sp>
      <p:sp>
        <p:nvSpPr>
          <p:cNvPr id="12" name="TextBox 11"/>
          <p:cNvSpPr txBox="1"/>
          <p:nvPr/>
        </p:nvSpPr>
        <p:spPr>
          <a:xfrm>
            <a:off x="612648" y="402336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Copies the template, names package and database; never overwrites files.</a:t>
            </a:r>
          </a:p>
        </p:txBody>
      </p:sp>
      <p:sp>
        <p:nvSpPr>
          <p:cNvPr id="13" name="TextBox 12"/>
          <p:cNvSpPr txBox="1"/>
          <p:nvPr/>
        </p:nvSpPr>
        <p:spPr>
          <a:xfrm>
            <a:off x="612648" y="443484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STACK AND PITFALL GUIDES</a:t>
            </a:r>
          </a:p>
        </p:txBody>
      </p:sp>
      <p:sp>
        <p:nvSpPr>
          <p:cNvPr id="14" name="TextBox 13"/>
          <p:cNvSpPr txBox="1"/>
          <p:nvPr/>
        </p:nvSpPr>
        <p:spPr>
          <a:xfrm>
            <a:off x="612648" y="466344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Per-stack guides plus known build mistakes, fed into the plan.</a:t>
            </a:r>
          </a:p>
        </p:txBody>
      </p:sp>
      <p:sp>
        <p:nvSpPr>
          <p:cNvPr id="15" name="TextBox 14"/>
          <p:cNvSpPr txBox="1"/>
          <p:nvPr/>
        </p:nvSpPr>
        <p:spPr>
          <a:xfrm>
            <a:off x="612648" y="507492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NODE TOOLCHAIN AND SCRIPTS</a:t>
            </a:r>
          </a:p>
        </p:txBody>
      </p:sp>
      <p:sp>
        <p:nvSpPr>
          <p:cNvPr id="16" name="TextBox 15"/>
          <p:cNvSpPr txBox="1"/>
          <p:nvPr/>
        </p:nvSpPr>
        <p:spPr>
          <a:xfrm>
            <a:off x="612648" y="530352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npm install and build, seed data, port guard, managed preview.</a:t>
            </a:r>
          </a:p>
        </p:txBody>
      </p:sp>
      <p:sp>
        <p:nvSpPr>
          <p:cNvPr id="17" name="TextBox 16"/>
          <p:cNvSpPr txBox="1"/>
          <p:nvPr/>
        </p:nvSpPr>
        <p:spPr>
          <a:xfrm>
            <a:off x="612648" y="571500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MONGODB CONNECTION CHECK</a:t>
            </a:r>
          </a:p>
        </p:txBody>
      </p:sp>
      <p:sp>
        <p:nvSpPr>
          <p:cNvPr id="18" name="TextBox 17"/>
          <p:cNvSpPr txBox="1"/>
          <p:nvPr/>
        </p:nvSpPr>
        <p:spPr>
          <a:xfrm>
            <a:off x="612648" y="594360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Tests address, network, credentials and ping — never exposes the string.</a:t>
            </a:r>
          </a:p>
        </p:txBody>
      </p:sp>
      <p:sp>
        <p:nvSpPr>
          <p:cNvPr id="19" name="Rounded Rectangle 18"/>
          <p:cNvSpPr/>
          <p:nvPr/>
        </p:nvSpPr>
        <p:spPr>
          <a:xfrm>
            <a:off x="6812280" y="1783080"/>
            <a:ext cx="4773168" cy="4572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0" y="1947672"/>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INTEGRATION CATALOGUE · 21 PROVIDERS</a:t>
            </a:r>
          </a:p>
        </p:txBody>
      </p:sp>
      <p:sp>
        <p:nvSpPr>
          <p:cNvPr id="21" name="TextBox 20"/>
          <p:cNvSpPr txBox="1"/>
          <p:nvPr/>
        </p:nvSpPr>
        <p:spPr>
          <a:xfrm>
            <a:off x="7040880" y="2331720"/>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PAYMENTS</a:t>
            </a:r>
          </a:p>
        </p:txBody>
      </p:sp>
      <p:sp>
        <p:nvSpPr>
          <p:cNvPr id="22" name="TextBox 21"/>
          <p:cNvSpPr txBox="1"/>
          <p:nvPr/>
        </p:nvSpPr>
        <p:spPr>
          <a:xfrm>
            <a:off x="7040880" y="2532888"/>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Stripe · PayHere · PayPal · Razorpay</a:t>
            </a:r>
          </a:p>
        </p:txBody>
      </p:sp>
      <p:sp>
        <p:nvSpPr>
          <p:cNvPr id="23" name="TextBox 22"/>
          <p:cNvSpPr txBox="1"/>
          <p:nvPr/>
        </p:nvSpPr>
        <p:spPr>
          <a:xfrm>
            <a:off x="7040880" y="2843784"/>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EMAIL AND SMS</a:t>
            </a:r>
          </a:p>
        </p:txBody>
      </p:sp>
      <p:sp>
        <p:nvSpPr>
          <p:cNvPr id="24" name="TextBox 23"/>
          <p:cNvSpPr txBox="1"/>
          <p:nvPr/>
        </p:nvSpPr>
        <p:spPr>
          <a:xfrm>
            <a:off x="7040880" y="3044952"/>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Resend · SendGrid · Mailgun · Twilio</a:t>
            </a:r>
          </a:p>
        </p:txBody>
      </p:sp>
      <p:sp>
        <p:nvSpPr>
          <p:cNvPr id="25" name="TextBox 24"/>
          <p:cNvSpPr txBox="1"/>
          <p:nvPr/>
        </p:nvSpPr>
        <p:spPr>
          <a:xfrm>
            <a:off x="7040880" y="3355848"/>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PICTURES AND FILES</a:t>
            </a:r>
          </a:p>
        </p:txBody>
      </p:sp>
      <p:sp>
        <p:nvSpPr>
          <p:cNvPr id="26" name="TextBox 25"/>
          <p:cNvSpPr txBox="1"/>
          <p:nvPr/>
        </p:nvSpPr>
        <p:spPr>
          <a:xfrm>
            <a:off x="7040880" y="3557016"/>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Cloudinary · ImageBoss · Amazon S3 · Supabase</a:t>
            </a:r>
          </a:p>
        </p:txBody>
      </p:sp>
      <p:sp>
        <p:nvSpPr>
          <p:cNvPr id="27" name="TextBox 26"/>
          <p:cNvSpPr txBox="1"/>
          <p:nvPr/>
        </p:nvSpPr>
        <p:spPr>
          <a:xfrm>
            <a:off x="7040880" y="3867912"/>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SIGN-IN</a:t>
            </a:r>
          </a:p>
        </p:txBody>
      </p:sp>
      <p:sp>
        <p:nvSpPr>
          <p:cNvPr id="28" name="TextBox 27"/>
          <p:cNvSpPr txBox="1"/>
          <p:nvPr/>
        </p:nvSpPr>
        <p:spPr>
          <a:xfrm>
            <a:off x="7040880" y="4069080"/>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Google · GitHub · Facebook · Microsoft</a:t>
            </a:r>
          </a:p>
        </p:txBody>
      </p:sp>
      <p:sp>
        <p:nvSpPr>
          <p:cNvPr id="29" name="TextBox 28"/>
          <p:cNvSpPr txBox="1"/>
          <p:nvPr/>
        </p:nvSpPr>
        <p:spPr>
          <a:xfrm>
            <a:off x="7040880" y="4379976"/>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MAPS</a:t>
            </a:r>
          </a:p>
        </p:txBody>
      </p:sp>
      <p:sp>
        <p:nvSpPr>
          <p:cNvPr id="30" name="TextBox 29"/>
          <p:cNvSpPr txBox="1"/>
          <p:nvPr/>
        </p:nvSpPr>
        <p:spPr>
          <a:xfrm>
            <a:off x="7040880" y="4581144"/>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Google Maps · Mapbox</a:t>
            </a:r>
          </a:p>
        </p:txBody>
      </p:sp>
      <p:sp>
        <p:nvSpPr>
          <p:cNvPr id="31" name="TextBox 30"/>
          <p:cNvSpPr txBox="1"/>
          <p:nvPr/>
        </p:nvSpPr>
        <p:spPr>
          <a:xfrm>
            <a:off x="7040880" y="4892040"/>
            <a:ext cx="4389120"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ANALYTICS</a:t>
            </a:r>
          </a:p>
        </p:txBody>
      </p:sp>
      <p:sp>
        <p:nvSpPr>
          <p:cNvPr id="32" name="TextBox 31"/>
          <p:cNvSpPr txBox="1"/>
          <p:nvPr/>
        </p:nvSpPr>
        <p:spPr>
          <a:xfrm>
            <a:off x="7040880" y="5093208"/>
            <a:ext cx="4389120" cy="228600"/>
          </a:xfrm>
          <a:prstGeom prst="rect">
            <a:avLst/>
          </a:prstGeom>
          <a:noFill/>
        </p:spPr>
        <p:txBody>
          <a:bodyPr wrap="square" lIns="0" rIns="0" tIns="0" bIns="0" anchor="t"/>
          <a:lstStyle/>
          <a:p>
            <a:pPr algn="l"/>
            <a:r>
              <a:rPr sz="1200" b="0" i="0">
                <a:solidFill>
                  <a:srgbClr val="111111"/>
                </a:solidFill>
                <a:latin typeface="Inter"/>
                <a:ea typeface="Inter"/>
                <a:cs typeface="Inter"/>
              </a:rPr>
              <a:t>Google Analytics · PostHog · Plausible</a:t>
            </a:r>
          </a:p>
        </p:txBody>
      </p:sp>
      <p:sp>
        <p:nvSpPr>
          <p:cNvPr id="33" name="TextBox 32"/>
          <p:cNvSpPr txBox="1"/>
          <p:nvPr/>
        </p:nvSpPr>
        <p:spPr>
          <a:xfrm>
            <a:off x="7040880" y="5440680"/>
            <a:ext cx="4343400" cy="822960"/>
          </a:xfrm>
          <a:prstGeom prst="rect">
            <a:avLst/>
          </a:prstGeom>
          <a:noFill/>
        </p:spPr>
        <p:txBody>
          <a:bodyPr wrap="square" lIns="0" rIns="0" tIns="0" bIns="0" anchor="t"/>
          <a:lstStyle/>
          <a:p>
            <a:pPr algn="l">
              <a:lnSpc>
                <a:spcPct val="103000"/>
              </a:lnSpc>
            </a:pPr>
            <a:r>
              <a:rPr sz="1100" b="0" i="0">
                <a:solidFill>
                  <a:srgbClr val="4B5563"/>
                </a:solidFill>
                <a:latin typeface="Inter"/>
                <a:ea typeface="Inter"/>
                <a:cs typeface="Inter"/>
              </a:rPr>
              <a:t>Keys are encrypted per user. The builder only receives a secret-free contract (PLUGIN.md), consumed once the integration succeeds.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4 · QA</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QA agent: evidence, not claims</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The running app is verified layer by layer, and the report is saved after every layer.</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17</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53.png"/>
          <p:cNvPicPr>
            <a:picLocks noChangeAspect="1"/>
          </p:cNvPicPr>
          <p:nvPr/>
        </p:nvPicPr>
        <p:blipFill>
          <a:blip r:embed="rId3"/>
          <a:stretch>
            <a:fillRect/>
          </a:stretch>
        </p:blipFill>
        <p:spPr>
          <a:xfrm>
            <a:off x="10488168" y="201168"/>
            <a:ext cx="1316736" cy="1316736"/>
          </a:xfrm>
          <a:prstGeom prst="rect">
            <a:avLst/>
          </a:prstGeom>
        </p:spPr>
      </p:pic>
      <p:sp>
        <p:nvSpPr>
          <p:cNvPr id="10" name="TextBox 9"/>
          <p:cNvSpPr txBox="1"/>
          <p:nvPr/>
        </p:nvSpPr>
        <p:spPr>
          <a:xfrm>
            <a:off x="612648"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1" name="TextBox 10"/>
          <p:cNvSpPr txBox="1"/>
          <p:nvPr/>
        </p:nvSpPr>
        <p:spPr>
          <a:xfrm>
            <a:off x="612648"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BUILD &amp; START</a:t>
            </a:r>
          </a:p>
        </p:txBody>
      </p:sp>
      <p:sp>
        <p:nvSpPr>
          <p:cNvPr id="12" name="TextBox 11"/>
          <p:cNvSpPr txBox="1"/>
          <p:nvPr/>
        </p:nvSpPr>
        <p:spPr>
          <a:xfrm>
            <a:off x="612648"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Production build, then an isolated local server; key routes are probed for server errors.</a:t>
            </a:r>
          </a:p>
        </p:txBody>
      </p:sp>
      <p:sp>
        <p:nvSpPr>
          <p:cNvPr id="13" name="TextBox 12"/>
          <p:cNvSpPr txBox="1"/>
          <p:nvPr/>
        </p:nvSpPr>
        <p:spPr>
          <a:xfrm>
            <a:off x="2847441"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4" name="TextBox 13"/>
          <p:cNvSpPr txBox="1"/>
          <p:nvPr/>
        </p:nvSpPr>
        <p:spPr>
          <a:xfrm>
            <a:off x="2847441"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UNIT</a:t>
            </a:r>
          </a:p>
        </p:txBody>
      </p:sp>
      <p:sp>
        <p:nvSpPr>
          <p:cNvPr id="15" name="TextBox 14"/>
          <p:cNvSpPr txBox="1"/>
          <p:nvPr/>
        </p:nvSpPr>
        <p:spPr>
          <a:xfrm>
            <a:off x="2847441"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Vitest on business logic and critical paths; API routes are matched to unit evidence.</a:t>
            </a:r>
          </a:p>
        </p:txBody>
      </p:sp>
      <p:sp>
        <p:nvSpPr>
          <p:cNvPr id="16" name="TextBox 15"/>
          <p:cNvSpPr txBox="1"/>
          <p:nvPr/>
        </p:nvSpPr>
        <p:spPr>
          <a:xfrm>
            <a:off x="5082235"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7" name="TextBox 16"/>
          <p:cNvSpPr txBox="1"/>
          <p:nvPr/>
        </p:nvSpPr>
        <p:spPr>
          <a:xfrm>
            <a:off x="5082235"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E2E JOURNEYS</a:t>
            </a:r>
          </a:p>
        </p:txBody>
      </p:sp>
      <p:sp>
        <p:nvSpPr>
          <p:cNvPr id="18" name="TextBox 17"/>
          <p:cNvSpPr txBox="1"/>
          <p:nvPr/>
        </p:nvSpPr>
        <p:spPr>
          <a:xfrm>
            <a:off x="5082235" y="2654554"/>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Playwright walks every SRS journey as the right role, on desktop and mobile, keeping screenshots.</a:t>
            </a:r>
          </a:p>
        </p:txBody>
      </p:sp>
      <p:sp>
        <p:nvSpPr>
          <p:cNvPr id="19" name="TextBox 18"/>
          <p:cNvSpPr txBox="1"/>
          <p:nvPr/>
        </p:nvSpPr>
        <p:spPr>
          <a:xfrm>
            <a:off x="7317028"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0" name="TextBox 19"/>
          <p:cNvSpPr txBox="1"/>
          <p:nvPr/>
        </p:nvSpPr>
        <p:spPr>
          <a:xfrm>
            <a:off x="7317028"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UI &amp; ACCESSIBILITY</a:t>
            </a:r>
          </a:p>
        </p:txBody>
      </p:sp>
      <p:sp>
        <p:nvSpPr>
          <p:cNvPr id="21" name="TextBox 20"/>
          <p:cNvSpPr txBox="1"/>
          <p:nvPr/>
        </p:nvSpPr>
        <p:spPr>
          <a:xfrm>
            <a:off x="7317028" y="2654554"/>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Visual checks of routes; axe-core WCAG checks on public and signed-in screens, plus keyboard focus.</a:t>
            </a:r>
          </a:p>
        </p:txBody>
      </p:sp>
      <p:sp>
        <p:nvSpPr>
          <p:cNvPr id="22" name="TextBox 21"/>
          <p:cNvSpPr txBox="1"/>
          <p:nvPr/>
        </p:nvSpPr>
        <p:spPr>
          <a:xfrm>
            <a:off x="9551822"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3" name="TextBox 22"/>
          <p:cNvSpPr txBox="1"/>
          <p:nvPr/>
        </p:nvSpPr>
        <p:spPr>
          <a:xfrm>
            <a:off x="9551822"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SPEED &amp; SECURITY</a:t>
            </a:r>
          </a:p>
        </p:txBody>
      </p:sp>
      <p:sp>
        <p:nvSpPr>
          <p:cNvPr id="24" name="TextBox 23"/>
          <p:cNvSpPr txBox="1"/>
          <p:nvPr/>
        </p:nvSpPr>
        <p:spPr>
          <a:xfrm>
            <a:off x="9551822"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Lighthouse per public route; OWASP ZAP passive baseline on the local server; npm audit.</a:t>
            </a:r>
          </a:p>
        </p:txBody>
      </p:sp>
      <p:sp>
        <p:nvSpPr>
          <p:cNvPr id="25" name="Rounded Rectangle 24"/>
          <p:cNvSpPr/>
          <p:nvPr/>
        </p:nvSpPr>
        <p:spPr>
          <a:xfrm>
            <a:off x="61264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NO INVENTED PASSES</a:t>
            </a:r>
          </a:p>
        </p:txBody>
      </p:sp>
      <p:sp>
        <p:nvSpPr>
          <p:cNvPr id="27" name="TextBox 26"/>
          <p:cNvSpPr txBox="1"/>
          <p:nvPr/>
        </p:nvSpPr>
        <p:spPr>
          <a:xfrm>
            <a:off x="81381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missing artifact is never a pass. Unavailable tools are recorded with the exact reason; a ZAP fallback is labelled 'partial'.</a:t>
            </a:r>
          </a:p>
        </p:txBody>
      </p:sp>
      <p:sp>
        <p:nvSpPr>
          <p:cNvPr id="28" name="Rounded Rectangle 27"/>
          <p:cNvSpPr/>
          <p:nvPr/>
        </p:nvSpPr>
        <p:spPr>
          <a:xfrm>
            <a:off x="340156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0273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REPAIR WHAT FAILED</a:t>
            </a:r>
          </a:p>
        </p:txBody>
      </p:sp>
      <p:sp>
        <p:nvSpPr>
          <p:cNvPr id="30" name="TextBox 29"/>
          <p:cNvSpPr txBox="1"/>
          <p:nvPr/>
        </p:nvSpPr>
        <p:spPr>
          <a:xfrm>
            <a:off x="360273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real defect is fixed in product code and only the affected check reruns. Assertions are never weakened.</a:t>
            </a:r>
          </a:p>
        </p:txBody>
      </p:sp>
      <p:sp>
        <p:nvSpPr>
          <p:cNvPr id="31" name="Rounded Rectangle 30"/>
          <p:cNvSpPr/>
          <p:nvPr/>
        </p:nvSpPr>
        <p:spPr>
          <a:xfrm>
            <a:off x="619048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165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SELECTIVE RERUNS</a:t>
            </a:r>
          </a:p>
        </p:txBody>
      </p:sp>
      <p:sp>
        <p:nvSpPr>
          <p:cNvPr id="33" name="TextBox 32"/>
          <p:cNvSpPr txBox="1"/>
          <p:nvPr/>
        </p:nvSpPr>
        <p:spPr>
          <a:xfrm>
            <a:off x="639165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Fresh passing evidence is reused. A UI-only change does not trigger E2E, accessibility, performance or security runs.</a:t>
            </a:r>
          </a:p>
        </p:txBody>
      </p:sp>
      <p:sp>
        <p:nvSpPr>
          <p:cNvPr id="34" name="Rounded Rectangle 33"/>
          <p:cNvSpPr/>
          <p:nvPr/>
        </p:nvSpPr>
        <p:spPr>
          <a:xfrm>
            <a:off x="897940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057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TEST VIEW</a:t>
            </a:r>
          </a:p>
        </p:txBody>
      </p:sp>
      <p:sp>
        <p:nvSpPr>
          <p:cNvPr id="36" name="TextBox 35"/>
          <p:cNvSpPr txBox="1"/>
          <p:nvPr/>
        </p:nvSpPr>
        <p:spPr>
          <a:xfrm>
            <a:off x="9180576" y="479545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While Playwright runs, the Studio preview shows the test browser and its pointer moving in real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4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QA agent: tools and their evidence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18</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55.png"/>
          <p:cNvPicPr>
            <a:picLocks noChangeAspect="1"/>
          </p:cNvPicPr>
          <p:nvPr/>
        </p:nvPicPr>
        <p:blipFill>
          <a:blip r:embed="rId3"/>
          <a:stretch>
            <a:fillRect/>
          </a:stretch>
        </p:blipFill>
        <p:spPr>
          <a:xfrm>
            <a:off x="10488168" y="201168"/>
            <a:ext cx="1316736" cy="1316736"/>
          </a:xfrm>
          <a:prstGeom prst="rect">
            <a:avLst/>
          </a:prstGeom>
        </p:spPr>
      </p:pic>
      <p:graphicFrame>
        <p:nvGraphicFramePr>
          <p:cNvPr id="9" name="Table 8"/>
          <p:cNvGraphicFramePr>
            <a:graphicFrameLocks noGrp="1"/>
          </p:cNvGraphicFramePr>
          <p:nvPr/>
        </p:nvGraphicFramePr>
        <p:xfrm>
          <a:off x="612648" y="1783080"/>
          <a:ext cx="5394960" cy="3950208"/>
        </p:xfrm>
        <a:graphic>
          <a:graphicData uri="http://schemas.openxmlformats.org/drawingml/2006/table">
            <a:tbl>
              <a:tblPr firstRow="0" bandRow="0" firstCol="0" lastRow="0" lastCol="0" bandCol="0">
                <a:tableStyleId>{2D5ABB26-0587-4C30-8999-92F81FD0307C}</a:tableStyleId>
              </a:tblPr>
              <a:tblGrid>
                <a:gridCol w="1783080"/>
                <a:gridCol w="3611880"/>
              </a:tblGrid>
              <a:tr h="329184">
                <a:tc>
                  <a:txBody>
                    <a:bodyPr wrap="square"/>
                    <a:lstStyle/>
                    <a:p>
                      <a:pPr algn="l"/>
                      <a:r>
                        <a:rPr sz="1100" b="0" i="0">
                          <a:solidFill>
                            <a:srgbClr val="111111"/>
                          </a:solidFill>
                          <a:latin typeface="Outfit ExtraBold"/>
                          <a:ea typeface="Outfit ExtraBold"/>
                          <a:cs typeface="Outfit ExtraBold"/>
                        </a:rPr>
                        <a:t>Tool</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What it does → evidence file</a:t>
                      </a:r>
                    </a:p>
                  </a:txBody>
                  <a:tcPr marL="109728" marR="91440" marT="36576" marB="36576" anchor="ctr">
                    <a:lnL w="0">
                      <a:noFill/>
                    </a:lnL>
                    <a:lnR w="0">
                      <a:noFill/>
                    </a:lnR>
                    <a:lnT w="0">
                      <a:noFill/>
                    </a:lnT>
                    <a:lnB w="9525">
                      <a:solidFill>
                        <a:srgbClr val="D5DEEF"/>
                      </a:solidFill>
                    </a:lnB>
                    <a:solidFill>
                      <a:srgbClr val="CCDDFF"/>
                    </a:solidFill>
                  </a:tcPr>
                </a:tc>
              </a:tr>
              <a:tr h="603504">
                <a:tc>
                  <a:txBody>
                    <a:bodyPr wrap="square"/>
                    <a:lstStyle/>
                    <a:p>
                      <a:pPr algn="l"/>
                      <a:r>
                        <a:rPr sz="1150" b="1" i="0">
                          <a:solidFill>
                            <a:srgbClr val="111111"/>
                          </a:solidFill>
                          <a:latin typeface="Inter"/>
                          <a:ea typeface="Inter"/>
                          <a:cs typeface="Inter"/>
                        </a:rPr>
                        <a:t>Vitest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Runs focused unit tests on business rules</a:t>
                      </a:r>
                    </a:p>
                    <a:p>
                      <a:pPr algn="l"/>
                      <a:r>
                        <a:rPr sz="1000" b="0" i="0">
                          <a:solidFill>
                            <a:srgbClr val="4B5563"/>
                          </a:solidFill>
                          <a:latin typeface="Inter"/>
                          <a:ea typeface="Inter"/>
                          <a:cs typeface="Inter"/>
                        </a:rPr>
                        <a:t>→ .agentforge/qa/vitest.json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Playwright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Drives a real browser through SRS journeys; streams it live</a:t>
                      </a:r>
                    </a:p>
                    <a:p>
                      <a:pPr algn="l"/>
                      <a:r>
                        <a:rPr sz="1000" b="0" i="0">
                          <a:solidFill>
                            <a:srgbClr val="4B5563"/>
                          </a:solidFill>
                          <a:latin typeface="Inter"/>
                          <a:ea typeface="Inter"/>
                          <a:cs typeface="Inter"/>
                        </a:rPr>
                        <a:t>→ test-results/results.json · screenshots</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axe-core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Finds WCAG violations by rule, impact and element</a:t>
                      </a:r>
                    </a:p>
                    <a:p>
                      <a:pPr algn="l"/>
                      <a:r>
                        <a:rPr sz="1000" b="0" i="0">
                          <a:solidFill>
                            <a:srgbClr val="4B5563"/>
                          </a:solidFill>
                          <a:latin typeface="Inter"/>
                          <a:ea typeface="Inter"/>
                          <a:cs typeface="Inter"/>
                        </a:rPr>
                        <a:t>→ accessibility section of qa/report.json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Lighthouse CI</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Scores performance and page quality per route</a:t>
                      </a:r>
                    </a:p>
                    <a:p>
                      <a:pPr algn="l"/>
                      <a:r>
                        <a:rPr sz="1000" b="0" i="0">
                          <a:solidFill>
                            <a:srgbClr val="4B5563"/>
                          </a:solidFill>
                          <a:latin typeface="Inter"/>
                          <a:ea typeface="Inter"/>
                          <a:cs typeface="Inter"/>
                        </a:rPr>
                        <a:t>→ .lighthouseci/summary.json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OWASP ZAP</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Spider + passive scan of the isolated local app</a:t>
                      </a:r>
                    </a:p>
                    <a:p>
                      <a:pPr algn="l"/>
                      <a:r>
                        <a:rPr sz="1000" b="0" i="0">
                          <a:solidFill>
                            <a:srgbClr val="4B5563"/>
                          </a:solidFill>
                          <a:latin typeface="Inter"/>
                          <a:ea typeface="Inter"/>
                          <a:cs typeface="Inter"/>
                        </a:rPr>
                        <a:t>→ .agentforge/qa/zap/summary.json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npm audit + probe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Dependency advisories; status of every route</a:t>
                      </a:r>
                    </a:p>
                    <a:p>
                      <a:pPr algn="l"/>
                      <a:r>
                        <a:rPr sz="1000" b="0" i="0">
                          <a:solidFill>
                            <a:srgbClr val="4B5563"/>
                          </a:solidFill>
                          <a:latin typeface="Inter"/>
                          <a:ea typeface="Inter"/>
                          <a:cs typeface="Inter"/>
                        </a:rPr>
                        <a:t>→ .agentforge/qa/routes.json</a:t>
                      </a:r>
                    </a:p>
                  </a:txBody>
                  <a:tcPr marL="109728" marR="91440" marT="36576" marB="36576" anchor="ctr">
                    <a:lnL w="0">
                      <a:noFill/>
                    </a:lnL>
                    <a:lnR w="0">
                      <a:noFill/>
                    </a:lnR>
                    <a:lnT w="0">
                      <a:noFill/>
                    </a:lnT>
                    <a:lnB w="9525">
                      <a:solidFill>
                        <a:srgbClr val="D5DEEF"/>
                      </a:solidFill>
                    </a:lnB>
                    <a:noFill/>
                  </a:tcPr>
                </a:tc>
              </a:tr>
            </a:tbl>
          </a:graphicData>
        </a:graphic>
      </p:graphicFrame>
      <p:sp>
        <p:nvSpPr>
          <p:cNvPr id="10" name="Rounded Rectangle 9"/>
          <p:cNvSpPr/>
          <p:nvPr/>
        </p:nvSpPr>
        <p:spPr>
          <a:xfrm>
            <a:off x="6263640" y="1783080"/>
            <a:ext cx="5321808" cy="2971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9672" y="1965960"/>
            <a:ext cx="484632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14 TESTING VIEWS IN THE STUDIO</a:t>
            </a:r>
          </a:p>
        </p:txBody>
      </p:sp>
      <p:sp>
        <p:nvSpPr>
          <p:cNvPr id="12" name="Rounded Rectangle 11"/>
          <p:cNvSpPr/>
          <p:nvPr/>
        </p:nvSpPr>
        <p:spPr>
          <a:xfrm>
            <a:off x="6519672" y="2359152"/>
            <a:ext cx="1076630"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2359152"/>
            <a:ext cx="1076630" cy="310896"/>
          </a:xfrm>
          <a:prstGeom prst="rect">
            <a:avLst/>
          </a:prstGeom>
          <a:noFill/>
        </p:spPr>
        <p:txBody>
          <a:bodyPr wrap="square" lIns="0" rIns="0" tIns="0" bIns="0" anchor="ctr"/>
          <a:lstStyle/>
          <a:p>
            <a:pPr algn="ctr"/>
            <a:r>
              <a:rPr sz="1100" b="0" i="0">
                <a:solidFill>
                  <a:srgbClr val="111111"/>
                </a:solidFill>
                <a:latin typeface="Inter"/>
                <a:ea typeface="Inter"/>
                <a:cs typeface="Inter"/>
              </a:rPr>
              <a:t>Scaffold QA</a:t>
            </a:r>
          </a:p>
        </p:txBody>
      </p:sp>
      <p:sp>
        <p:nvSpPr>
          <p:cNvPr id="14" name="Rounded Rectangle 13"/>
          <p:cNvSpPr/>
          <p:nvPr/>
        </p:nvSpPr>
        <p:spPr>
          <a:xfrm>
            <a:off x="7687742" y="2359152"/>
            <a:ext cx="917023"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7742" y="2359152"/>
            <a:ext cx="917023" cy="310896"/>
          </a:xfrm>
          <a:prstGeom prst="rect">
            <a:avLst/>
          </a:prstGeom>
          <a:noFill/>
        </p:spPr>
        <p:txBody>
          <a:bodyPr wrap="square" lIns="0" rIns="0" tIns="0" bIns="0" anchor="ctr"/>
          <a:lstStyle/>
          <a:p>
            <a:pPr algn="ctr"/>
            <a:r>
              <a:rPr sz="1100" b="0" i="0">
                <a:solidFill>
                  <a:srgbClr val="111111"/>
                </a:solidFill>
                <a:latin typeface="Inter"/>
                <a:ea typeface="Inter"/>
                <a:cs typeface="Inter"/>
              </a:rPr>
              <a:t>Overview</a:t>
            </a:r>
          </a:p>
        </p:txBody>
      </p:sp>
      <p:sp>
        <p:nvSpPr>
          <p:cNvPr id="16" name="Rounded Rectangle 15"/>
          <p:cNvSpPr/>
          <p:nvPr/>
        </p:nvSpPr>
        <p:spPr>
          <a:xfrm>
            <a:off x="8696205" y="2359152"/>
            <a:ext cx="899691"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96205" y="2359152"/>
            <a:ext cx="899691" cy="310896"/>
          </a:xfrm>
          <a:prstGeom prst="rect">
            <a:avLst/>
          </a:prstGeom>
          <a:noFill/>
        </p:spPr>
        <p:txBody>
          <a:bodyPr wrap="square" lIns="0" rIns="0" tIns="0" bIns="0" anchor="ctr"/>
          <a:lstStyle/>
          <a:p>
            <a:pPr algn="ctr"/>
            <a:r>
              <a:rPr sz="1100" b="0" i="0">
                <a:solidFill>
                  <a:srgbClr val="111111"/>
                </a:solidFill>
                <a:latin typeface="Inter"/>
                <a:ea typeface="Inter"/>
                <a:cs typeface="Inter"/>
              </a:rPr>
              <a:t>Evidence</a:t>
            </a:r>
          </a:p>
        </p:txBody>
      </p:sp>
      <p:sp>
        <p:nvSpPr>
          <p:cNvPr id="18" name="Rounded Rectangle 17"/>
          <p:cNvSpPr/>
          <p:nvPr/>
        </p:nvSpPr>
        <p:spPr>
          <a:xfrm>
            <a:off x="9687337" y="2359152"/>
            <a:ext cx="1080123"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87337" y="2359152"/>
            <a:ext cx="1080123" cy="310896"/>
          </a:xfrm>
          <a:prstGeom prst="rect">
            <a:avLst/>
          </a:prstGeom>
          <a:noFill/>
        </p:spPr>
        <p:txBody>
          <a:bodyPr wrap="square" lIns="0" rIns="0" tIns="0" bIns="0" anchor="ctr"/>
          <a:lstStyle/>
          <a:p>
            <a:pPr algn="ctr"/>
            <a:r>
              <a:rPr sz="1100" b="0" i="0">
                <a:solidFill>
                  <a:srgbClr val="111111"/>
                </a:solidFill>
                <a:latin typeface="Inter"/>
                <a:ea typeface="Inter"/>
                <a:cs typeface="Inter"/>
              </a:rPr>
              <a:t>Unit Testing</a:t>
            </a:r>
          </a:p>
        </p:txBody>
      </p:sp>
      <p:sp>
        <p:nvSpPr>
          <p:cNvPr id="20" name="Rounded Rectangle 19"/>
          <p:cNvSpPr/>
          <p:nvPr/>
        </p:nvSpPr>
        <p:spPr>
          <a:xfrm>
            <a:off x="6519672" y="2761488"/>
            <a:ext cx="1171495"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2761488"/>
            <a:ext cx="1171495" cy="310896"/>
          </a:xfrm>
          <a:prstGeom prst="rect">
            <a:avLst/>
          </a:prstGeom>
          <a:noFill/>
        </p:spPr>
        <p:txBody>
          <a:bodyPr wrap="square" lIns="0" rIns="0" tIns="0" bIns="0" anchor="ctr"/>
          <a:lstStyle/>
          <a:p>
            <a:pPr algn="ctr"/>
            <a:r>
              <a:rPr sz="1100" b="0" i="0">
                <a:solidFill>
                  <a:srgbClr val="111111"/>
                </a:solidFill>
                <a:latin typeface="Inter"/>
                <a:ea typeface="Inter"/>
                <a:cs typeface="Inter"/>
              </a:rPr>
              <a:t>Test Timeline</a:t>
            </a:r>
          </a:p>
        </p:txBody>
      </p:sp>
      <p:sp>
        <p:nvSpPr>
          <p:cNvPr id="22" name="Rounded Rectangle 21"/>
          <p:cNvSpPr/>
          <p:nvPr/>
        </p:nvSpPr>
        <p:spPr>
          <a:xfrm>
            <a:off x="7782607" y="2761488"/>
            <a:ext cx="1395343"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82607" y="2761488"/>
            <a:ext cx="1395343" cy="310896"/>
          </a:xfrm>
          <a:prstGeom prst="rect">
            <a:avLst/>
          </a:prstGeom>
          <a:noFill/>
        </p:spPr>
        <p:txBody>
          <a:bodyPr wrap="square" lIns="0" rIns="0" tIns="0" bIns="0" anchor="ctr"/>
          <a:lstStyle/>
          <a:p>
            <a:pPr algn="ctr"/>
            <a:r>
              <a:rPr sz="1100" b="0" i="0">
                <a:solidFill>
                  <a:srgbClr val="111111"/>
                </a:solidFill>
                <a:latin typeface="Inter"/>
                <a:ea typeface="Inter"/>
                <a:cs typeface="Inter"/>
              </a:rPr>
              <a:t>Integration (E2E)</a:t>
            </a:r>
          </a:p>
        </p:txBody>
      </p:sp>
      <p:sp>
        <p:nvSpPr>
          <p:cNvPr id="24" name="Rounded Rectangle 23"/>
          <p:cNvSpPr/>
          <p:nvPr/>
        </p:nvSpPr>
        <p:spPr>
          <a:xfrm>
            <a:off x="9269390" y="2761488"/>
            <a:ext cx="1198038"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69390" y="2761488"/>
            <a:ext cx="1198038" cy="310896"/>
          </a:xfrm>
          <a:prstGeom prst="rect">
            <a:avLst/>
          </a:prstGeom>
          <a:noFill/>
        </p:spPr>
        <p:txBody>
          <a:bodyPr wrap="square" lIns="0" rIns="0" tIns="0" bIns="0" anchor="ctr"/>
          <a:lstStyle/>
          <a:p>
            <a:pPr algn="ctr"/>
            <a:r>
              <a:rPr sz="1100" b="0" i="0">
                <a:solidFill>
                  <a:srgbClr val="111111"/>
                </a:solidFill>
                <a:latin typeface="Inter"/>
                <a:ea typeface="Inter"/>
                <a:cs typeface="Inter"/>
              </a:rPr>
              <a:t>API Contracts</a:t>
            </a:r>
          </a:p>
        </p:txBody>
      </p:sp>
      <p:sp>
        <p:nvSpPr>
          <p:cNvPr id="26" name="Rounded Rectangle 25"/>
          <p:cNvSpPr/>
          <p:nvPr/>
        </p:nvSpPr>
        <p:spPr>
          <a:xfrm>
            <a:off x="6519672" y="3163824"/>
            <a:ext cx="1103064"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9672" y="3163824"/>
            <a:ext cx="1103064" cy="310896"/>
          </a:xfrm>
          <a:prstGeom prst="rect">
            <a:avLst/>
          </a:prstGeom>
          <a:noFill/>
        </p:spPr>
        <p:txBody>
          <a:bodyPr wrap="square" lIns="0" rIns="0" tIns="0" bIns="0" anchor="ctr"/>
          <a:lstStyle/>
          <a:p>
            <a:pPr algn="ctr"/>
            <a:r>
              <a:rPr sz="1100" b="0" i="0">
                <a:solidFill>
                  <a:srgbClr val="111111"/>
                </a:solidFill>
                <a:latin typeface="Inter"/>
                <a:ea typeface="Inter"/>
                <a:cs typeface="Inter"/>
              </a:rPr>
              <a:t>Bug Reports</a:t>
            </a:r>
          </a:p>
        </p:txBody>
      </p:sp>
      <p:sp>
        <p:nvSpPr>
          <p:cNvPr id="28" name="Rounded Rectangle 27"/>
          <p:cNvSpPr/>
          <p:nvPr/>
        </p:nvSpPr>
        <p:spPr>
          <a:xfrm>
            <a:off x="7714176" y="3163824"/>
            <a:ext cx="841629"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14176" y="3163824"/>
            <a:ext cx="841629" cy="310896"/>
          </a:xfrm>
          <a:prstGeom prst="rect">
            <a:avLst/>
          </a:prstGeom>
          <a:noFill/>
        </p:spPr>
        <p:txBody>
          <a:bodyPr wrap="square" lIns="0" rIns="0" tIns="0" bIns="0" anchor="ctr"/>
          <a:lstStyle/>
          <a:p>
            <a:pPr algn="ctr"/>
            <a:r>
              <a:rPr sz="1100" b="0" i="0">
                <a:solidFill>
                  <a:srgbClr val="111111"/>
                </a:solidFill>
                <a:latin typeface="Inter"/>
                <a:ea typeface="Inter"/>
                <a:cs typeface="Inter"/>
              </a:rPr>
              <a:t>Security</a:t>
            </a:r>
          </a:p>
        </p:txBody>
      </p:sp>
      <p:sp>
        <p:nvSpPr>
          <p:cNvPr id="30" name="Rounded Rectangle 29"/>
          <p:cNvSpPr/>
          <p:nvPr/>
        </p:nvSpPr>
        <p:spPr>
          <a:xfrm>
            <a:off x="8647245" y="3163824"/>
            <a:ext cx="1148074"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7245" y="3163824"/>
            <a:ext cx="1148074" cy="310896"/>
          </a:xfrm>
          <a:prstGeom prst="rect">
            <a:avLst/>
          </a:prstGeom>
          <a:noFill/>
        </p:spPr>
        <p:txBody>
          <a:bodyPr wrap="square" lIns="0" rIns="0" tIns="0" bIns="0" anchor="ctr"/>
          <a:lstStyle/>
          <a:p>
            <a:pPr algn="ctr"/>
            <a:r>
              <a:rPr sz="1100" b="0" i="0">
                <a:solidFill>
                  <a:srgbClr val="111111"/>
                </a:solidFill>
                <a:latin typeface="Inter"/>
                <a:ea typeface="Inter"/>
                <a:cs typeface="Inter"/>
              </a:rPr>
              <a:t>Performance</a:t>
            </a:r>
          </a:p>
        </p:txBody>
      </p:sp>
      <p:sp>
        <p:nvSpPr>
          <p:cNvPr id="32" name="Rounded Rectangle 31"/>
          <p:cNvSpPr/>
          <p:nvPr/>
        </p:nvSpPr>
        <p:spPr>
          <a:xfrm>
            <a:off x="9886759" y="3163824"/>
            <a:ext cx="1125350"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86759" y="3163824"/>
            <a:ext cx="1125350" cy="310896"/>
          </a:xfrm>
          <a:prstGeom prst="rect">
            <a:avLst/>
          </a:prstGeom>
          <a:noFill/>
        </p:spPr>
        <p:txBody>
          <a:bodyPr wrap="square" lIns="0" rIns="0" tIns="0" bIns="0" anchor="ctr"/>
          <a:lstStyle/>
          <a:p>
            <a:pPr algn="ctr"/>
            <a:r>
              <a:rPr sz="1100" b="0" i="0">
                <a:solidFill>
                  <a:srgbClr val="111111"/>
                </a:solidFill>
                <a:latin typeface="Inter"/>
                <a:ea typeface="Inter"/>
                <a:cs typeface="Inter"/>
              </a:rPr>
              <a:t>Accessibility</a:t>
            </a:r>
          </a:p>
        </p:txBody>
      </p:sp>
      <p:sp>
        <p:nvSpPr>
          <p:cNvPr id="34" name="Rounded Rectangle 33"/>
          <p:cNvSpPr/>
          <p:nvPr/>
        </p:nvSpPr>
        <p:spPr>
          <a:xfrm>
            <a:off x="6519672" y="3566160"/>
            <a:ext cx="1060106"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9672" y="3566160"/>
            <a:ext cx="1060106" cy="310896"/>
          </a:xfrm>
          <a:prstGeom prst="rect">
            <a:avLst/>
          </a:prstGeom>
          <a:noFill/>
        </p:spPr>
        <p:txBody>
          <a:bodyPr wrap="square" lIns="0" rIns="0" tIns="0" bIns="0" anchor="ctr"/>
          <a:lstStyle/>
          <a:p>
            <a:pPr algn="ctr"/>
            <a:r>
              <a:rPr sz="1100" b="0" i="0">
                <a:solidFill>
                  <a:srgbClr val="111111"/>
                </a:solidFill>
                <a:latin typeface="Inter"/>
                <a:ea typeface="Inter"/>
                <a:cs typeface="Inter"/>
              </a:rPr>
              <a:t>Auto Repair</a:t>
            </a:r>
          </a:p>
        </p:txBody>
      </p:sp>
      <p:sp>
        <p:nvSpPr>
          <p:cNvPr id="36" name="Rounded Rectangle 35"/>
          <p:cNvSpPr/>
          <p:nvPr/>
        </p:nvSpPr>
        <p:spPr>
          <a:xfrm>
            <a:off x="7671218" y="3566160"/>
            <a:ext cx="697999"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1218" y="3566160"/>
            <a:ext cx="697999" cy="310896"/>
          </a:xfrm>
          <a:prstGeom prst="rect">
            <a:avLst/>
          </a:prstGeom>
          <a:noFill/>
        </p:spPr>
        <p:txBody>
          <a:bodyPr wrap="square" lIns="0" rIns="0" tIns="0" bIns="0" anchor="ctr"/>
          <a:lstStyle/>
          <a:p>
            <a:pPr algn="ctr"/>
            <a:r>
              <a:rPr sz="1100" b="0" i="0">
                <a:solidFill>
                  <a:srgbClr val="111111"/>
                </a:solidFill>
                <a:latin typeface="Inter"/>
                <a:ea typeface="Inter"/>
                <a:cs typeface="Inter"/>
              </a:rPr>
              <a:t>Coder</a:t>
            </a:r>
          </a:p>
        </p:txBody>
      </p:sp>
      <p:sp>
        <p:nvSpPr>
          <p:cNvPr id="38" name="Rounded Rectangle 37"/>
          <p:cNvSpPr/>
          <p:nvPr/>
        </p:nvSpPr>
        <p:spPr>
          <a:xfrm>
            <a:off x="8460658" y="3566160"/>
            <a:ext cx="935882" cy="310896"/>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60658" y="3566160"/>
            <a:ext cx="935882" cy="310896"/>
          </a:xfrm>
          <a:prstGeom prst="rect">
            <a:avLst/>
          </a:prstGeom>
          <a:noFill/>
        </p:spPr>
        <p:txBody>
          <a:bodyPr wrap="square" lIns="0" rIns="0" tIns="0" bIns="0" anchor="ctr"/>
          <a:lstStyle/>
          <a:p>
            <a:pPr algn="ctr"/>
            <a:r>
              <a:rPr sz="1100" b="0" i="0">
                <a:solidFill>
                  <a:srgbClr val="111111"/>
                </a:solidFill>
                <a:latin typeface="Inter"/>
                <a:ea typeface="Inter"/>
                <a:cs typeface="Inter"/>
              </a:rPr>
              <a:t>UI Quality</a:t>
            </a:r>
          </a:p>
        </p:txBody>
      </p:sp>
      <p:sp>
        <p:nvSpPr>
          <p:cNvPr id="40" name="TextBox 39"/>
          <p:cNvSpPr txBox="1"/>
          <p:nvPr/>
        </p:nvSpPr>
        <p:spPr>
          <a:xfrm>
            <a:off x="6519672" y="4023360"/>
            <a:ext cx="4846320" cy="594360"/>
          </a:xfrm>
          <a:prstGeom prst="rect">
            <a:avLst/>
          </a:prstGeom>
          <a:noFill/>
        </p:spPr>
        <p:txBody>
          <a:bodyPr wrap="square" lIns="0" rIns="0" tIns="0" bIns="0" anchor="t"/>
          <a:lstStyle/>
          <a:p>
            <a:pPr algn="l">
              <a:lnSpc>
                <a:spcPct val="104000"/>
              </a:lnSpc>
            </a:pPr>
            <a:r>
              <a:rPr sz="1200" b="0" i="0">
                <a:solidFill>
                  <a:srgbClr val="1F2937"/>
                </a:solidFill>
                <a:latin typeface="Inter"/>
                <a:ea typeface="Inter"/>
                <a:cs typeface="Inter"/>
              </a:rPr>
              <a:t>Each view reads the runner files on the left directly. A file that is missing shows as untested — never as passed.</a:t>
            </a:r>
          </a:p>
        </p:txBody>
      </p:sp>
      <p:pic>
        <p:nvPicPr>
          <p:cNvPr id="41" name="Picture 40" descr="16.png"/>
          <p:cNvPicPr>
            <a:picLocks noChangeAspect="1"/>
          </p:cNvPicPr>
          <p:nvPr/>
        </p:nvPicPr>
        <p:blipFill>
          <a:blip r:embed="rId4"/>
          <a:stretch>
            <a:fillRect/>
          </a:stretch>
        </p:blipFill>
        <p:spPr>
          <a:xfrm>
            <a:off x="6629400" y="5440680"/>
            <a:ext cx="502920" cy="502920"/>
          </a:xfrm>
          <a:prstGeom prst="rect">
            <a:avLst/>
          </a:prstGeom>
        </p:spPr>
      </p:pic>
      <p:sp>
        <p:nvSpPr>
          <p:cNvPr id="42" name="TextBox 41"/>
          <p:cNvSpPr txBox="1"/>
          <p:nvPr/>
        </p:nvSpPr>
        <p:spPr>
          <a:xfrm>
            <a:off x="626364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Vitest</a:t>
            </a:r>
          </a:p>
        </p:txBody>
      </p:sp>
      <p:pic>
        <p:nvPicPr>
          <p:cNvPr id="43" name="Picture 42" descr="17.png"/>
          <p:cNvPicPr>
            <a:picLocks noChangeAspect="1"/>
          </p:cNvPicPr>
          <p:nvPr/>
        </p:nvPicPr>
        <p:blipFill>
          <a:blip r:embed="rId5"/>
          <a:stretch>
            <a:fillRect/>
          </a:stretch>
        </p:blipFill>
        <p:spPr>
          <a:xfrm>
            <a:off x="7955279" y="5440680"/>
            <a:ext cx="502920" cy="502920"/>
          </a:xfrm>
          <a:prstGeom prst="rect">
            <a:avLst/>
          </a:prstGeom>
        </p:spPr>
      </p:pic>
      <p:sp>
        <p:nvSpPr>
          <p:cNvPr id="44" name="TextBox 43"/>
          <p:cNvSpPr txBox="1"/>
          <p:nvPr/>
        </p:nvSpPr>
        <p:spPr>
          <a:xfrm>
            <a:off x="7589519"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Playwright</a:t>
            </a:r>
          </a:p>
        </p:txBody>
      </p:sp>
      <p:pic>
        <p:nvPicPr>
          <p:cNvPr id="45" name="Picture 44" descr="18.png"/>
          <p:cNvPicPr>
            <a:picLocks noChangeAspect="1"/>
          </p:cNvPicPr>
          <p:nvPr/>
        </p:nvPicPr>
        <p:blipFill>
          <a:blip r:embed="rId6"/>
          <a:stretch>
            <a:fillRect/>
          </a:stretch>
        </p:blipFill>
        <p:spPr>
          <a:xfrm>
            <a:off x="9281160" y="5440680"/>
            <a:ext cx="502920" cy="502920"/>
          </a:xfrm>
          <a:prstGeom prst="rect">
            <a:avLst/>
          </a:prstGeom>
        </p:spPr>
      </p:pic>
      <p:sp>
        <p:nvSpPr>
          <p:cNvPr id="46" name="TextBox 45"/>
          <p:cNvSpPr txBox="1"/>
          <p:nvPr/>
        </p:nvSpPr>
        <p:spPr>
          <a:xfrm>
            <a:off x="891540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Lighthouse</a:t>
            </a:r>
          </a:p>
        </p:txBody>
      </p:sp>
      <p:pic>
        <p:nvPicPr>
          <p:cNvPr id="47" name="Picture 46" descr="19.png"/>
          <p:cNvPicPr>
            <a:picLocks noChangeAspect="1"/>
          </p:cNvPicPr>
          <p:nvPr/>
        </p:nvPicPr>
        <p:blipFill>
          <a:blip r:embed="rId7"/>
          <a:stretch>
            <a:fillRect/>
          </a:stretch>
        </p:blipFill>
        <p:spPr>
          <a:xfrm>
            <a:off x="10607040" y="5440680"/>
            <a:ext cx="502920" cy="502920"/>
          </a:xfrm>
          <a:prstGeom prst="rect">
            <a:avLst/>
          </a:prstGeom>
        </p:spPr>
      </p:pic>
      <p:sp>
        <p:nvSpPr>
          <p:cNvPr id="48" name="TextBox 47"/>
          <p:cNvSpPr txBox="1"/>
          <p:nvPr/>
        </p:nvSpPr>
        <p:spPr>
          <a:xfrm>
            <a:off x="1024128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OWASP ZAP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5 · DEPLOY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Deploy agent: plan, release, prove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19</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0.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PLAN</a:t>
            </a:r>
          </a:p>
        </p:txBody>
      </p:sp>
      <p:sp>
        <p:nvSpPr>
          <p:cNvPr id="11" name="TextBox 10"/>
          <p:cNvSpPr txBox="1"/>
          <p:nvPr/>
        </p:nvSpPr>
        <p:spPr>
          <a:xfrm>
            <a:off x="612648" y="2377820"/>
            <a:ext cx="2033625"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Reads the SRS handoff, build and QA records, app config and skill pages; measures the installed CLIs. No writes, no commands.</a:t>
            </a:r>
          </a:p>
        </p:txBody>
      </p:sp>
      <p:sp>
        <p:nvSpPr>
          <p:cNvPr id="12" name="Rounded Rectangle 11"/>
          <p:cNvSpPr/>
          <p:nvPr/>
        </p:nvSpPr>
        <p:spPr>
          <a:xfrm>
            <a:off x="2737713" y="1673352"/>
            <a:ext cx="2253081" cy="1874519"/>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47441"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4" name="TextBox 13"/>
          <p:cNvSpPr txBox="1"/>
          <p:nvPr/>
        </p:nvSpPr>
        <p:spPr>
          <a:xfrm>
            <a:off x="2847441"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APPROVE</a:t>
            </a:r>
          </a:p>
        </p:txBody>
      </p:sp>
      <p:sp>
        <p:nvSpPr>
          <p:cNvPr id="15" name="TextBox 14"/>
          <p:cNvSpPr txBox="1"/>
          <p:nvPr/>
        </p:nvSpPr>
        <p:spPr>
          <a:xfrm>
            <a:off x="2847441" y="2377820"/>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The customer reads the plan in chat and approves, revises it in their own words, or cancels.</a:t>
            </a:r>
          </a:p>
        </p:txBody>
      </p:sp>
      <p:sp>
        <p:nvSpPr>
          <p:cNvPr id="16" name="TextBox 15"/>
          <p:cNvSpPr txBox="1"/>
          <p:nvPr/>
        </p:nvSpPr>
        <p:spPr>
          <a:xfrm>
            <a:off x="5082235"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7" name="TextBox 16"/>
          <p:cNvSpPr txBox="1"/>
          <p:nvPr/>
        </p:nvSpPr>
        <p:spPr>
          <a:xfrm>
            <a:off x="5082235"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EXECUTE</a:t>
            </a:r>
          </a:p>
        </p:txBody>
      </p:sp>
      <p:sp>
        <p:nvSpPr>
          <p:cNvPr id="18" name="TextBox 17"/>
          <p:cNvSpPr txBox="1"/>
          <p:nvPr/>
        </p:nvSpPr>
        <p:spPr>
          <a:xfrm>
            <a:off x="5082235" y="2377820"/>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Carried out with git, GitHub CLI and the target's own CLI; every command and exit code is recorded.</a:t>
            </a:r>
          </a:p>
        </p:txBody>
      </p:sp>
      <p:sp>
        <p:nvSpPr>
          <p:cNvPr id="19" name="TextBox 18"/>
          <p:cNvSpPr txBox="1"/>
          <p:nvPr/>
        </p:nvSpPr>
        <p:spPr>
          <a:xfrm>
            <a:off x="7317028"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0" name="TextBox 19"/>
          <p:cNvSpPr txBox="1"/>
          <p:nvPr/>
        </p:nvSpPr>
        <p:spPr>
          <a:xfrm>
            <a:off x="7317028"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PROBE</a:t>
            </a:r>
          </a:p>
        </p:txBody>
      </p:sp>
      <p:sp>
        <p:nvSpPr>
          <p:cNvPr id="21" name="TextBox 20"/>
          <p:cNvSpPr txBox="1"/>
          <p:nvPr/>
        </p:nvSpPr>
        <p:spPr>
          <a:xfrm>
            <a:off x="7317028" y="2377820"/>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The Studio itself calls the public HTTPS address and every recorded check — not the agent's word.</a:t>
            </a:r>
          </a:p>
        </p:txBody>
      </p:sp>
      <p:sp>
        <p:nvSpPr>
          <p:cNvPr id="22" name="TextBox 21"/>
          <p:cNvSpPr txBox="1"/>
          <p:nvPr/>
        </p:nvSpPr>
        <p:spPr>
          <a:xfrm>
            <a:off x="9551822"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3" name="TextBox 22"/>
          <p:cNvSpPr txBox="1"/>
          <p:nvPr/>
        </p:nvSpPr>
        <p:spPr>
          <a:xfrm>
            <a:off x="9551822"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REPAIR</a:t>
            </a:r>
          </a:p>
        </p:txBody>
      </p:sp>
      <p:sp>
        <p:nvSpPr>
          <p:cNvPr id="24" name="TextBox 23"/>
          <p:cNvSpPr txBox="1"/>
          <p:nvPr/>
        </p:nvSpPr>
        <p:spPr>
          <a:xfrm>
            <a:off x="9551822" y="2377820"/>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failed check returns with the repair skill: collect evidence, fix the root cause once, redeploy, re-verify.</a:t>
            </a:r>
          </a:p>
        </p:txBody>
      </p:sp>
      <p:sp>
        <p:nvSpPr>
          <p:cNvPr id="25" name="TextBox 24"/>
          <p:cNvSpPr txBox="1"/>
          <p:nvPr/>
        </p:nvSpPr>
        <p:spPr>
          <a:xfrm>
            <a:off x="612648" y="4069080"/>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RULES EVERY DEPLOYMENT FOLLOWS</a:t>
            </a:r>
          </a:p>
        </p:txBody>
      </p:sp>
      <p:sp>
        <p:nvSpPr>
          <p:cNvPr id="26" name="TextBox 25"/>
          <p:cNvSpPr txBox="1"/>
          <p:nvPr/>
        </p:nvSpPr>
        <p:spPr>
          <a:xfrm>
            <a:off x="61264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REPOSITORY</a:t>
            </a:r>
          </a:p>
        </p:txBody>
      </p:sp>
      <p:sp>
        <p:nvSpPr>
          <p:cNvPr id="27" name="TextBox 26"/>
          <p:cNvSpPr txBox="1"/>
          <p:nvPr/>
        </p:nvSpPr>
        <p:spPr>
          <a:xfrm>
            <a:off x="61264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Own GitHub repo under the customer's name: safe .gitignore, .env.example, meaningful commits, README on request.</a:t>
            </a:r>
          </a:p>
        </p:txBody>
      </p:sp>
      <p:sp>
        <p:nvSpPr>
          <p:cNvPr id="28" name="TextBox 27"/>
          <p:cNvSpPr txBox="1"/>
          <p:nvPr/>
        </p:nvSpPr>
        <p:spPr>
          <a:xfrm>
            <a:off x="436168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SECRETS</a:t>
            </a:r>
          </a:p>
        </p:txBody>
      </p:sp>
      <p:sp>
        <p:nvSpPr>
          <p:cNvPr id="29" name="TextBox 28"/>
          <p:cNvSpPr txBox="1"/>
          <p:nvPr/>
        </p:nvSpPr>
        <p:spPr>
          <a:xfrm>
            <a:off x="436168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Saved once in Settings and injected only into the deploy run's commands — never in chat, plans, logs or command lines.</a:t>
            </a:r>
          </a:p>
        </p:txBody>
      </p:sp>
      <p:sp>
        <p:nvSpPr>
          <p:cNvPr id="30" name="TextBox 29"/>
          <p:cNvSpPr txBox="1"/>
          <p:nvPr/>
        </p:nvSpPr>
        <p:spPr>
          <a:xfrm>
            <a:off x="811072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DATABASE</a:t>
            </a:r>
          </a:p>
        </p:txBody>
      </p:sp>
      <p:sp>
        <p:nvSpPr>
          <p:cNvPr id="31" name="TextBox 30"/>
          <p:cNvSpPr txBox="1"/>
          <p:nvPr/>
        </p:nvSpPr>
        <p:spPr>
          <a:xfrm>
            <a:off x="811072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Production data must be reachable from the host; a connection string pointing at this computer is refused.</a:t>
            </a:r>
          </a:p>
        </p:txBody>
      </p:sp>
      <p:sp>
        <p:nvSpPr>
          <p:cNvPr id="32" name="TextBox 31"/>
          <p:cNvSpPr txBox="1"/>
          <p:nvPr/>
        </p:nvSpPr>
        <p:spPr>
          <a:xfrm>
            <a:off x="61264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DOMAIN AND HTTPS</a:t>
            </a:r>
          </a:p>
        </p:txBody>
      </p:sp>
      <p:sp>
        <p:nvSpPr>
          <p:cNvPr id="33" name="TextBox 32"/>
          <p:cNvSpPr txBox="1"/>
          <p:nvPr/>
        </p:nvSpPr>
        <p:spPr>
          <a:xfrm>
            <a:off x="612648" y="563791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Public HTTPS address verified; custom domains, DNS and certificates follow the target's skill page.</a:t>
            </a:r>
          </a:p>
        </p:txBody>
      </p:sp>
      <p:sp>
        <p:nvSpPr>
          <p:cNvPr id="34" name="TextBox 33"/>
          <p:cNvSpPr txBox="1"/>
          <p:nvPr/>
        </p:nvSpPr>
        <p:spPr>
          <a:xfrm>
            <a:off x="436168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SCALE, COST, ROLLBACK</a:t>
            </a:r>
          </a:p>
        </p:txBody>
      </p:sp>
      <p:sp>
        <p:nvSpPr>
          <p:cNvPr id="35" name="TextBox 34"/>
          <p:cNvSpPr txBox="1"/>
          <p:nvPr/>
        </p:nvSpPr>
        <p:spPr>
          <a:xfrm>
            <a:off x="4361688" y="5637911"/>
            <a:ext cx="3474720" cy="410845"/>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Capacity, paid choices and the way back are written into the plan before anything runs.</a:t>
            </a:r>
          </a:p>
        </p:txBody>
      </p:sp>
      <p:sp>
        <p:nvSpPr>
          <p:cNvPr id="36" name="TextBox 35"/>
          <p:cNvSpPr txBox="1"/>
          <p:nvPr/>
        </p:nvSpPr>
        <p:spPr>
          <a:xfrm>
            <a:off x="811072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DURABLE RECORD</a:t>
            </a:r>
          </a:p>
        </p:txBody>
      </p:sp>
      <p:sp>
        <p:nvSpPr>
          <p:cNvPr id="37" name="TextBox 36"/>
          <p:cNvSpPr txBox="1"/>
          <p:nvPr/>
        </p:nvSpPr>
        <p:spPr>
          <a:xfrm>
            <a:off x="8110728" y="563791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run.json and events: a reconnecting browser sees the live run; a stopped run can be resumed.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5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Deploy agent: targets, sign-in, monitors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20</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70.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62.png"/>
          <p:cNvPicPr>
            <a:picLocks noChangeAspect="1"/>
          </p:cNvPicPr>
          <p:nvPr/>
        </p:nvPicPr>
        <p:blipFill>
          <a:blip r:embed="rId4"/>
          <a:stretch>
            <a:fillRect/>
          </a:stretch>
        </p:blipFill>
        <p:spPr>
          <a:xfrm>
            <a:off x="1248155" y="1737360"/>
            <a:ext cx="777240" cy="777240"/>
          </a:xfrm>
          <a:prstGeom prst="rect">
            <a:avLst/>
          </a:prstGeom>
        </p:spPr>
      </p:pic>
      <p:sp>
        <p:nvSpPr>
          <p:cNvPr id="10" name="TextBox 9"/>
          <p:cNvSpPr txBox="1"/>
          <p:nvPr/>
        </p:nvSpPr>
        <p:spPr>
          <a:xfrm>
            <a:off x="612648"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VERCEL</a:t>
            </a:r>
          </a:p>
        </p:txBody>
      </p:sp>
      <p:sp>
        <p:nvSpPr>
          <p:cNvPr id="11" name="TextBox 10"/>
          <p:cNvSpPr txBox="1"/>
          <p:nvPr/>
        </p:nvSpPr>
        <p:spPr>
          <a:xfrm>
            <a:off x="704088"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Next.js / Remix hosting via the vercel CLI</a:t>
            </a:r>
          </a:p>
        </p:txBody>
      </p:sp>
      <p:pic>
        <p:nvPicPr>
          <p:cNvPr id="12" name="Picture 11" descr="63.png"/>
          <p:cNvPicPr>
            <a:picLocks noChangeAspect="1"/>
          </p:cNvPicPr>
          <p:nvPr/>
        </p:nvPicPr>
        <p:blipFill>
          <a:blip r:embed="rId5"/>
          <a:stretch>
            <a:fillRect/>
          </a:stretch>
        </p:blipFill>
        <p:spPr>
          <a:xfrm>
            <a:off x="3479291" y="1737360"/>
            <a:ext cx="777240" cy="777240"/>
          </a:xfrm>
          <a:prstGeom prst="rect">
            <a:avLst/>
          </a:prstGeom>
        </p:spPr>
      </p:pic>
      <p:sp>
        <p:nvSpPr>
          <p:cNvPr id="13" name="TextBox 12"/>
          <p:cNvSpPr txBox="1"/>
          <p:nvPr/>
        </p:nvSpPr>
        <p:spPr>
          <a:xfrm>
            <a:off x="2843784"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NETLIFY</a:t>
            </a:r>
          </a:p>
        </p:txBody>
      </p:sp>
      <p:sp>
        <p:nvSpPr>
          <p:cNvPr id="14" name="TextBox 13"/>
          <p:cNvSpPr txBox="1"/>
          <p:nvPr/>
        </p:nvSpPr>
        <p:spPr>
          <a:xfrm>
            <a:off x="2935224"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Web hosting via the netlify CLI</a:t>
            </a:r>
          </a:p>
        </p:txBody>
      </p:sp>
      <p:pic>
        <p:nvPicPr>
          <p:cNvPr id="15" name="Picture 14" descr="64.png"/>
          <p:cNvPicPr>
            <a:picLocks noChangeAspect="1"/>
          </p:cNvPicPr>
          <p:nvPr/>
        </p:nvPicPr>
        <p:blipFill>
          <a:blip r:embed="rId6"/>
          <a:stretch>
            <a:fillRect/>
          </a:stretch>
        </p:blipFill>
        <p:spPr>
          <a:xfrm>
            <a:off x="5710427" y="1737360"/>
            <a:ext cx="777240" cy="777240"/>
          </a:xfrm>
          <a:prstGeom prst="rect">
            <a:avLst/>
          </a:prstGeom>
        </p:spPr>
      </p:pic>
      <p:sp>
        <p:nvSpPr>
          <p:cNvPr id="16" name="TextBox 15"/>
          <p:cNvSpPr txBox="1"/>
          <p:nvPr/>
        </p:nvSpPr>
        <p:spPr>
          <a:xfrm>
            <a:off x="5074920"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AZURE</a:t>
            </a:r>
          </a:p>
        </p:txBody>
      </p:sp>
      <p:sp>
        <p:nvSpPr>
          <p:cNvPr id="17" name="TextBox 16"/>
          <p:cNvSpPr txBox="1"/>
          <p:nvPr/>
        </p:nvSpPr>
        <p:spPr>
          <a:xfrm>
            <a:off x="5166359"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App Service via the az CLI</a:t>
            </a:r>
          </a:p>
        </p:txBody>
      </p:sp>
      <p:pic>
        <p:nvPicPr>
          <p:cNvPr id="18" name="Picture 17" descr="65.png"/>
          <p:cNvPicPr>
            <a:picLocks noChangeAspect="1"/>
          </p:cNvPicPr>
          <p:nvPr/>
        </p:nvPicPr>
        <p:blipFill>
          <a:blip r:embed="rId7"/>
          <a:stretch>
            <a:fillRect/>
          </a:stretch>
        </p:blipFill>
        <p:spPr>
          <a:xfrm>
            <a:off x="7941564" y="1737360"/>
            <a:ext cx="777240" cy="777240"/>
          </a:xfrm>
          <a:prstGeom prst="rect">
            <a:avLst/>
          </a:prstGeom>
        </p:spPr>
      </p:pic>
      <p:sp>
        <p:nvSpPr>
          <p:cNvPr id="19" name="TextBox 18"/>
          <p:cNvSpPr txBox="1"/>
          <p:nvPr/>
        </p:nvSpPr>
        <p:spPr>
          <a:xfrm>
            <a:off x="7306056"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AWS EC2 / ECS</a:t>
            </a:r>
          </a:p>
        </p:txBody>
      </p:sp>
      <p:sp>
        <p:nvSpPr>
          <p:cNvPr id="20" name="TextBox 19"/>
          <p:cNvSpPr txBox="1"/>
          <p:nvPr/>
        </p:nvSpPr>
        <p:spPr>
          <a:xfrm>
            <a:off x="7397496"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Virtual machines or containers via the aws CLI</a:t>
            </a:r>
          </a:p>
        </p:txBody>
      </p:sp>
      <p:pic>
        <p:nvPicPr>
          <p:cNvPr id="21" name="Picture 20" descr="66.png"/>
          <p:cNvPicPr>
            <a:picLocks noChangeAspect="1"/>
          </p:cNvPicPr>
          <p:nvPr/>
        </p:nvPicPr>
        <p:blipFill>
          <a:blip r:embed="rId8"/>
          <a:stretch>
            <a:fillRect/>
          </a:stretch>
        </p:blipFill>
        <p:spPr>
          <a:xfrm>
            <a:off x="10172700" y="1737360"/>
            <a:ext cx="777240" cy="777240"/>
          </a:xfrm>
          <a:prstGeom prst="rect">
            <a:avLst/>
          </a:prstGeom>
        </p:spPr>
      </p:pic>
      <p:sp>
        <p:nvSpPr>
          <p:cNvPr id="22" name="TextBox 21"/>
          <p:cNvSpPr txBox="1"/>
          <p:nvPr/>
        </p:nvSpPr>
        <p:spPr>
          <a:xfrm>
            <a:off x="9537192"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GITHUB</a:t>
            </a:r>
          </a:p>
        </p:txBody>
      </p:sp>
      <p:sp>
        <p:nvSpPr>
          <p:cNvPr id="23" name="TextBox 22"/>
          <p:cNvSpPr txBox="1"/>
          <p:nvPr/>
        </p:nvSpPr>
        <p:spPr>
          <a:xfrm>
            <a:off x="9628632"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Repository, Actions and releases via gh</a:t>
            </a:r>
          </a:p>
        </p:txBody>
      </p:sp>
      <p:sp>
        <p:nvSpPr>
          <p:cNvPr id="24" name="Rounded Rectangle 23"/>
          <p:cNvSpPr/>
          <p:nvPr/>
        </p:nvSpPr>
        <p:spPr>
          <a:xfrm>
            <a:off x="612648" y="3520440"/>
            <a:ext cx="10972800" cy="329184"/>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520440"/>
            <a:ext cx="10698480" cy="329184"/>
          </a:xfrm>
          <a:prstGeom prst="rect">
            <a:avLst/>
          </a:prstGeom>
          <a:noFill/>
        </p:spPr>
        <p:txBody>
          <a:bodyPr wrap="square" lIns="0" rIns="0" tIns="0" bIns="0" anchor="ctr"/>
          <a:lstStyle/>
          <a:p>
            <a:pPr algn="l"/>
            <a:r>
              <a:rPr sz="1050" b="0" i="0" spc="220">
                <a:solidFill>
                  <a:srgbClr val="111111"/>
                </a:solidFill>
                <a:latin typeface="Urbanist SemiBold"/>
                <a:ea typeface="Urbanist SemiBold"/>
                <a:cs typeface="Urbanist SemiBold"/>
              </a:rPr>
              <a:t>MERN MICROSERVICES DEPLOY ONLY TO AWS EC2 / ECS OR AZURE — THEY RUN AS SEVERAL COOPERATING SERVICES</a:t>
            </a:r>
          </a:p>
        </p:txBody>
      </p:sp>
      <p:sp>
        <p:nvSpPr>
          <p:cNvPr id="26" name="Rounded Rectangle 25"/>
          <p:cNvSpPr/>
          <p:nvPr/>
        </p:nvSpPr>
        <p:spPr>
          <a:xfrm>
            <a:off x="612648" y="4069080"/>
            <a:ext cx="5349240" cy="2286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715000"/>
            <a:ext cx="4837175" cy="502920"/>
          </a:xfrm>
          <a:prstGeom prst="rect">
            <a:avLst/>
          </a:prstGeom>
          <a:noFill/>
        </p:spPr>
        <p:txBody>
          <a:bodyPr wrap="square" lIns="0" rIns="0" tIns="0" bIns="0" anchor="t"/>
          <a:lstStyle/>
          <a:p>
            <a:pPr algn="l">
              <a:lnSpc>
                <a:spcPct val="102000"/>
              </a:lnSpc>
            </a:pPr>
            <a:r>
              <a:rPr sz="1100" b="1" i="0">
                <a:solidFill>
                  <a:srgbClr val="4B5563"/>
                </a:solidFill>
                <a:latin typeface="Inter"/>
                <a:ea typeface="Inter"/>
                <a:cs typeface="Inter"/>
              </a:rPr>
              <a:t>Azure: </a:t>
            </a:r>
            <a:r>
              <a:rPr sz="1100" b="0" i="0">
                <a:solidFill>
                  <a:srgbClr val="4B5563"/>
                </a:solidFill>
                <a:latin typeface="Inter"/>
                <a:ea typeface="Inter"/>
                <a:cs typeface="Inter"/>
              </a:rPr>
              <a:t>no service principal is created automatically — it changes the customer's tenant, so it stays their deliberate step.</a:t>
            </a:r>
          </a:p>
        </p:txBody>
      </p:sp>
      <p:sp>
        <p:nvSpPr>
          <p:cNvPr id="28" name="TextBox 27"/>
          <p:cNvSpPr txBox="1"/>
          <p:nvPr/>
        </p:nvSpPr>
        <p:spPr>
          <a:xfrm>
            <a:off x="868680" y="4251960"/>
            <a:ext cx="483717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ONE-CLICK CLI SIGN-IN</a:t>
            </a:r>
          </a:p>
        </p:txBody>
      </p:sp>
      <p:sp>
        <p:nvSpPr>
          <p:cNvPr id="29" name="TextBox 28"/>
          <p:cNvSpPr txBox="1"/>
          <p:nvPr/>
        </p:nvSpPr>
        <p:spPr>
          <a:xfrm>
            <a:off x="868680" y="4563237"/>
            <a:ext cx="4837175"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GitHub, AWS, Vercel, Netlify and Azure sign in through their own login in the browser (GitHub also by device code). Nobody pastes a token. The Studio shows which account a deployment will really use; a missing tool comes with its install command.</a:t>
            </a:r>
          </a:p>
        </p:txBody>
      </p:sp>
      <p:sp>
        <p:nvSpPr>
          <p:cNvPr id="30" name="Rounded Rectangle 29"/>
          <p:cNvSpPr/>
          <p:nvPr/>
        </p:nvSpPr>
        <p:spPr>
          <a:xfrm>
            <a:off x="6236207" y="4069080"/>
            <a:ext cx="5349240" cy="2286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715000"/>
            <a:ext cx="4837175" cy="502920"/>
          </a:xfrm>
          <a:prstGeom prst="rect">
            <a:avLst/>
          </a:prstGeom>
          <a:noFill/>
        </p:spPr>
        <p:txBody>
          <a:bodyPr wrap="square" lIns="0" rIns="0" tIns="0" bIns="0" anchor="t"/>
          <a:lstStyle/>
          <a:p>
            <a:pPr algn="l">
              <a:lnSpc>
                <a:spcPct val="102000"/>
              </a:lnSpc>
            </a:pPr>
            <a:r>
              <a:rPr sz="1100" b="0" i="0">
                <a:solidFill>
                  <a:srgbClr val="4B5563"/>
                </a:solidFill>
                <a:latin typeface="Inter"/>
                <a:ea typeface="Inter"/>
                <a:cs typeface="Inter"/>
              </a:rPr>
              <a:t>GitHub 15 · Vercel 15 · Azure 12 · AWS ECS 11 · AWS EC2 9 · Netlify 8 · AWS account 6</a:t>
            </a:r>
          </a:p>
        </p:txBody>
      </p:sp>
      <p:sp>
        <p:nvSpPr>
          <p:cNvPr id="32" name="TextBox 31"/>
          <p:cNvSpPr txBox="1"/>
          <p:nvPr/>
        </p:nvSpPr>
        <p:spPr>
          <a:xfrm>
            <a:off x="6492240" y="4251960"/>
            <a:ext cx="483717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LIVE READ-ONLY MONITORS</a:t>
            </a:r>
          </a:p>
        </p:txBody>
      </p:sp>
      <p:sp>
        <p:nvSpPr>
          <p:cNvPr id="33" name="TextBox 32"/>
          <p:cNvSpPr txBox="1"/>
          <p:nvPr/>
        </p:nvSpPr>
        <p:spPr>
          <a:xfrm>
            <a:off x="6492240" y="4563237"/>
            <a:ext cx="4837175"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76 one-click, read-only commands — logs, health checks, scaling, deployments, CI runs, secret names — filled in from the deployment's own record. Output streams live with colour codes and secrets masked.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PLATFORM FEATURES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One studio for the whole lifecycle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21</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7.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AGENT STREAM</a:t>
            </a:r>
          </a:p>
        </p:txBody>
      </p:sp>
      <p:sp>
        <p:nvSpPr>
          <p:cNvPr id="11" name="TextBox 10"/>
          <p:cNvSpPr txBox="1"/>
          <p:nvPr/>
        </p:nvSpPr>
        <p:spPr>
          <a:xfrm>
            <a:off x="8138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Narration, file reads, a diff of every write and terminal output, as they happen — replayed after a reload.</a:t>
            </a:r>
          </a:p>
        </p:txBody>
      </p:sp>
      <p:sp>
        <p:nvSpPr>
          <p:cNvPr id="12" name="Rounded Rectangle 11"/>
          <p:cNvSpPr/>
          <p:nvPr/>
        </p:nvSpPr>
        <p:spPr>
          <a:xfrm>
            <a:off x="43464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76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PROJECTS AND IMPORT</a:t>
            </a:r>
          </a:p>
        </p:txBody>
      </p:sp>
      <p:sp>
        <p:nvSpPr>
          <p:cNvPr id="14" name="TextBox 13"/>
          <p:cNvSpPr txBox="1"/>
          <p:nvPr/>
        </p:nvSpPr>
        <p:spPr>
          <a:xfrm>
            <a:off x="45476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Start from an idea or upload an existing codebase; every project resumes after a restart.</a:t>
            </a:r>
          </a:p>
        </p:txBody>
      </p:sp>
      <p:sp>
        <p:nvSpPr>
          <p:cNvPr id="15" name="Rounded Rectangle 14"/>
          <p:cNvSpPr/>
          <p:nvPr/>
        </p:nvSpPr>
        <p:spPr>
          <a:xfrm>
            <a:off x="80802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14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MODEL CHOICE</a:t>
            </a:r>
          </a:p>
        </p:txBody>
      </p:sp>
      <p:sp>
        <p:nvSpPr>
          <p:cNvPr id="17" name="TextBox 16"/>
          <p:cNvSpPr txBox="1"/>
          <p:nvPr/>
        </p:nvSpPr>
        <p:spPr>
          <a:xfrm>
            <a:off x="82814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Any local Ollama model or Ollama Cloud, context size and thinking mode; switching models keeps the context.</a:t>
            </a:r>
          </a:p>
        </p:txBody>
      </p:sp>
      <p:sp>
        <p:nvSpPr>
          <p:cNvPr id="18" name="Rounded Rectangle 17"/>
          <p:cNvSpPr/>
          <p:nvPr/>
        </p:nvSpPr>
        <p:spPr>
          <a:xfrm>
            <a:off x="6126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SRS REVIEW SUITE</a:t>
            </a:r>
          </a:p>
        </p:txBody>
      </p:sp>
      <p:sp>
        <p:nvSpPr>
          <p:cNvPr id="20" name="TextBox 19"/>
          <p:cNvSpPr txBox="1"/>
          <p:nvPr/>
        </p:nvSpPr>
        <p:spPr>
          <a:xfrm>
            <a:off x="8138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Overview counts, diagram viewer, wireframe grid, user-journey view, revisions and the approval dialog.</a:t>
            </a:r>
          </a:p>
        </p:txBody>
      </p:sp>
      <p:sp>
        <p:nvSpPr>
          <p:cNvPr id="21" name="Rounded Rectangle 20"/>
          <p:cNvSpPr/>
          <p:nvPr/>
        </p:nvSpPr>
        <p:spPr>
          <a:xfrm>
            <a:off x="43464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76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PREVIEW</a:t>
            </a:r>
          </a:p>
        </p:txBody>
      </p:sp>
      <p:sp>
        <p:nvSpPr>
          <p:cNvPr id="23" name="TextBox 22"/>
          <p:cNvSpPr txBox="1"/>
          <p:nvPr/>
        </p:nvSpPr>
        <p:spPr>
          <a:xfrm>
            <a:off x="45476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managed server per stack, the prototype in an iframe, and the E2E browser streamed while tests run.</a:t>
            </a:r>
          </a:p>
        </p:txBody>
      </p:sp>
      <p:sp>
        <p:nvSpPr>
          <p:cNvPr id="24" name="Rounded Rectangle 23"/>
          <p:cNvSpPr/>
          <p:nvPr/>
        </p:nvSpPr>
        <p:spPr>
          <a:xfrm>
            <a:off x="80802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14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CODE PANE</a:t>
            </a:r>
          </a:p>
        </p:txBody>
      </p:sp>
      <p:sp>
        <p:nvSpPr>
          <p:cNvPr id="26" name="TextBox 25"/>
          <p:cNvSpPr txBox="1"/>
          <p:nvPr/>
        </p:nvSpPr>
        <p:spPr>
          <a:xfrm>
            <a:off x="82814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File tree and editor; a manual edit is recorded as a diff in the stream, like the agent's own.</a:t>
            </a:r>
          </a:p>
        </p:txBody>
      </p:sp>
      <p:sp>
        <p:nvSpPr>
          <p:cNvPr id="27" name="Rounded Rectangle 26"/>
          <p:cNvSpPr/>
          <p:nvPr/>
        </p:nvSpPr>
        <p:spPr>
          <a:xfrm>
            <a:off x="6126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VISUAL INSPECTOR</a:t>
            </a:r>
          </a:p>
        </p:txBody>
      </p:sp>
      <p:sp>
        <p:nvSpPr>
          <p:cNvPr id="29" name="TextBox 28"/>
          <p:cNvSpPr txBox="1"/>
          <p:nvPr/>
        </p:nvSpPr>
        <p:spPr>
          <a:xfrm>
            <a:off x="8138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Point at an element to restyle, move, duplicate or delete it — breakpoints, states, undo and redo.</a:t>
            </a:r>
          </a:p>
        </p:txBody>
      </p:sp>
      <p:sp>
        <p:nvSpPr>
          <p:cNvPr id="30" name="Rounded Rectangle 29"/>
          <p:cNvSpPr/>
          <p:nvPr/>
        </p:nvSpPr>
        <p:spPr>
          <a:xfrm>
            <a:off x="43464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76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SITE PICTURES AND LOGO</a:t>
            </a:r>
          </a:p>
        </p:txBody>
      </p:sp>
      <p:sp>
        <p:nvSpPr>
          <p:cNvPr id="32" name="TextBox 31"/>
          <p:cNvSpPr txBox="1"/>
          <p:nvPr/>
        </p:nvSpPr>
        <p:spPr>
          <a:xfrm>
            <a:off x="45476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Upload brand images with usage notes; agents place them instead of placeholders.</a:t>
            </a:r>
          </a:p>
        </p:txBody>
      </p:sp>
      <p:sp>
        <p:nvSpPr>
          <p:cNvPr id="33" name="Rounded Rectangle 32"/>
          <p:cNvSpPr/>
          <p:nvPr/>
        </p:nvSpPr>
        <p:spPr>
          <a:xfrm>
            <a:off x="80802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14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TEST &amp; DEPLOY DASHBOARDS</a:t>
            </a:r>
          </a:p>
        </p:txBody>
      </p:sp>
      <p:sp>
        <p:nvSpPr>
          <p:cNvPr id="35" name="TextBox 34"/>
          <p:cNvSpPr txBox="1"/>
          <p:nvPr/>
        </p:nvSpPr>
        <p:spPr>
          <a:xfrm>
            <a:off x="82814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14 testing views (unit, E2E, contracts, accessibility, performance, security, bugs, repairs…) and the Deploy panel.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ITERATION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Every change is planned and versioned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22</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3.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REQUEST</a:t>
            </a:r>
          </a:p>
        </p:txBody>
      </p:sp>
      <p:sp>
        <p:nvSpPr>
          <p:cNvPr id="11" name="TextBox 10"/>
          <p:cNvSpPr txBox="1"/>
          <p:nvPr/>
        </p:nvSpPr>
        <p:spPr>
          <a:xfrm>
            <a:off x="61264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Type it in chat, ask for a new feature, or point at an element on screen.</a:t>
            </a:r>
          </a:p>
        </p:txBody>
      </p:sp>
      <p:sp>
        <p:nvSpPr>
          <p:cNvPr id="12" name="TextBox 11"/>
          <p:cNvSpPr txBox="1"/>
          <p:nvPr/>
        </p:nvSpPr>
        <p:spPr>
          <a:xfrm>
            <a:off x="271576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271576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PLAN</a:t>
            </a:r>
          </a:p>
        </p:txBody>
      </p:sp>
      <p:sp>
        <p:nvSpPr>
          <p:cNvPr id="14" name="TextBox 13"/>
          <p:cNvSpPr txBox="1"/>
          <p:nvPr/>
        </p:nvSpPr>
        <p:spPr>
          <a:xfrm>
            <a:off x="271576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Read-only: the agent maps the project, may ask a question, and shows a plan card.</a:t>
            </a:r>
          </a:p>
        </p:txBody>
      </p:sp>
      <p:sp>
        <p:nvSpPr>
          <p:cNvPr id="15" name="TextBox 14"/>
          <p:cNvSpPr txBox="1"/>
          <p:nvPr/>
        </p:nvSpPr>
        <p:spPr>
          <a:xfrm>
            <a:off x="481888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481888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DECIDE</a:t>
            </a:r>
          </a:p>
        </p:txBody>
      </p:sp>
      <p:sp>
        <p:nvSpPr>
          <p:cNvPr id="17" name="TextBox 16"/>
          <p:cNvSpPr txBox="1"/>
          <p:nvPr/>
        </p:nvSpPr>
        <p:spPr>
          <a:xfrm>
            <a:off x="481888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Approve, revise in your own words, or cancel. Nothing changes before approval.</a:t>
            </a:r>
          </a:p>
        </p:txBody>
      </p:sp>
      <p:sp>
        <p:nvSpPr>
          <p:cNvPr id="18" name="TextBox 17"/>
          <p:cNvSpPr txBox="1"/>
          <p:nvPr/>
        </p:nvSpPr>
        <p:spPr>
          <a:xfrm>
            <a:off x="6922007"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6922007"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EXECUTE</a:t>
            </a:r>
          </a:p>
        </p:txBody>
      </p:sp>
      <p:sp>
        <p:nvSpPr>
          <p:cNvPr id="20" name="TextBox 19"/>
          <p:cNvSpPr txBox="1"/>
          <p:nvPr/>
        </p:nvSpPr>
        <p:spPr>
          <a:xfrm>
            <a:off x="6922007" y="2404046"/>
            <a:ext cx="18288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SRS, wireframes, prototype and code are updated where the request reaches them; focused tests run.</a:t>
            </a:r>
          </a:p>
        </p:txBody>
      </p:sp>
      <p:pic>
        <p:nvPicPr>
          <p:cNvPr id="21" name="Picture 20" descr="73.png"/>
          <p:cNvPicPr>
            <a:picLocks noChangeAspect="1"/>
          </p:cNvPicPr>
          <p:nvPr/>
        </p:nvPicPr>
        <p:blipFill>
          <a:blip r:embed="rId4"/>
          <a:stretch>
            <a:fillRect/>
          </a:stretch>
        </p:blipFill>
        <p:spPr>
          <a:xfrm>
            <a:off x="9326880" y="1691640"/>
            <a:ext cx="1920240" cy="2560320"/>
          </a:xfrm>
          <a:prstGeom prst="rect">
            <a:avLst/>
          </a:prstGeom>
        </p:spPr>
      </p:pic>
      <p:sp>
        <p:nvSpPr>
          <p:cNvPr id="22" name="Rounded Rectangle 21"/>
          <p:cNvSpPr/>
          <p:nvPr/>
        </p:nvSpPr>
        <p:spPr>
          <a:xfrm>
            <a:off x="61264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VERSION HISTORY</a:t>
            </a:r>
          </a:p>
        </p:txBody>
      </p:sp>
      <p:sp>
        <p:nvSpPr>
          <p:cNvPr id="24" name="TextBox 23"/>
          <p:cNvSpPr txBox="1"/>
          <p:nvPr/>
        </p:nvSpPr>
        <p:spPr>
          <a:xfrm>
            <a:off x="841248" y="4921059"/>
            <a:ext cx="301752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Each approved update becomes v1, v2… in JSON and Markdown: what was asked, the plan, files added, changed or removed, and test counts before and after.</a:t>
            </a:r>
          </a:p>
        </p:txBody>
      </p:sp>
      <p:sp>
        <p:nvSpPr>
          <p:cNvPr id="25" name="Rounded Rectangle 24"/>
          <p:cNvSpPr/>
          <p:nvPr/>
        </p:nvSpPr>
        <p:spPr>
          <a:xfrm>
            <a:off x="436168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028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RESULTS PRESERVED</a:t>
            </a:r>
          </a:p>
        </p:txBody>
      </p:sp>
      <p:sp>
        <p:nvSpPr>
          <p:cNvPr id="27" name="TextBox 26"/>
          <p:cNvSpPr txBox="1"/>
          <p:nvPr/>
        </p:nvSpPr>
        <p:spPr>
          <a:xfrm>
            <a:off x="4590288" y="4921059"/>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Test records are copied before an update runs, so a change can never cost the project the results it already had.</a:t>
            </a:r>
          </a:p>
        </p:txBody>
      </p:sp>
      <p:sp>
        <p:nvSpPr>
          <p:cNvPr id="28" name="Rounded Rectangle 27"/>
          <p:cNvSpPr/>
          <p:nvPr/>
        </p:nvSpPr>
        <p:spPr>
          <a:xfrm>
            <a:off x="811072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932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RESUME &amp; SAFE CHAT</a:t>
            </a:r>
          </a:p>
        </p:txBody>
      </p:sp>
      <p:sp>
        <p:nvSpPr>
          <p:cNvPr id="30" name="TextBox 29"/>
          <p:cNvSpPr txBox="1"/>
          <p:nvPr/>
        </p:nvSpPr>
        <p:spPr>
          <a:xfrm>
            <a:off x="8339328" y="4921059"/>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Plans and questions survive restarts, and resume continues from where the project stopped. A pasted key or connection string is refused.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TRUST AND SAFETY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Security by design</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Guardrails are enforced in code, not only requested in prompts.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23</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56.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SANDBOXED FILES</a:t>
            </a:r>
          </a:p>
        </p:txBody>
      </p:sp>
      <p:sp>
        <p:nvSpPr>
          <p:cNvPr id="12" name="TextBox 11"/>
          <p:cNvSpPr txBox="1"/>
          <p:nvPr/>
        </p:nvSpPr>
        <p:spPr>
          <a:xfrm>
            <a:off x="813816" y="2527744"/>
            <a:ext cx="220370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Every path is resolved inside the project; a path that escapes it is refused.</a:t>
            </a:r>
          </a:p>
        </p:txBody>
      </p:sp>
      <p:sp>
        <p:nvSpPr>
          <p:cNvPr id="13" name="Rounded Rectangle 12"/>
          <p:cNvSpPr/>
          <p:nvPr/>
        </p:nvSpPr>
        <p:spPr>
          <a:xfrm>
            <a:off x="340156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73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SOURCE GUARD</a:t>
            </a:r>
          </a:p>
        </p:txBody>
      </p:sp>
      <p:sp>
        <p:nvSpPr>
          <p:cNvPr id="15" name="TextBox 14"/>
          <p:cNvSpPr txBox="1"/>
          <p:nvPr/>
        </p:nvSpPr>
        <p:spPr>
          <a:xfrm>
            <a:off x="360273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AgentForge's own code is snapshotted around every command and restored if a project command changes it.</a:t>
            </a:r>
          </a:p>
        </p:txBody>
      </p:sp>
      <p:sp>
        <p:nvSpPr>
          <p:cNvPr id="16" name="Rounded Rectangle 15"/>
          <p:cNvSpPr/>
          <p:nvPr/>
        </p:nvSpPr>
        <p:spPr>
          <a:xfrm>
            <a:off x="619048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PROCESS SAFETY</a:t>
            </a:r>
          </a:p>
        </p:txBody>
      </p:sp>
      <p:sp>
        <p:nvSpPr>
          <p:cNvPr id="18" name="TextBox 17"/>
          <p:cNvSpPr txBox="1"/>
          <p:nvPr/>
        </p:nvSpPr>
        <p:spPr>
          <a:xfrm>
            <a:off x="639165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Agents cannot kill every Node process or run a dev server; only the preview's own PID is ever stopped.</a:t>
            </a:r>
          </a:p>
        </p:txBody>
      </p:sp>
      <p:sp>
        <p:nvSpPr>
          <p:cNvPr id="19" name="Rounded Rectangle 18"/>
          <p:cNvSpPr/>
          <p:nvPr/>
        </p:nvSpPr>
        <p:spPr>
          <a:xfrm>
            <a:off x="897940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057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SECRET GUARD</a:t>
            </a:r>
          </a:p>
        </p:txBody>
      </p:sp>
      <p:sp>
        <p:nvSpPr>
          <p:cNvPr id="21" name="TextBox 20"/>
          <p:cNvSpPr txBox="1"/>
          <p:nvPr/>
        </p:nvSpPr>
        <p:spPr>
          <a:xfrm>
            <a:off x="918057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Credentials typed into chat are detected and refused; command and monitor output is masked.</a:t>
            </a:r>
          </a:p>
        </p:txBody>
      </p:sp>
      <p:sp>
        <p:nvSpPr>
          <p:cNvPr id="22" name="Rounded Rectangle 21"/>
          <p:cNvSpPr/>
          <p:nvPr/>
        </p:nvSpPr>
        <p:spPr>
          <a:xfrm>
            <a:off x="61264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ENCRYPTED KEYS</a:t>
            </a:r>
          </a:p>
        </p:txBody>
      </p:sp>
      <p:sp>
        <p:nvSpPr>
          <p:cNvPr id="24" name="TextBox 23"/>
          <p:cNvSpPr txBox="1"/>
          <p:nvPr/>
        </p:nvSpPr>
        <p:spPr>
          <a:xfrm>
            <a:off x="81381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Integration keys are encrypted per user (Fernet); the builder sees only a secret-free contract.</a:t>
            </a:r>
          </a:p>
        </p:txBody>
      </p:sp>
      <p:sp>
        <p:nvSpPr>
          <p:cNvPr id="25" name="Rounded Rectangle 24"/>
          <p:cNvSpPr/>
          <p:nvPr/>
        </p:nvSpPr>
        <p:spPr>
          <a:xfrm>
            <a:off x="340156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273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DEPLOY VARIABLES</a:t>
            </a:r>
          </a:p>
        </p:txBody>
      </p:sp>
      <p:sp>
        <p:nvSpPr>
          <p:cNvPr id="27" name="TextBox 26"/>
          <p:cNvSpPr txBox="1"/>
          <p:nvPr/>
        </p:nvSpPr>
        <p:spPr>
          <a:xfrm>
            <a:off x="360273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Saved once, shown only as names and last 4 characters, injected only into deploy commands.</a:t>
            </a:r>
          </a:p>
        </p:txBody>
      </p:sp>
      <p:sp>
        <p:nvSpPr>
          <p:cNvPr id="28" name="Rounded Rectangle 27"/>
          <p:cNvSpPr/>
          <p:nvPr/>
        </p:nvSpPr>
        <p:spPr>
          <a:xfrm>
            <a:off x="619048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BROWSER SIGN-IN</a:t>
            </a:r>
          </a:p>
        </p:txBody>
      </p:sp>
      <p:sp>
        <p:nvSpPr>
          <p:cNvPr id="30" name="TextBox 29"/>
          <p:cNvSpPr txBox="1"/>
          <p:nvPr/>
        </p:nvSpPr>
        <p:spPr>
          <a:xfrm>
            <a:off x="639165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Provider CLIs sign in through their own browser flow or GitHub's device flow — no long-lived token is pasted.</a:t>
            </a:r>
          </a:p>
        </p:txBody>
      </p:sp>
      <p:sp>
        <p:nvSpPr>
          <p:cNvPr id="31" name="Rounded Rectangle 30"/>
          <p:cNvSpPr/>
          <p:nvPr/>
        </p:nvSpPr>
        <p:spPr>
          <a:xfrm>
            <a:off x="897940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8057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PASSIVE SECURITY TESTS</a:t>
            </a:r>
          </a:p>
        </p:txBody>
      </p:sp>
      <p:sp>
        <p:nvSpPr>
          <p:cNvPr id="33" name="TextBox 32"/>
          <p:cNvSpPr txBox="1"/>
          <p:nvPr/>
        </p:nvSpPr>
        <p:spPr>
          <a:xfrm>
            <a:off x="918057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ZAP sends GET requests only, to the isolated local server — never to production or third-party hosts.</a:t>
            </a:r>
          </a:p>
        </p:txBody>
      </p:sp>
      <p:sp>
        <p:nvSpPr>
          <p:cNvPr id="34" name="Rounded Rectangle 33"/>
          <p:cNvSpPr/>
          <p:nvPr/>
        </p:nvSpPr>
        <p:spPr>
          <a:xfrm>
            <a:off x="612648" y="6035040"/>
            <a:ext cx="10972800" cy="329184"/>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6035040"/>
            <a:ext cx="10698480" cy="329184"/>
          </a:xfrm>
          <a:prstGeom prst="rect">
            <a:avLst/>
          </a:prstGeom>
          <a:noFill/>
        </p:spPr>
        <p:txBody>
          <a:bodyPr wrap="square" lIns="0" rIns="0" tIns="0" bIns="0" anchor="ctr"/>
          <a:lstStyle/>
          <a:p>
            <a:pPr algn="l"/>
            <a:r>
              <a:rPr sz="1050" b="0" i="0" spc="220">
                <a:solidFill>
                  <a:srgbClr val="111111"/>
                </a:solidFill>
                <a:latin typeface="Urbanist SemiBold"/>
                <a:ea typeface="Urbanist SemiBold"/>
                <a:cs typeface="Urbanist SemiBold"/>
              </a:rPr>
              <a:t>EACH GUARDRAIL IS ENFORCED BY THE BACKEND — NONE DEPENDS ON THE MODEL BEHAVING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TECHNOLOGY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Toolchain: what each tool does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24</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1.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11.png"/>
          <p:cNvPicPr>
            <a:picLocks noChangeAspect="1"/>
          </p:cNvPicPr>
          <p:nvPr/>
        </p:nvPicPr>
        <p:blipFill>
          <a:blip r:embed="rId4"/>
          <a:stretch>
            <a:fillRect/>
          </a:stretch>
        </p:blipFill>
        <p:spPr>
          <a:xfrm>
            <a:off x="989584" y="1691640"/>
            <a:ext cx="384048" cy="384048"/>
          </a:xfrm>
          <a:prstGeom prst="rect">
            <a:avLst/>
          </a:prstGeom>
        </p:spPr>
      </p:pic>
      <p:sp>
        <p:nvSpPr>
          <p:cNvPr id="10" name="TextBox 9"/>
          <p:cNvSpPr txBox="1"/>
          <p:nvPr/>
        </p:nvSpPr>
        <p:spPr>
          <a:xfrm>
            <a:off x="61264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Ollama</a:t>
            </a:r>
          </a:p>
        </p:txBody>
      </p:sp>
      <p:pic>
        <p:nvPicPr>
          <p:cNvPr id="11" name="Picture 10" descr="12.png"/>
          <p:cNvPicPr>
            <a:picLocks noChangeAspect="1"/>
          </p:cNvPicPr>
          <p:nvPr/>
        </p:nvPicPr>
        <p:blipFill>
          <a:blip r:embed="rId5"/>
          <a:stretch>
            <a:fillRect/>
          </a:stretch>
        </p:blipFill>
        <p:spPr>
          <a:xfrm>
            <a:off x="2218944" y="1691640"/>
            <a:ext cx="384048" cy="384048"/>
          </a:xfrm>
          <a:prstGeom prst="rect">
            <a:avLst/>
          </a:prstGeom>
        </p:spPr>
      </p:pic>
      <p:sp>
        <p:nvSpPr>
          <p:cNvPr id="12" name="TextBox 11"/>
          <p:cNvSpPr txBox="1"/>
          <p:nvPr/>
        </p:nvSpPr>
        <p:spPr>
          <a:xfrm>
            <a:off x="184200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Python</a:t>
            </a:r>
          </a:p>
        </p:txBody>
      </p:sp>
      <p:pic>
        <p:nvPicPr>
          <p:cNvPr id="13" name="Picture 12" descr="13.png"/>
          <p:cNvPicPr>
            <a:picLocks noChangeAspect="1"/>
          </p:cNvPicPr>
          <p:nvPr/>
        </p:nvPicPr>
        <p:blipFill>
          <a:blip r:embed="rId6"/>
          <a:stretch>
            <a:fillRect/>
          </a:stretch>
        </p:blipFill>
        <p:spPr>
          <a:xfrm>
            <a:off x="3448304" y="1691640"/>
            <a:ext cx="384048" cy="384048"/>
          </a:xfrm>
          <a:prstGeom prst="rect">
            <a:avLst/>
          </a:prstGeom>
        </p:spPr>
      </p:pic>
      <p:sp>
        <p:nvSpPr>
          <p:cNvPr id="14" name="TextBox 13"/>
          <p:cNvSpPr txBox="1"/>
          <p:nvPr/>
        </p:nvSpPr>
        <p:spPr>
          <a:xfrm>
            <a:off x="307136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Next.js</a:t>
            </a:r>
          </a:p>
        </p:txBody>
      </p:sp>
      <p:pic>
        <p:nvPicPr>
          <p:cNvPr id="15" name="Picture 14" descr="15.png"/>
          <p:cNvPicPr>
            <a:picLocks noChangeAspect="1"/>
          </p:cNvPicPr>
          <p:nvPr/>
        </p:nvPicPr>
        <p:blipFill>
          <a:blip r:embed="rId7"/>
          <a:stretch>
            <a:fillRect/>
          </a:stretch>
        </p:blipFill>
        <p:spPr>
          <a:xfrm>
            <a:off x="4677664" y="1691640"/>
            <a:ext cx="384048" cy="384048"/>
          </a:xfrm>
          <a:prstGeom prst="rect">
            <a:avLst/>
          </a:prstGeom>
        </p:spPr>
      </p:pic>
      <p:sp>
        <p:nvSpPr>
          <p:cNvPr id="16" name="TextBox 15"/>
          <p:cNvSpPr txBox="1"/>
          <p:nvPr/>
        </p:nvSpPr>
        <p:spPr>
          <a:xfrm>
            <a:off x="430072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MongoDB</a:t>
            </a:r>
          </a:p>
        </p:txBody>
      </p:sp>
      <p:pic>
        <p:nvPicPr>
          <p:cNvPr id="17" name="Picture 16" descr="16.png"/>
          <p:cNvPicPr>
            <a:picLocks noChangeAspect="1"/>
          </p:cNvPicPr>
          <p:nvPr/>
        </p:nvPicPr>
        <p:blipFill>
          <a:blip r:embed="rId8"/>
          <a:stretch>
            <a:fillRect/>
          </a:stretch>
        </p:blipFill>
        <p:spPr>
          <a:xfrm>
            <a:off x="5907024" y="1691640"/>
            <a:ext cx="384048" cy="384048"/>
          </a:xfrm>
          <a:prstGeom prst="rect">
            <a:avLst/>
          </a:prstGeom>
        </p:spPr>
      </p:pic>
      <p:sp>
        <p:nvSpPr>
          <p:cNvPr id="18" name="TextBox 17"/>
          <p:cNvSpPr txBox="1"/>
          <p:nvPr/>
        </p:nvSpPr>
        <p:spPr>
          <a:xfrm>
            <a:off x="553008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Vitest</a:t>
            </a:r>
          </a:p>
        </p:txBody>
      </p:sp>
      <p:pic>
        <p:nvPicPr>
          <p:cNvPr id="19" name="Picture 18" descr="17.png"/>
          <p:cNvPicPr>
            <a:picLocks noChangeAspect="1"/>
          </p:cNvPicPr>
          <p:nvPr/>
        </p:nvPicPr>
        <p:blipFill>
          <a:blip r:embed="rId9"/>
          <a:stretch>
            <a:fillRect/>
          </a:stretch>
        </p:blipFill>
        <p:spPr>
          <a:xfrm>
            <a:off x="7136384" y="1691640"/>
            <a:ext cx="384048" cy="384048"/>
          </a:xfrm>
          <a:prstGeom prst="rect">
            <a:avLst/>
          </a:prstGeom>
        </p:spPr>
      </p:pic>
      <p:sp>
        <p:nvSpPr>
          <p:cNvPr id="20" name="TextBox 19"/>
          <p:cNvSpPr txBox="1"/>
          <p:nvPr/>
        </p:nvSpPr>
        <p:spPr>
          <a:xfrm>
            <a:off x="675944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Playwright</a:t>
            </a:r>
          </a:p>
        </p:txBody>
      </p:sp>
      <p:pic>
        <p:nvPicPr>
          <p:cNvPr id="21" name="Picture 20" descr="18.png"/>
          <p:cNvPicPr>
            <a:picLocks noChangeAspect="1"/>
          </p:cNvPicPr>
          <p:nvPr/>
        </p:nvPicPr>
        <p:blipFill>
          <a:blip r:embed="rId10"/>
          <a:stretch>
            <a:fillRect/>
          </a:stretch>
        </p:blipFill>
        <p:spPr>
          <a:xfrm>
            <a:off x="8365744" y="1691640"/>
            <a:ext cx="384048" cy="384048"/>
          </a:xfrm>
          <a:prstGeom prst="rect">
            <a:avLst/>
          </a:prstGeom>
        </p:spPr>
      </p:pic>
      <p:sp>
        <p:nvSpPr>
          <p:cNvPr id="22" name="TextBox 21"/>
          <p:cNvSpPr txBox="1"/>
          <p:nvPr/>
        </p:nvSpPr>
        <p:spPr>
          <a:xfrm>
            <a:off x="798880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Lighthouse</a:t>
            </a:r>
          </a:p>
        </p:txBody>
      </p:sp>
      <p:pic>
        <p:nvPicPr>
          <p:cNvPr id="23" name="Picture 22" descr="19.png"/>
          <p:cNvPicPr>
            <a:picLocks noChangeAspect="1"/>
          </p:cNvPicPr>
          <p:nvPr/>
        </p:nvPicPr>
        <p:blipFill>
          <a:blip r:embed="rId11"/>
          <a:stretch>
            <a:fillRect/>
          </a:stretch>
        </p:blipFill>
        <p:spPr>
          <a:xfrm>
            <a:off x="9595104" y="1691640"/>
            <a:ext cx="384048" cy="384048"/>
          </a:xfrm>
          <a:prstGeom prst="rect">
            <a:avLst/>
          </a:prstGeom>
        </p:spPr>
      </p:pic>
      <p:sp>
        <p:nvSpPr>
          <p:cNvPr id="24" name="TextBox 23"/>
          <p:cNvSpPr txBox="1"/>
          <p:nvPr/>
        </p:nvSpPr>
        <p:spPr>
          <a:xfrm>
            <a:off x="921816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OWASP ZAP</a:t>
            </a:r>
          </a:p>
        </p:txBody>
      </p:sp>
      <p:pic>
        <p:nvPicPr>
          <p:cNvPr id="25" name="Picture 24" descr="20.png"/>
          <p:cNvPicPr>
            <a:picLocks noChangeAspect="1"/>
          </p:cNvPicPr>
          <p:nvPr/>
        </p:nvPicPr>
        <p:blipFill>
          <a:blip r:embed="rId12"/>
          <a:stretch>
            <a:fillRect/>
          </a:stretch>
        </p:blipFill>
        <p:spPr>
          <a:xfrm>
            <a:off x="10824464" y="1691640"/>
            <a:ext cx="384048" cy="384048"/>
          </a:xfrm>
          <a:prstGeom prst="rect">
            <a:avLst/>
          </a:prstGeom>
        </p:spPr>
      </p:pic>
      <p:sp>
        <p:nvSpPr>
          <p:cNvPr id="26" name="TextBox 25"/>
          <p:cNvSpPr txBox="1"/>
          <p:nvPr/>
        </p:nvSpPr>
        <p:spPr>
          <a:xfrm>
            <a:off x="1044752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GitHub</a:t>
            </a:r>
          </a:p>
        </p:txBody>
      </p:sp>
      <p:graphicFrame>
        <p:nvGraphicFramePr>
          <p:cNvPr id="27" name="Table 26"/>
          <p:cNvGraphicFramePr>
            <a:graphicFrameLocks noGrp="1"/>
          </p:cNvGraphicFramePr>
          <p:nvPr/>
        </p:nvGraphicFramePr>
        <p:xfrm>
          <a:off x="612648" y="2450592"/>
          <a:ext cx="10972800" cy="3849624"/>
        </p:xfrm>
        <a:graphic>
          <a:graphicData uri="http://schemas.openxmlformats.org/drawingml/2006/table">
            <a:tbl>
              <a:tblPr firstRow="0" bandRow="0" firstCol="0" lastRow="0" lastCol="0" bandCol="0">
                <a:tableStyleId>{2D5ABB26-0587-4C30-8999-92F81FD0307C}</a:tableStyleId>
              </a:tblPr>
              <a:tblGrid>
                <a:gridCol w="3291840"/>
                <a:gridCol w="5760720"/>
                <a:gridCol w="1920240"/>
              </a:tblGrid>
              <a:tr h="329184">
                <a:tc>
                  <a:txBody>
                    <a:bodyPr wrap="square"/>
                    <a:lstStyle/>
                    <a:p>
                      <a:pPr algn="l"/>
                      <a:r>
                        <a:rPr sz="1100" b="0" i="0">
                          <a:solidFill>
                            <a:srgbClr val="111111"/>
                          </a:solidFill>
                          <a:latin typeface="Outfit ExtraBold"/>
                          <a:ea typeface="Outfit ExtraBold"/>
                          <a:cs typeface="Outfit ExtraBold"/>
                        </a:rPr>
                        <a:t>Tool</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What it does in AgentForge</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Used by</a:t>
                      </a:r>
                    </a:p>
                  </a:txBody>
                  <a:tcPr marL="109728" marR="91440" marT="36576" marB="36576" anchor="ctr">
                    <a:lnL w="0">
                      <a:noFill/>
                    </a:lnL>
                    <a:lnR w="0">
                      <a:noFill/>
                    </a:lnR>
                    <a:lnT w="0">
                      <a:noFill/>
                    </a:lnT>
                    <a:lnB w="9525">
                      <a:solidFill>
                        <a:srgbClr val="D5DEEF"/>
                      </a:solidFill>
                    </a:lnB>
                    <a:solidFill>
                      <a:srgbClr val="CCDDFF"/>
                    </a:solidFill>
                  </a:tcPr>
                </a:tc>
              </a:tr>
              <a:tr h="352044">
                <a:tc>
                  <a:txBody>
                    <a:bodyPr wrap="square"/>
                    <a:lstStyle/>
                    <a:p>
                      <a:pPr algn="l"/>
                      <a:r>
                        <a:rPr sz="1150" b="1" i="0">
                          <a:solidFill>
                            <a:srgbClr val="111111"/>
                          </a:solidFill>
                          <a:latin typeface="Inter"/>
                          <a:ea typeface="Inter"/>
                          <a:cs typeface="Inter"/>
                        </a:rPr>
                        <a:t>Ollama (local or cloud)</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Runs the LLM with native tool calling, web search and web fetch</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agents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Python · Pydantic · Fernet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Backend runtime, SRS schema validation, credential encryption</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Platform · SRS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Next.js · React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The Studio interface for every stage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Platform</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Mermaid CLI · Chromium</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Renders the 11 diagram types to SVG</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SRS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Next.js · Remix · Express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Bundled application scaffolds and data layer</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Vitest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Unit tests for business logic</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 · 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Playwright · axe-core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E2E journeys, screenshots, live view, WCAG accessibility</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 · 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Lighthouse CI · OWASP ZAP · npm audit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Performance, passive security, dependency advisories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git · GitHub CLI</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Repository, commits under the customer's name, CI insight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Deploy</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Vercel · Netlify · Azure · AWS CLIs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Provider sign-in, release and read-only monitors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Deploy</a:t>
                      </a:r>
                    </a:p>
                  </a:txBody>
                  <a:tcPr marL="109728" marR="91440" marT="36576" marB="36576" anchor="ctr">
                    <a:lnL w="0">
                      <a:noFill/>
                    </a:lnL>
                    <a:lnR w="0">
                      <a:noFill/>
                    </a:lnR>
                    <a:lnT w="0">
                      <a:noFill/>
                    </a:lnT>
                    <a:lnB w="9525">
                      <a:solidFill>
                        <a:srgbClr val="D5DEEF"/>
                      </a:solidFill>
                    </a:lnB>
                    <a:no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RESEARCH METHOD</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AgentForge will be evaluated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25</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75.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COMPLETENESS</a:t>
            </a:r>
          </a:p>
        </p:txBody>
      </p:sp>
      <p:sp>
        <p:nvSpPr>
          <p:cNvPr id="11" name="TextBox 10"/>
          <p:cNvSpPr txBox="1"/>
          <p:nvPr/>
        </p:nvSpPr>
        <p:spPr>
          <a:xfrm>
            <a:off x="81381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Share of planned screens, roles, records and features traced into SRS, prototype and built routes.</a:t>
            </a:r>
          </a:p>
        </p:txBody>
      </p:sp>
      <p:sp>
        <p:nvSpPr>
          <p:cNvPr id="12" name="TextBox 11"/>
          <p:cNvSpPr txBox="1"/>
          <p:nvPr/>
        </p:nvSpPr>
        <p:spPr>
          <a:xfrm>
            <a:off x="81381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13" name="TextBox 12"/>
          <p:cNvSpPr txBox="1"/>
          <p:nvPr/>
        </p:nvSpPr>
        <p:spPr>
          <a:xfrm>
            <a:off x="81381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plan.json · srs.json · routes.json · build report</a:t>
            </a:r>
          </a:p>
        </p:txBody>
      </p:sp>
      <p:sp>
        <p:nvSpPr>
          <p:cNvPr id="14" name="Rounded Rectangle 13"/>
          <p:cNvSpPr/>
          <p:nvPr/>
        </p:nvSpPr>
        <p:spPr>
          <a:xfrm>
            <a:off x="340156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CORRECTNESS</a:t>
            </a:r>
          </a:p>
        </p:txBody>
      </p:sp>
      <p:sp>
        <p:nvSpPr>
          <p:cNvPr id="16" name="TextBox 15"/>
          <p:cNvSpPr txBox="1"/>
          <p:nvPr/>
        </p:nvSpPr>
        <p:spPr>
          <a:xfrm>
            <a:off x="360273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Build success, healthy runtime routes, unit pass rate, SRS journeys passing in Playwright.</a:t>
            </a:r>
          </a:p>
        </p:txBody>
      </p:sp>
      <p:sp>
        <p:nvSpPr>
          <p:cNvPr id="17" name="TextBox 16"/>
          <p:cNvSpPr txBox="1"/>
          <p:nvPr/>
        </p:nvSpPr>
        <p:spPr>
          <a:xfrm>
            <a:off x="360273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18" name="TextBox 17"/>
          <p:cNvSpPr txBox="1"/>
          <p:nvPr/>
        </p:nvSpPr>
        <p:spPr>
          <a:xfrm>
            <a:off x="360273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runner JSON · qa/report.json</a:t>
            </a:r>
          </a:p>
        </p:txBody>
      </p:sp>
      <p:sp>
        <p:nvSpPr>
          <p:cNvPr id="19" name="Rounded Rectangle 18"/>
          <p:cNvSpPr/>
          <p:nvPr/>
        </p:nvSpPr>
        <p:spPr>
          <a:xfrm>
            <a:off x="619048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QUALITY</a:t>
            </a:r>
          </a:p>
        </p:txBody>
      </p:sp>
      <p:sp>
        <p:nvSpPr>
          <p:cNvPr id="21" name="TextBox 20"/>
          <p:cNvSpPr txBox="1"/>
          <p:nvPr/>
        </p:nvSpPr>
        <p:spPr>
          <a:xfrm>
            <a:off x="639165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axe violations by impact, Lighthouse scores, ZAP findings, dependency advisories.</a:t>
            </a:r>
          </a:p>
        </p:txBody>
      </p:sp>
      <p:sp>
        <p:nvSpPr>
          <p:cNvPr id="22" name="TextBox 21"/>
          <p:cNvSpPr txBox="1"/>
          <p:nvPr/>
        </p:nvSpPr>
        <p:spPr>
          <a:xfrm>
            <a:off x="639165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23" name="TextBox 22"/>
          <p:cNvSpPr txBox="1"/>
          <p:nvPr/>
        </p:nvSpPr>
        <p:spPr>
          <a:xfrm>
            <a:off x="639165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QA artifacts per route</a:t>
            </a:r>
          </a:p>
        </p:txBody>
      </p:sp>
      <p:sp>
        <p:nvSpPr>
          <p:cNvPr id="24" name="Rounded Rectangle 23"/>
          <p:cNvSpPr/>
          <p:nvPr/>
        </p:nvSpPr>
        <p:spPr>
          <a:xfrm>
            <a:off x="897940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057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EFFORT AND COST</a:t>
            </a:r>
          </a:p>
        </p:txBody>
      </p:sp>
      <p:sp>
        <p:nvSpPr>
          <p:cNvPr id="26" name="TextBox 25"/>
          <p:cNvSpPr txBox="1"/>
          <p:nvPr/>
        </p:nvSpPr>
        <p:spPr>
          <a:xfrm>
            <a:off x="9180576" y="2258949"/>
            <a:ext cx="220370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Human interventions, repair rounds, tokens and time from idea to a probed live URL.</a:t>
            </a:r>
          </a:p>
        </p:txBody>
      </p:sp>
      <p:sp>
        <p:nvSpPr>
          <p:cNvPr id="27" name="TextBox 26"/>
          <p:cNvSpPr txBox="1"/>
          <p:nvPr/>
        </p:nvSpPr>
        <p:spPr>
          <a:xfrm>
            <a:off x="918057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28" name="TextBox 27"/>
          <p:cNvSpPr txBox="1"/>
          <p:nvPr/>
        </p:nvSpPr>
        <p:spPr>
          <a:xfrm>
            <a:off x="918057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events.jsonl · versions · deploy run</a:t>
            </a:r>
          </a:p>
        </p:txBody>
      </p:sp>
      <p:sp>
        <p:nvSpPr>
          <p:cNvPr id="29" name="Rounded Rectangle 28"/>
          <p:cNvSpPr/>
          <p:nvPr/>
        </p:nvSpPr>
        <p:spPr>
          <a:xfrm>
            <a:off x="612648" y="4343400"/>
            <a:ext cx="1097280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4498848"/>
            <a:ext cx="54864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STUDY DESIGN</a:t>
            </a:r>
          </a:p>
        </p:txBody>
      </p:sp>
      <p:sp>
        <p:nvSpPr>
          <p:cNvPr id="31" name="TextBox 30"/>
          <p:cNvSpPr txBox="1"/>
          <p:nvPr/>
        </p:nvSpPr>
        <p:spPr>
          <a:xfrm>
            <a:off x="886968"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CORPUS</a:t>
            </a:r>
          </a:p>
        </p:txBody>
      </p:sp>
      <p:sp>
        <p:nvSpPr>
          <p:cNvPr id="32" name="TextBox 31"/>
          <p:cNvSpPr txBox="1"/>
          <p:nvPr/>
        </p:nvSpPr>
        <p:spPr>
          <a:xfrm>
            <a:off x="886968" y="5198999"/>
            <a:ext cx="2400300"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10+ projects spread across the 10 app types: POS, booking, e-commerce, SaaS, dashboard…</a:t>
            </a:r>
          </a:p>
        </p:txBody>
      </p:sp>
      <p:sp>
        <p:nvSpPr>
          <p:cNvPr id="33" name="TextBox 32"/>
          <p:cNvSpPr txBox="1"/>
          <p:nvPr/>
        </p:nvSpPr>
        <p:spPr>
          <a:xfrm>
            <a:off x="3561587"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BASELINES</a:t>
            </a:r>
          </a:p>
        </p:txBody>
      </p:sp>
      <p:sp>
        <p:nvSpPr>
          <p:cNvPr id="34" name="TextBox 33"/>
          <p:cNvSpPr txBox="1"/>
          <p:nvPr/>
        </p:nvSpPr>
        <p:spPr>
          <a:xfrm>
            <a:off x="3561587"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Single-prompt code generation, and a multi-agent pipeline with isolated contexts.</a:t>
            </a:r>
          </a:p>
        </p:txBody>
      </p:sp>
      <p:sp>
        <p:nvSpPr>
          <p:cNvPr id="35" name="TextBox 34"/>
          <p:cNvSpPr txBox="1"/>
          <p:nvPr/>
        </p:nvSpPr>
        <p:spPr>
          <a:xfrm>
            <a:off x="6236207"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ABLATIONS</a:t>
            </a:r>
          </a:p>
        </p:txBody>
      </p:sp>
      <p:sp>
        <p:nvSpPr>
          <p:cNvPr id="36" name="TextBox 35"/>
          <p:cNvSpPr txBox="1"/>
          <p:nvPr/>
        </p:nvSpPr>
        <p:spPr>
          <a:xfrm>
            <a:off x="6236207"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Remove the coverage gate, the shared context or the QA repair loop — one at a time.</a:t>
            </a:r>
          </a:p>
        </p:txBody>
      </p:sp>
      <p:sp>
        <p:nvSpPr>
          <p:cNvPr id="37" name="TextBox 36"/>
          <p:cNvSpPr txBox="1"/>
          <p:nvPr/>
        </p:nvSpPr>
        <p:spPr>
          <a:xfrm>
            <a:off x="8910828"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MODELS</a:t>
            </a:r>
          </a:p>
        </p:txBody>
      </p:sp>
      <p:sp>
        <p:nvSpPr>
          <p:cNvPr id="38" name="TextBox 37"/>
          <p:cNvSpPr txBox="1"/>
          <p:nvPr/>
        </p:nvSpPr>
        <p:spPr>
          <a:xfrm>
            <a:off x="8910828"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Local open-weight versus cloud models, through the same Ollama interface.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INTERPRETATION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Known limits and how they are handled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9.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MODEL QUALITY</a:t>
            </a:r>
          </a:p>
        </p:txBody>
      </p:sp>
      <p:sp>
        <p:nvSpPr>
          <p:cNvPr id="11" name="TextBox 10"/>
          <p:cNvSpPr txBox="1"/>
          <p:nvPr/>
        </p:nvSpPr>
        <p:spPr>
          <a:xfrm>
            <a:off x="8412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Weaker local models need more repair rounds.</a:t>
            </a:r>
          </a:p>
        </p:txBody>
      </p:sp>
      <p:sp>
        <p:nvSpPr>
          <p:cNvPr id="12" name="TextBox 11"/>
          <p:cNvSpPr txBox="1"/>
          <p:nvPr/>
        </p:nvSpPr>
        <p:spPr>
          <a:xfrm>
            <a:off x="8412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13" name="TextBox 12"/>
          <p:cNvSpPr txBox="1"/>
          <p:nvPr/>
        </p:nvSpPr>
        <p:spPr>
          <a:xfrm>
            <a:off x="8412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Gates and in-context repair; switching model keeps the context.</a:t>
            </a:r>
          </a:p>
        </p:txBody>
      </p:sp>
      <p:sp>
        <p:nvSpPr>
          <p:cNvPr id="14" name="Rounded Rectangle 13"/>
          <p:cNvSpPr/>
          <p:nvPr/>
        </p:nvSpPr>
        <p:spPr>
          <a:xfrm>
            <a:off x="43464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0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CONTEXT WINDOW</a:t>
            </a:r>
          </a:p>
        </p:txBody>
      </p:sp>
      <p:sp>
        <p:nvSpPr>
          <p:cNvPr id="16" name="TextBox 15"/>
          <p:cNvSpPr txBox="1"/>
          <p:nvPr/>
        </p:nvSpPr>
        <p:spPr>
          <a:xfrm>
            <a:off x="45750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Long builds exceed the model's window.</a:t>
            </a:r>
          </a:p>
        </p:txBody>
      </p:sp>
      <p:sp>
        <p:nvSpPr>
          <p:cNvPr id="17" name="TextBox 16"/>
          <p:cNvSpPr txBox="1"/>
          <p:nvPr/>
        </p:nvSpPr>
        <p:spPr>
          <a:xfrm>
            <a:off x="45750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18" name="TextBox 17"/>
          <p:cNvSpPr txBox="1"/>
          <p:nvPr/>
        </p:nvSpPr>
        <p:spPr>
          <a:xfrm>
            <a:off x="45750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Summarised memory with a digest fallback; files stay the source of truth.</a:t>
            </a:r>
          </a:p>
        </p:txBody>
      </p:sp>
      <p:sp>
        <p:nvSpPr>
          <p:cNvPr id="19" name="Rounded Rectangle 18"/>
          <p:cNvSpPr/>
          <p:nvPr/>
        </p:nvSpPr>
        <p:spPr>
          <a:xfrm>
            <a:off x="80802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EXTERNAL SERVICES</a:t>
            </a:r>
          </a:p>
        </p:txBody>
      </p:sp>
      <p:sp>
        <p:nvSpPr>
          <p:cNvPr id="21" name="TextBox 20"/>
          <p:cNvSpPr txBox="1"/>
          <p:nvPr/>
        </p:nvSpPr>
        <p:spPr>
          <a:xfrm>
            <a:off x="83088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Database, CLIs and cloud accounts must be ready.</a:t>
            </a:r>
          </a:p>
        </p:txBody>
      </p:sp>
      <p:sp>
        <p:nvSpPr>
          <p:cNvPr id="22" name="TextBox 21"/>
          <p:cNvSpPr txBox="1"/>
          <p:nvPr/>
        </p:nvSpPr>
        <p:spPr>
          <a:xfrm>
            <a:off x="83088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23" name="TextBox 22"/>
          <p:cNvSpPr txBox="1"/>
          <p:nvPr/>
        </p:nvSpPr>
        <p:spPr>
          <a:xfrm>
            <a:off x="83088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Machine facts are measured; the plan asks instead of assuming.</a:t>
            </a:r>
          </a:p>
        </p:txBody>
      </p:sp>
      <p:sp>
        <p:nvSpPr>
          <p:cNvPr id="24" name="Rounded Rectangle 23"/>
          <p:cNvSpPr/>
          <p:nvPr/>
        </p:nvSpPr>
        <p:spPr>
          <a:xfrm>
            <a:off x="6126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TEST COVERAGE</a:t>
            </a:r>
          </a:p>
        </p:txBody>
      </p:sp>
      <p:sp>
        <p:nvSpPr>
          <p:cNvPr id="26" name="TextBox 25"/>
          <p:cNvSpPr txBox="1"/>
          <p:nvPr/>
        </p:nvSpPr>
        <p:spPr>
          <a:xfrm>
            <a:off x="8412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A passing runner cannot prove a requirement it never tested.</a:t>
            </a:r>
          </a:p>
        </p:txBody>
      </p:sp>
      <p:sp>
        <p:nvSpPr>
          <p:cNvPr id="27" name="TextBox 26"/>
          <p:cNvSpPr txBox="1"/>
          <p:nvPr/>
        </p:nvSpPr>
        <p:spPr>
          <a:xfrm>
            <a:off x="8412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28" name="TextBox 27"/>
          <p:cNvSpPr txBox="1"/>
          <p:nvPr/>
        </p:nvSpPr>
        <p:spPr>
          <a:xfrm>
            <a:off x="8412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Journey IDs come from the SRS; gaps are disclosed; missing ≠ pass.</a:t>
            </a:r>
          </a:p>
        </p:txBody>
      </p:sp>
      <p:sp>
        <p:nvSpPr>
          <p:cNvPr id="29" name="Rounded Rectangle 28"/>
          <p:cNvSpPr/>
          <p:nvPr/>
        </p:nvSpPr>
        <p:spPr>
          <a:xfrm>
            <a:off x="43464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50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EVIDENCE BREADTH</a:t>
            </a:r>
          </a:p>
        </p:txBody>
      </p:sp>
      <p:sp>
        <p:nvSpPr>
          <p:cNvPr id="31" name="TextBox 30"/>
          <p:cNvSpPr txBox="1"/>
          <p:nvPr/>
        </p:nvSpPr>
        <p:spPr>
          <a:xfrm>
            <a:off x="45750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Few complete end-to-end runs so far.</a:t>
            </a:r>
          </a:p>
        </p:txBody>
      </p:sp>
      <p:sp>
        <p:nvSpPr>
          <p:cNvPr id="32" name="TextBox 31"/>
          <p:cNvSpPr txBox="1"/>
          <p:nvPr/>
        </p:nvSpPr>
        <p:spPr>
          <a:xfrm>
            <a:off x="45750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33" name="TextBox 32"/>
          <p:cNvSpPr txBox="1"/>
          <p:nvPr/>
        </p:nvSpPr>
        <p:spPr>
          <a:xfrm>
            <a:off x="45750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Repeated runs across app types in the evaluation plan.</a:t>
            </a:r>
          </a:p>
        </p:txBody>
      </p:sp>
      <p:sp>
        <p:nvSpPr>
          <p:cNvPr id="34" name="Rounded Rectangle 33"/>
          <p:cNvSpPr/>
          <p:nvPr/>
        </p:nvSpPr>
        <p:spPr>
          <a:xfrm>
            <a:off x="80802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088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TIME AND COST</a:t>
            </a:r>
          </a:p>
        </p:txBody>
      </p:sp>
      <p:sp>
        <p:nvSpPr>
          <p:cNvPr id="36" name="TextBox 35"/>
          <p:cNvSpPr txBox="1"/>
          <p:nvPr/>
        </p:nvSpPr>
        <p:spPr>
          <a:xfrm>
            <a:off x="83088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A full build with tests can take hours.</a:t>
            </a:r>
          </a:p>
        </p:txBody>
      </p:sp>
      <p:sp>
        <p:nvSpPr>
          <p:cNvPr id="37" name="TextBox 36"/>
          <p:cNvSpPr txBox="1"/>
          <p:nvPr/>
        </p:nvSpPr>
        <p:spPr>
          <a:xfrm>
            <a:off x="83088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38" name="TextBox 37"/>
          <p:cNvSpPr txBox="1"/>
          <p:nvPr/>
        </p:nvSpPr>
        <p:spPr>
          <a:xfrm>
            <a:off x="83088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Selective reruns, parallel writes and resume after interruption.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CONCLUSION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27</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Rounded Rectangle 7"/>
          <p:cNvSpPr/>
          <p:nvPr/>
        </p:nvSpPr>
        <p:spPr>
          <a:xfrm>
            <a:off x="612648" y="1051560"/>
            <a:ext cx="7223760" cy="13258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207008"/>
            <a:ext cx="6766560" cy="1051560"/>
          </a:xfrm>
          <a:prstGeom prst="rect">
            <a:avLst/>
          </a:prstGeom>
          <a:noFill/>
        </p:spPr>
        <p:txBody>
          <a:bodyPr wrap="square" lIns="0" rIns="0" tIns="0" bIns="0" anchor="t"/>
          <a:lstStyle/>
          <a:p>
            <a:pPr algn="l">
              <a:lnSpc>
                <a:spcPct val="92000"/>
              </a:lnSpc>
            </a:pPr>
            <a:r>
              <a:rPr sz="3200" b="1" i="0" spc="-96">
                <a:solidFill>
                  <a:srgbClr val="111111"/>
                </a:solidFill>
                <a:latin typeface="Inter Bold"/>
                <a:ea typeface="Inter Bold"/>
                <a:cs typeface="Inter Bold"/>
              </a:rPr>
              <a:t>AgentForge makes every handoff inspectable</a:t>
            </a:r>
          </a:p>
        </p:txBody>
      </p:sp>
      <p:sp>
        <p:nvSpPr>
          <p:cNvPr id="10" name="TextBox 9"/>
          <p:cNvSpPr txBox="1"/>
          <p:nvPr/>
        </p:nvSpPr>
        <p:spPr>
          <a:xfrm>
            <a:off x="612648" y="2606040"/>
            <a:ext cx="7223760" cy="868680"/>
          </a:xfrm>
          <a:prstGeom prst="rect">
            <a:avLst/>
          </a:prstGeom>
          <a:noFill/>
        </p:spPr>
        <p:txBody>
          <a:bodyPr wrap="square" lIns="0" rIns="0" tIns="0" bIns="0" anchor="t"/>
          <a:lstStyle/>
          <a:p>
            <a:pPr algn="l">
              <a:lnSpc>
                <a:spcPct val="105000"/>
              </a:lnSpc>
            </a:pPr>
            <a:r>
              <a:rPr sz="1350" b="0" i="0">
                <a:solidFill>
                  <a:srgbClr val="111111"/>
                </a:solidFill>
                <a:latin typeface="Inter"/>
                <a:ea typeface="Inter"/>
                <a:cs typeface="Inter"/>
              </a:rPr>
              <a:t>Five specialist LLM agents — SRS, prototype, builder, QA and deploy — work through one persistent project context. Deterministic gates, runner evidence and human approvals turn an idea into an application whose every step can be inspected.</a:t>
            </a:r>
          </a:p>
        </p:txBody>
      </p:sp>
      <p:sp>
        <p:nvSpPr>
          <p:cNvPr id="11" name="TextBox 10"/>
          <p:cNvSpPr txBox="1"/>
          <p:nvPr/>
        </p:nvSpPr>
        <p:spPr>
          <a:xfrm>
            <a:off x="612648" y="3657600"/>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C1 · SHARED-CONTEXT AGENTS</a:t>
            </a:r>
          </a:p>
        </p:txBody>
      </p:sp>
      <p:sp>
        <p:nvSpPr>
          <p:cNvPr id="12" name="TextBox 11"/>
          <p:cNvSpPr txBox="1"/>
          <p:nvPr/>
        </p:nvSpPr>
        <p:spPr>
          <a:xfrm>
            <a:off x="612648" y="3917632"/>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Five roles, one conversation and one workspace, persisted across restarts.</a:t>
            </a:r>
          </a:p>
        </p:txBody>
      </p:sp>
      <p:sp>
        <p:nvSpPr>
          <p:cNvPr id="13" name="TextBox 12"/>
          <p:cNvSpPr txBox="1"/>
          <p:nvPr/>
        </p:nvSpPr>
        <p:spPr>
          <a:xfrm>
            <a:off x="4384548" y="3657600"/>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C2 · DETERMINISTIC GATES</a:t>
            </a:r>
          </a:p>
        </p:txBody>
      </p:sp>
      <p:sp>
        <p:nvSpPr>
          <p:cNvPr id="14" name="TextBox 13"/>
          <p:cNvSpPr txBox="1"/>
          <p:nvPr/>
        </p:nvSpPr>
        <p:spPr>
          <a:xfrm>
            <a:off x="4384548" y="3917632"/>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Plan depth, schema, coverage and a Python-decided standards review.</a:t>
            </a:r>
          </a:p>
        </p:txBody>
      </p:sp>
      <p:sp>
        <p:nvSpPr>
          <p:cNvPr id="15" name="TextBox 14"/>
          <p:cNvSpPr txBox="1"/>
          <p:nvPr/>
        </p:nvSpPr>
        <p:spPr>
          <a:xfrm>
            <a:off x="612648" y="4645152"/>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C3 · EVIDENCE-FIRST QA</a:t>
            </a:r>
          </a:p>
        </p:txBody>
      </p:sp>
      <p:sp>
        <p:nvSpPr>
          <p:cNvPr id="16" name="TextBox 15"/>
          <p:cNvSpPr txBox="1"/>
          <p:nvPr/>
        </p:nvSpPr>
        <p:spPr>
          <a:xfrm>
            <a:off x="612648" y="4905184"/>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Runner artifacts, honest gaps, and repair of only what failed.</a:t>
            </a:r>
          </a:p>
        </p:txBody>
      </p:sp>
      <p:sp>
        <p:nvSpPr>
          <p:cNvPr id="17" name="TextBox 16"/>
          <p:cNvSpPr txBox="1"/>
          <p:nvPr/>
        </p:nvSpPr>
        <p:spPr>
          <a:xfrm>
            <a:off x="4384548" y="4645152"/>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C4 · GOVERNED DELIVERY</a:t>
            </a:r>
          </a:p>
        </p:txBody>
      </p:sp>
      <p:sp>
        <p:nvSpPr>
          <p:cNvPr id="18" name="TextBox 17"/>
          <p:cNvSpPr txBox="1"/>
          <p:nvPr/>
        </p:nvSpPr>
        <p:spPr>
          <a:xfrm>
            <a:off x="4384548" y="4905184"/>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Plan-first deployment with independent live verification.</a:t>
            </a:r>
          </a:p>
        </p:txBody>
      </p:sp>
      <p:sp>
        <p:nvSpPr>
          <p:cNvPr id="19" name="TextBox 18"/>
          <p:cNvSpPr txBox="1"/>
          <p:nvPr/>
        </p:nvSpPr>
        <p:spPr>
          <a:xfrm>
            <a:off x="612648" y="5596128"/>
            <a:ext cx="7223760" cy="548640"/>
          </a:xfrm>
          <a:prstGeom prst="rect">
            <a:avLst/>
          </a:prstGeom>
          <a:noFill/>
        </p:spPr>
        <p:txBody>
          <a:bodyPr wrap="square" lIns="0" rIns="0" tIns="0" bIns="0" anchor="t"/>
          <a:lstStyle/>
          <a:p>
            <a:pPr algn="l">
              <a:lnSpc>
                <a:spcPct val="100000"/>
              </a:lnSpc>
            </a:pPr>
            <a:r>
              <a:rPr sz="1500" b="0" i="0" spc="15">
                <a:solidFill>
                  <a:srgbClr val="1F6BFF"/>
                </a:solidFill>
                <a:latin typeface="Outfit ExtraBold"/>
                <a:ea typeface="Outfit ExtraBold"/>
                <a:cs typeface="Outfit ExtraBold"/>
              </a:rPr>
              <a:t>NEXT: REPEATED END-TO-END RUNS WITH VERIFIED REQUIREMENTS COVERAGE AND A LIVE, PROBED RELEASE.</a:t>
            </a:r>
          </a:p>
        </p:txBody>
      </p:sp>
      <p:pic>
        <p:nvPicPr>
          <p:cNvPr id="20" name="Picture 19" descr="77.png"/>
          <p:cNvPicPr>
            <a:picLocks noChangeAspect="1"/>
          </p:cNvPicPr>
          <p:nvPr/>
        </p:nvPicPr>
        <p:blipFill>
          <a:blip r:embed="rId3"/>
          <a:stretch>
            <a:fillRect/>
          </a:stretch>
        </p:blipFill>
        <p:spPr>
          <a:xfrm>
            <a:off x="8732520" y="1417320"/>
            <a:ext cx="2834640" cy="3776472"/>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THANK YOU</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28</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TextBox 7"/>
          <p:cNvSpPr txBox="1"/>
          <p:nvPr/>
        </p:nvSpPr>
        <p:spPr>
          <a:xfrm>
            <a:off x="612648" y="2103120"/>
            <a:ext cx="7315200" cy="914400"/>
          </a:xfrm>
          <a:prstGeom prst="rect">
            <a:avLst/>
          </a:prstGeom>
          <a:noFill/>
        </p:spPr>
        <p:txBody>
          <a:bodyPr wrap="square" lIns="0" rIns="0" tIns="0" bIns="0" anchor="t"/>
          <a:lstStyle/>
          <a:p>
            <a:pPr algn="l"/>
            <a:r>
              <a:rPr sz="6000" b="0" i="0" spc="-120">
                <a:solidFill>
                  <a:srgbClr val="111111"/>
                </a:solidFill>
                <a:latin typeface="Inter"/>
                <a:ea typeface="Inter"/>
                <a:cs typeface="Inter"/>
              </a:rPr>
              <a:t>QUESTIONS?</a:t>
            </a:r>
          </a:p>
        </p:txBody>
      </p:sp>
      <p:sp>
        <p:nvSpPr>
          <p:cNvPr id="9" name="TextBox 8"/>
          <p:cNvSpPr txBox="1"/>
          <p:nvPr/>
        </p:nvSpPr>
        <p:spPr>
          <a:xfrm>
            <a:off x="612648" y="3337560"/>
            <a:ext cx="7498079" cy="320040"/>
          </a:xfrm>
          <a:prstGeom prst="rect">
            <a:avLst/>
          </a:prstGeom>
          <a:noFill/>
        </p:spPr>
        <p:txBody>
          <a:bodyPr wrap="square" lIns="0" rIns="0" tIns="0" bIns="0" anchor="t"/>
          <a:lstStyle/>
          <a:p>
            <a:pPr algn="l"/>
            <a:r>
              <a:rPr sz="1500" b="0" i="0">
                <a:solidFill>
                  <a:srgbClr val="1F2937"/>
                </a:solidFill>
                <a:latin typeface="Inter"/>
                <a:ea typeface="Inter"/>
                <a:cs typeface="Inter"/>
              </a:rPr>
              <a:t>Self-Optimized LLM Multi-Agent System for Software Engineering · PP2</a:t>
            </a:r>
          </a:p>
        </p:txBody>
      </p:sp>
      <p:sp>
        <p:nvSpPr>
          <p:cNvPr id="10" name="TextBox 9"/>
          <p:cNvSpPr txBox="1"/>
          <p:nvPr/>
        </p:nvSpPr>
        <p:spPr>
          <a:xfrm>
            <a:off x="612648" y="3977639"/>
            <a:ext cx="7498079"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OPEN FOR DISCUSSION</a:t>
            </a:r>
          </a:p>
        </p:txBody>
      </p:sp>
      <p:sp>
        <p:nvSpPr>
          <p:cNvPr id="11" name="TextBox 10"/>
          <p:cNvSpPr txBox="1"/>
          <p:nvPr/>
        </p:nvSpPr>
        <p:spPr>
          <a:xfrm>
            <a:off x="612648" y="4279392"/>
            <a:ext cx="7498079" cy="731520"/>
          </a:xfrm>
          <a:prstGeom prst="rect">
            <a:avLst/>
          </a:prstGeom>
          <a:noFill/>
        </p:spPr>
        <p:txBody>
          <a:bodyPr wrap="square" lIns="0" rIns="0" tIns="0" bIns="0" anchor="t"/>
          <a:lstStyle/>
          <a:p>
            <a:pPr algn="l">
              <a:lnSpc>
                <a:spcPct val="105000"/>
              </a:lnSpc>
            </a:pPr>
            <a:r>
              <a:rPr sz="1400" b="0" i="0">
                <a:solidFill>
                  <a:srgbClr val="111111"/>
                </a:solidFill>
                <a:latin typeface="Inter"/>
                <a:ea typeface="Inter"/>
                <a:cs typeface="Inter"/>
              </a:rPr>
              <a:t>Shared-context architecture · quality gates · runner evidence · governed deployment · evaluation design</a:t>
            </a:r>
          </a:p>
        </p:txBody>
      </p:sp>
      <p:pic>
        <p:nvPicPr>
          <p:cNvPr id="12" name="Picture 11" descr="78.png"/>
          <p:cNvPicPr>
            <a:picLocks noChangeAspect="1"/>
          </p:cNvPicPr>
          <p:nvPr/>
        </p:nvPicPr>
        <p:blipFill>
          <a:blip r:embed="rId3"/>
          <a:stretch>
            <a:fillRect/>
          </a:stretch>
        </p:blipFill>
        <p:spPr>
          <a:xfrm>
            <a:off x="8887968" y="2084831"/>
            <a:ext cx="2688336" cy="268833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
        <a:ea typeface=""/>
        <a:cs typeface=""/>
      </a:majorFont>
      <a:minorFont>
        <a:latin typeface=""/>
        <a:ea typeface=""/>
        <a:cs typeface=""/>
      </a:minorFont>
    </a:fontScheme>
    <a:fmtScheme name="Office Theme">
      <a:fillStyleLst>
        <a:solidFill>
          <a:schemeClr val="phClr"/>
        </a:solidFill>
        <a:gradFill/>
        <a:gradFill/>
      </a:fillStyleLst>
      <a:lnStyleLst>
        <a:ln/>
        <a:ln/>
        <a:ln/>
      </a:lnStyleLst>
      <a:effectStyleLst>
        <a:effectStyle>
          <a:effectLst/>
        </a:effectStyle>
        <a:effectStyle>
          <a:effectLst/>
        </a:effectStyle>
        <a:effectStyle>
          <a:effectLst/>
        </a:effectStyle>
      </a:effectStyleLst>
      <a:bgFillStyleLst>
        <a:solidFill>
          <a:schemeClr val="phClr"/>
        </a:solidFill>
        <a:gradFill/>
        <a:gradFill/>
      </a:bgFillStyleLst>
    </a:fmtScheme>
  </a:themeElements>
</a:theme>
</file>

<file path=ppt/theme/theme2.xml><?xml version="1.0" encoding="utf-8"?>
<a:theme xmlns:a="http://schemas.openxmlformats.org/drawingml/2006/main" name="notesMaster1">
  <a:themeElements>
    <a:clrScheme name="notesMaster1">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notesMaster1">
      <a:majorFont>
        <a:latin typeface=""/>
        <a:ea typeface=""/>
        <a:cs typeface=""/>
      </a:majorFont>
      <a:minorFont>
        <a:latin typeface=""/>
        <a:ea typeface=""/>
        <a:cs typeface=""/>
      </a:minorFont>
    </a:fontScheme>
    <a:fmtScheme name="notesMaster1">
      <a:fillStyleLst>
        <a:solidFill>
          <a:schemeClr val="phClr"/>
        </a:solidFill>
        <a:gradFill/>
        <a:gradFill/>
      </a:fillStyleLst>
      <a:lnStyleLst>
        <a:ln/>
        <a:ln/>
        <a:ln/>
      </a:lnStyleLst>
      <a:effectStyleLst>
        <a:effectStyle>
          <a:effectLst/>
        </a:effectStyle>
        <a:effectStyle>
          <a:effectLst/>
        </a:effectStyle>
        <a:effectStyle>
          <a:effectLst/>
        </a:effectStyle>
      </a:effectStyleLst>
      <a:bgFillStyleLst>
        <a:solidFill>
          <a:schemeClr val="phClr"/>
        </a:solidFill>
        <a:gradFill/>
        <a:gradFill/>
      </a:bgFillStyleLst>
    </a:fmtScheme>
  </a:themeElements>
</a:theme>
</file>

<file path=docProps/app.xml><?xml version="1.0" encoding="utf-8"?>
<Properties xmlns="http://schemas.openxmlformats.org/officeDocument/2006/extended-properties">
  <Template>Normal.eit</Template>
  <TotalTime>0</TotalTime>
  <Application>Honor_Office</Application>
</Properties>
</file>

<file path=docProps/core.xml><?xml version="1.0" encoding="utf-8"?>
<cp:coreProperties xmlns:cp="http://schemas.openxmlformats.org/package/2006/metadata/core-properties" xmlns:dc="http://purl.org/dc/elements/1.1/" xmlns:dcterms="http://purl.org/dc/terms/" xmlns:xsi="http://www.w3.org/2001/XMLSchema-instance">
  <cp:lastModifiedBy>HONOR Docs</cp:lastModifiedBy>
  <cp:revision>1</cp:revision>
  <dcterms:created xsi:type="dcterms:W3CDTF">2026-10-06T20:55:09Z</dcterms:created>
  <dcterms:modified xsi:type="dcterms:W3CDTF">2026-10-07T02:32:16Z</dcterms:modified>
</cp:coreProperties>
</file>