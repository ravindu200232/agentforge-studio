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thumbnail" Target="docProps/thumbnail.jpeg"/></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11" autoAdjust="0"/>
    <p:restoredTop sz="99500" autoAdjust="0"/>
  </p:normalViewPr>
  <p:slideViewPr>
    <p:cSldViewPr snapToGrid="0" snapToObjects="1">
      <p:cViewPr varScale="1">
        <p:scale>
          <a:sx n="95" d="100"/>
          <a:sy n="95"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&lt;#&gt;</a:t>
            </a:fld>
            <a:endParaRPr lang="zh-CN" altLang="en-US" sz="1200">
              <a:latin typeface="Calibri" pitchFamily="0" charset="0"/>
              <a:ea typeface="等线" pitchFamily="0" charset="0"/>
              <a:cs typeface="Calibri" pitchFamily="0" charset="0"/>
            </a:endParaRPr>
          </a:p>
        </p:txBody>
      </p:sp>
      <p:sp>
        <p:nvSpPr>
          <p:cNvPr id="2" name="Text box"/>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3" name="Text box"/>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等线" pitchFamily="0" charset="0"/>
                <a:cs typeface="Calibri" pitchFamily="0" charset="0"/>
              </a:rPr>
              <a:t>10/7/2026</a:t>
            </a:fld>
            <a:endParaRPr lang="zh-CN" altLang="en-US" sz="1200">
              <a:latin typeface="Calibri" pitchFamily="0" charset="0"/>
              <a:ea typeface="等线" pitchFamily="0" charset="0"/>
              <a:cs typeface="Calibri" pitchFamily="0" charset="0"/>
            </a:endParaRPr>
          </a:p>
        </p:txBody>
      </p:sp>
      <p:sp>
        <p:nvSpPr>
          <p:cNvPr id="4" name="Object"/>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5" name="Text box"/>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Text box"/>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313230604"/>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AgentForge is a studio that takes a product from a single sentence to a running, tested and deployed web application. Five specialist LLM agents (SRS, prototype, builder, QA and deploy) share one persistent project context. Everything on these slides is taken from the AgentForge source code and its README; implemented capability is kept separate from demonstrated results.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 talk follows the life of a project: first the problem and the research gap, then the architecture, then each of the five agents with its own tools, then platform-wide features, and finally how the system will be evaluated, its limits and its contributions.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This is the design problem AgentForge addresses, not a measured industry statistic. A short idea hides decisions about users, screens, data, permissions and success criteria. If those are not captured and carried forward, each later stage guesses — and a release cannot be verified.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These six gaps come from comparing how current AI coding assistants, prompt-to-app builders and research multi-agent frameworks (for example ChatDev and MetaGPT) work. Each gap maps to a concrete AgentForge mechanism: interview and SRS (G1), one shared context (G2), code-based gates (G3), runner evidence (G4), approval-gated deployment (G5) and local Ollama models with editable prompt packs (G6).</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Read across a row: which kind of tool covers that capability. 'Partial' means the capability exists in a limited form — for example prompt-to-app builders offer one-click hosting but no approval plan or live verification, and MetaGPT writes PRD-style documents but has no adaptive interview. The point is not that other tools are poor; it is that no single category covers the whole path from idea to verified release.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 main question is whether specialisation, a shared context and hard gates together produce software that is both complete against the customer's intent and verifiable. Each research question isolates one mechanism so that it can be measured and ablated in the evaluation.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Read the diagram left to right: every stage writes into one shared project context and artifact store. 'Self-optimised' means the system corrects itself through closed loops: a validator, a renderer, a test runner or a live probe produces a concrete failure, and that failure becomes the next instruction to the agent, within a bounded number of rounds.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Top to bottom: the Studio is a Next.js interface; it talks to a Python backend over an HTTP API (long model work runs as jobs that the browser polls) and a WebSocket feed that streams every event. The orchestration layer holds the shared services. The five agents are ordinary Python packages that all go through one ProjectSession, which owns the single model conversation, and everything they produce lands in the project's own folder on disk.</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 project record is what makes AgentForge one system rather than five tools. context.json is the shared conversation, events.jsonl is the audit trail the Studio replays, and each stage keeps its outputs in its own folder. The engine features underneath keep long runs alive: bounded plan/execute rounds, memory summarisation with a fallback, retries, and focused parallel calls.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Gates are the only judgement not delegated to a model. Gaps found by the coverage gate go back to the agent as instructions for two rounds and anything left is recorded on the document. In the README's bakery run the coverage gate took the first draft from 1 diagram to 7, from 3 functional requirements to 6, and from seven four-line wireframes to seven drawn screens.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 SRS agent owns the first half of a project. The interview has no fixed question list: a one-screen tool finishes in a handful of questions, a multi-role system takes more. The approved plan bounds the specification; the specification bounds the diagrams and wireframes; and the handoff files are generated deterministically so later agents read exactly the same contract.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These are the specialist tools behind the SRS agent — not generic file editing. The screenshot is a user-supplied capture of a real run: the SRS overview with its counts and the decisions still open. The tags show the standards the document and diagrams are written against.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Two captures of the Studio during a real project. The interview asks one question at a time and keeps every earlier answer visible. After approval, every route gets its own complete HTML wireframe, shown in a grid the customer reviews before the prototype is drawn.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 prototype is the first time the customer sees the product instead of reading about it. The design is decided once and binds everything after it. The prototype is static HTML, CSS and JavaScript — a stage output for review, not the production application.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 prototype agent's tools turn the approved wireframes and design into one coherent, clickable product. The screenshot is a user-supplied capture taken while pages were still being generated, so it shows the preview working rather than a finished prototype run.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After prototype approval the builder installs one of three bundled stacks and then runs a single plan with three sequential phases. The approved HTML prototype is the source of truth for the front end; the SRS is the source of truth for data, permissions and behaviour. Each run's plan is kept as developmentplanN.md in the app's plan folder.</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 builder's specialist tools are the bundled scaffolds and guides, the Node toolchain, a real MongoDB connection check and the provider catalogue. Customers pick integrations such as Stripe test mode or Google sign-in; the credentials stay encrypted and never enter the model's context.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QA treats the builder's claims as unverified until a runner says otherwise. The report on disk is the record and is written after every layer, so an interrupted run still leaves what it proved. Complete means every planned layer has an honest outcome, including 'unavailable' or 'partial'.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Each QA tool leaves a machine-readable file, and the Studio's fourteen testing views read those files directly. The screenshot is a user-supplied capture of the Scaffold QA view; its numbers are values recorded by the interface, not an independent rerun.</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Deployment is plan-first. Nothing leaves the computer while the agent plans, and nothing is deployed until the customer approves. After execution the Studio probes the public address itself; failures go back to the agent for up to two repair rounds before the run is reported as failed.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Targets come from the installed deployment skill pages: Vercel, Netlify, Azure, AWS EC2, AWS ECS and GitHub. Each still needs a compatible stack, the provider's CLI, a signed-in account and saved configuration. The monitor catalogue holds 15 GitHub, 15 Vercel, 12 Azure, 11 ECS, 9 EC2, 8 Netlify and 6 AWS-account commands, all read-only.</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Two captures of the Studio during a real project. The build stream shows prototype pages being read and application files being written. The deployment capture shows an approved AWS EC2 plan at the moment the run starts — it shows the flow working, not a completed public release.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 Studio is the customer's single workspace. Every stage has its own view, and every action by an agent or a person is streamed and kept. These features are implemented in the Studio's components and the backend routes they call.</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A later request changes the existing project instead of starting over. The same plan-first flow is used for chat changes and deployments: plan read-only, show it, act only after approval, then record a version with the files touched and the test results before and after.</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Because agents run real commands on the customer's machine, safety cannot depend on the model behaving. Each of these guardrails is implemented in the backend (tools, session, secrets_guard, deploy_vars, plugins, cli_signin and the ZAP scan script) and most are covered by the repository's test suites.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This table answers 'what does each tool actually do'. Generic agent operations such as reading or editing files are deliberately left out — they are the engine's plumbing, not tools that give an agent its specialism.</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This is a prospective evaluation, not completed measurements. All four metrics can be collected from artifacts AgentForge already writes, so the same numbers can be gathered for every project and for each baseline and ablation.</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Automated checks improve the evidence but do not establish complete correctness. The model is chosen by the user, external services must be prepared, and broad outcome claims need repeated live runs.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The code joins five specialist agents through one persistent project context, with closed feedback loops for self-correction. Plans, SRS files, prototypes, build reports and QA evidence make each handoff inspectable. The next proof is repeated end-to-end runs and a successful live probe.</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p:nvPr>
        </p:nvSpPr>
        <p:spPr/>
      </p:sp>
      <p:sp>
        <p:nvSpPr>
          <p:cNvPr id="3" name="Slide Image Placeholder 2"/>
          <p:cNvSpPr>
            <a:spLocks noGrp="1"/>
          </p:cNvSpPr>
          <p:nvPr>
            <p:ph type="sldImg" idx="2"/>
          </p:nvPr>
        </p:nvSpPr>
        <p:spPr/>
      </p:sp>
      <p:sp>
        <p:nvSpPr>
          <p:cNvPr id="4" name="Notes Placeholder 3"/>
          <p:cNvSpPr>
            <a:spLocks noGrp="1"/>
          </p:cNvSpPr>
          <p:nvPr>
            <p:ph type="body" idx="3"/>
          </p:nvPr>
        </p:nvSpPr>
        <p:spPr/>
        <p:txBody>
          <a:bodyPr/>
          <a:lstStyle/>
          <a:p>
            <a:r>
              <a:t>Invite questions about the architecture, the validation gates, the evidence collected so far, the deployment flow or the evaluation design.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377" y="2130425"/>
            <a:ext cx="10362940" cy="1470025"/>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828754" y="3886199"/>
            <a:ext cx="8534186"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418399411"/>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96240878"/>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93472963"/>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94970295"/>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802929695"/>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734341828"/>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994036914"/>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19329916"/>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724066951"/>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668937304"/>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52477100"/>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5162129"/>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8057849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ctr" defTabSz="914400" eaLnBrk="1" fontAlgn="auto" latinLnBrk="0" hangingPunct="1">
        <a:spcBef>
          <a:spcPts val="0"/>
        </a:spcBef>
        <a:buNone/>
        <a:defRPr sz="4400" kern="1200">
          <a:solidFill>
            <a:schemeClr val="tx1"/>
          </a:solidFill>
          <a:latin typeface="Calibri Light" pitchFamily="0" charset="0"/>
          <a:ea typeface="等线 Light" pitchFamily="0" charset="0"/>
          <a:cs typeface="Calibri Light" pitchFamily="0"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Calibri" pitchFamily="0" charset="0"/>
          <a:ea typeface="等线" pitchFamily="0" charset="0"/>
          <a:cs typeface="Calibri" pitchFamily="0"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1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1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14.png"/><Relationship Id="rId4" Type="http://schemas.openxmlformats.org/officeDocument/2006/relationships/image" Target="../media/image15.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16.pn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21.png"/><Relationship Id="rId4" Type="http://schemas.openxmlformats.org/officeDocument/2006/relationships/image" Target="../media/image22.jp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2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2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2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26.png"/><Relationship Id="rId4" Type="http://schemas.openxmlformats.org/officeDocument/2006/relationships/image" Target="../media/image27.jp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3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39.png"/><Relationship Id="rId4" Type="http://schemas.openxmlformats.org/officeDocument/2006/relationships/image" Target="../media/image40.jpg"/><Relationship Id="rId5" Type="http://schemas.openxmlformats.org/officeDocument/2006/relationships/image" Target="../media/image41.jp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4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4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31.png"/><Relationship Id="rId12" Type="http://schemas.openxmlformats.org/officeDocument/2006/relationships/image" Target="../media/image51.png"/><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5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53.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54.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g"/><Relationship Id="rId3" Type="http://schemas.openxmlformats.org/officeDocument/2006/relationships/image" Target="../media/image55.png"/><Relationship Id="rId4"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612648"/>
            <a:ext cx="5486400" cy="182880"/>
          </a:xfrm>
          <a:prstGeom prst="rect">
            <a:avLst/>
          </a:prstGeom>
          <a:noFill/>
        </p:spPr>
        <p:txBody>
          <a:bodyPr wrap="square" lIns="0" rIns="0" tIns="0" bIns="0" anchor="t"/>
          <a:lstStyle/>
          <a:p>
            <a:pPr algn="l"/>
            <a:r>
              <a:rPr sz="1100" b="0" i="0" spc="308">
                <a:solidFill>
                  <a:srgbClr val="0B1220"/>
                </a:solidFill>
                <a:latin typeface="Urbanist SemiBold"/>
                <a:ea typeface="Urbanist SemiBold"/>
                <a:cs typeface="Urbanist SemiBold"/>
              </a:rPr>
              <a:t>AGENTFORGE · PP2 RESEARCH PRESENTATION</a:t>
            </a:r>
          </a:p>
        </p:txBody>
      </p:sp>
      <p:sp>
        <p:nvSpPr>
          <p:cNvPr id="4" name="TextBox 3"/>
          <p:cNvSpPr txBox="1"/>
          <p:nvPr/>
        </p:nvSpPr>
        <p:spPr>
          <a:xfrm>
            <a:off x="612648" y="1188720"/>
            <a:ext cx="4937760" cy="1600200"/>
          </a:xfrm>
          <a:prstGeom prst="rect">
            <a:avLst/>
          </a:prstGeom>
          <a:noFill/>
        </p:spPr>
        <p:txBody>
          <a:bodyPr wrap="square" lIns="0" rIns="0" tIns="0" bIns="0" anchor="t"/>
          <a:lstStyle/>
          <a:p>
            <a:pPr algn="l">
              <a:lnSpc>
                <a:spcPct val="92000"/>
              </a:lnSpc>
            </a:pPr>
            <a:r>
              <a:rPr sz="3400" b="1" i="0" spc="-102">
                <a:solidFill>
                  <a:srgbClr val="0B1220"/>
                </a:solidFill>
                <a:latin typeface="Inter Bold"/>
                <a:ea typeface="Inter Bold"/>
                <a:cs typeface="Inter Bold"/>
              </a:rPr>
              <a:t>Self-Optimized LLM Multi-Agent System for Software Engineering</a:t>
            </a:r>
          </a:p>
        </p:txBody>
      </p:sp>
      <p:sp>
        <p:nvSpPr>
          <p:cNvPr id="5" name="TextBox 4"/>
          <p:cNvSpPr txBox="1"/>
          <p:nvPr/>
        </p:nvSpPr>
        <p:spPr>
          <a:xfrm>
            <a:off x="612648" y="2852928"/>
            <a:ext cx="5257800" cy="685800"/>
          </a:xfrm>
          <a:prstGeom prst="rect">
            <a:avLst/>
          </a:prstGeom>
          <a:noFill/>
        </p:spPr>
        <p:txBody>
          <a:bodyPr wrap="square" lIns="0" rIns="0" tIns="0" bIns="0" anchor="t"/>
          <a:lstStyle/>
          <a:p>
            <a:pPr algn="l"/>
            <a:r>
              <a:rPr sz="1900" b="0" i="0">
                <a:solidFill>
                  <a:srgbClr val="0B1220"/>
                </a:solidFill>
                <a:latin typeface="Inter"/>
                <a:ea typeface="Inter"/>
                <a:cs typeface="Inter"/>
              </a:rPr>
              <a:t>From a one-sentence idea to a tested, deployed web application</a:t>
            </a:r>
          </a:p>
        </p:txBody>
      </p:sp>
      <p:sp>
        <p:nvSpPr>
          <p:cNvPr id="6" name="TextBox 5"/>
          <p:cNvSpPr txBox="1"/>
          <p:nvPr/>
        </p:nvSpPr>
        <p:spPr>
          <a:xfrm>
            <a:off x="612648" y="3767328"/>
            <a:ext cx="1220724" cy="530352"/>
          </a:xfrm>
          <a:prstGeom prst="rect">
            <a:avLst/>
          </a:prstGeom>
          <a:noFill/>
        </p:spPr>
        <p:txBody>
          <a:bodyPr wrap="square" lIns="0" rIns="0" tIns="0" bIns="0" anchor="t"/>
          <a:lstStyle/>
          <a:p>
            <a:pPr algn="l"/>
            <a:r>
              <a:rPr sz="3200" b="0" i="0" spc="-60">
                <a:solidFill>
                  <a:srgbClr val="1F6BFF"/>
                </a:solidFill>
                <a:latin typeface="Outfit Black"/>
                <a:ea typeface="Outfit Black"/>
                <a:cs typeface="Outfit Black"/>
              </a:rPr>
              <a:t>5</a:t>
            </a:r>
          </a:p>
        </p:txBody>
      </p:sp>
      <p:sp>
        <p:nvSpPr>
          <p:cNvPr id="7" name="TextBox 6"/>
          <p:cNvSpPr txBox="1"/>
          <p:nvPr/>
        </p:nvSpPr>
        <p:spPr>
          <a:xfrm>
            <a:off x="612648" y="4315968"/>
            <a:ext cx="1220724" cy="384048"/>
          </a:xfrm>
          <a:prstGeom prst="rect">
            <a:avLst/>
          </a:prstGeom>
          <a:noFill/>
        </p:spPr>
        <p:txBody>
          <a:bodyPr wrap="square" lIns="0" rIns="0" tIns="0" bIns="0" anchor="t"/>
          <a:lstStyle/>
          <a:p>
            <a:pPr algn="l"/>
            <a:r>
              <a:rPr sz="1100" b="0" i="0">
                <a:solidFill>
                  <a:srgbClr val="1F2937"/>
                </a:solidFill>
                <a:latin typeface="Inter"/>
                <a:ea typeface="Inter"/>
                <a:cs typeface="Inter"/>
              </a:rPr>
              <a:t>specialist</a:t>
            </a:r>
          </a:p>
          <a:p>
            <a:pPr algn="l"/>
            <a:r>
              <a:rPr sz="1100" b="0" i="0">
                <a:solidFill>
                  <a:srgbClr val="1F2937"/>
                </a:solidFill>
                <a:latin typeface="Inter"/>
                <a:ea typeface="Inter"/>
                <a:cs typeface="Inter"/>
              </a:rPr>
              <a:t>agents</a:t>
            </a:r>
          </a:p>
        </p:txBody>
      </p:sp>
      <p:sp>
        <p:nvSpPr>
          <p:cNvPr id="8" name="TextBox 7"/>
          <p:cNvSpPr txBox="1"/>
          <p:nvPr/>
        </p:nvSpPr>
        <p:spPr>
          <a:xfrm>
            <a:off x="1943100" y="3767328"/>
            <a:ext cx="1220724" cy="530352"/>
          </a:xfrm>
          <a:prstGeom prst="rect">
            <a:avLst/>
          </a:prstGeom>
          <a:noFill/>
        </p:spPr>
        <p:txBody>
          <a:bodyPr wrap="square" lIns="0" rIns="0" tIns="0" bIns="0" anchor="t"/>
          <a:lstStyle/>
          <a:p>
            <a:pPr algn="l"/>
            <a:r>
              <a:rPr sz="3200" b="0" i="0" spc="-60">
                <a:solidFill>
                  <a:srgbClr val="1F6BFF"/>
                </a:solidFill>
                <a:latin typeface="Outfit Black"/>
                <a:ea typeface="Outfit Black"/>
                <a:cs typeface="Outfit Black"/>
              </a:rPr>
              <a:t>4</a:t>
            </a:r>
          </a:p>
        </p:txBody>
      </p:sp>
      <p:sp>
        <p:nvSpPr>
          <p:cNvPr id="9" name="TextBox 8"/>
          <p:cNvSpPr txBox="1"/>
          <p:nvPr/>
        </p:nvSpPr>
        <p:spPr>
          <a:xfrm>
            <a:off x="1943100" y="4315968"/>
            <a:ext cx="1220724" cy="384048"/>
          </a:xfrm>
          <a:prstGeom prst="rect">
            <a:avLst/>
          </a:prstGeom>
          <a:noFill/>
        </p:spPr>
        <p:txBody>
          <a:bodyPr wrap="square" lIns="0" rIns="0" tIns="0" bIns="0" anchor="t"/>
          <a:lstStyle/>
          <a:p>
            <a:pPr algn="l"/>
            <a:r>
              <a:rPr sz="1100" b="0" i="0">
                <a:solidFill>
                  <a:srgbClr val="1F2937"/>
                </a:solidFill>
                <a:latin typeface="Inter"/>
                <a:ea typeface="Inter"/>
                <a:cs typeface="Inter"/>
              </a:rPr>
              <a:t>deterministic</a:t>
            </a:r>
          </a:p>
          <a:p>
            <a:pPr algn="l"/>
            <a:r>
              <a:rPr sz="1100" b="0" i="0">
                <a:solidFill>
                  <a:srgbClr val="1F2937"/>
                </a:solidFill>
                <a:latin typeface="Inter"/>
                <a:ea typeface="Inter"/>
                <a:cs typeface="Inter"/>
              </a:rPr>
              <a:t>quality gates</a:t>
            </a:r>
          </a:p>
        </p:txBody>
      </p:sp>
      <p:sp>
        <p:nvSpPr>
          <p:cNvPr id="10" name="TextBox 9"/>
          <p:cNvSpPr txBox="1"/>
          <p:nvPr/>
        </p:nvSpPr>
        <p:spPr>
          <a:xfrm>
            <a:off x="3273552" y="3767328"/>
            <a:ext cx="1220724" cy="530352"/>
          </a:xfrm>
          <a:prstGeom prst="rect">
            <a:avLst/>
          </a:prstGeom>
          <a:noFill/>
        </p:spPr>
        <p:txBody>
          <a:bodyPr wrap="square" lIns="0" rIns="0" tIns="0" bIns="0" anchor="t"/>
          <a:lstStyle/>
          <a:p>
            <a:pPr algn="l"/>
            <a:r>
              <a:rPr sz="3200" b="0" i="0" spc="-60">
                <a:solidFill>
                  <a:srgbClr val="1F6BFF"/>
                </a:solidFill>
                <a:latin typeface="Outfit Black"/>
                <a:ea typeface="Outfit Black"/>
                <a:cs typeface="Outfit Black"/>
              </a:rPr>
              <a:t>11</a:t>
            </a:r>
          </a:p>
        </p:txBody>
      </p:sp>
      <p:sp>
        <p:nvSpPr>
          <p:cNvPr id="11" name="TextBox 10"/>
          <p:cNvSpPr txBox="1"/>
          <p:nvPr/>
        </p:nvSpPr>
        <p:spPr>
          <a:xfrm>
            <a:off x="3273552" y="4315968"/>
            <a:ext cx="1220724" cy="384048"/>
          </a:xfrm>
          <a:prstGeom prst="rect">
            <a:avLst/>
          </a:prstGeom>
          <a:noFill/>
        </p:spPr>
        <p:txBody>
          <a:bodyPr wrap="square" lIns="0" rIns="0" tIns="0" bIns="0" anchor="t"/>
          <a:lstStyle/>
          <a:p>
            <a:pPr algn="l"/>
            <a:r>
              <a:rPr sz="1100" b="0" i="0">
                <a:solidFill>
                  <a:srgbClr val="1F2937"/>
                </a:solidFill>
                <a:latin typeface="Inter"/>
                <a:ea typeface="Inter"/>
                <a:cs typeface="Inter"/>
              </a:rPr>
              <a:t>diagram types</a:t>
            </a:r>
          </a:p>
          <a:p>
            <a:pPr algn="l"/>
            <a:r>
              <a:rPr sz="1100" b="0" i="0">
                <a:solidFill>
                  <a:srgbClr val="1F2937"/>
                </a:solidFill>
                <a:latin typeface="Inter"/>
                <a:ea typeface="Inter"/>
                <a:cs typeface="Inter"/>
              </a:rPr>
              <a:t>per SRS</a:t>
            </a:r>
          </a:p>
        </p:txBody>
      </p:sp>
      <p:sp>
        <p:nvSpPr>
          <p:cNvPr id="12" name="TextBox 11"/>
          <p:cNvSpPr txBox="1"/>
          <p:nvPr/>
        </p:nvSpPr>
        <p:spPr>
          <a:xfrm>
            <a:off x="4604004" y="3767328"/>
            <a:ext cx="1220724" cy="530352"/>
          </a:xfrm>
          <a:prstGeom prst="rect">
            <a:avLst/>
          </a:prstGeom>
          <a:noFill/>
        </p:spPr>
        <p:txBody>
          <a:bodyPr wrap="square" lIns="0" rIns="0" tIns="0" bIns="0" anchor="t"/>
          <a:lstStyle/>
          <a:p>
            <a:pPr algn="l"/>
            <a:r>
              <a:rPr sz="3200" b="0" i="0" spc="-60">
                <a:solidFill>
                  <a:srgbClr val="1F6BFF"/>
                </a:solidFill>
                <a:latin typeface="Outfit Black"/>
                <a:ea typeface="Outfit Black"/>
                <a:cs typeface="Outfit Black"/>
              </a:rPr>
              <a:t>6</a:t>
            </a:r>
          </a:p>
        </p:txBody>
      </p:sp>
      <p:sp>
        <p:nvSpPr>
          <p:cNvPr id="13" name="TextBox 12"/>
          <p:cNvSpPr txBox="1"/>
          <p:nvPr/>
        </p:nvSpPr>
        <p:spPr>
          <a:xfrm>
            <a:off x="4604004" y="4315968"/>
            <a:ext cx="1220724" cy="384048"/>
          </a:xfrm>
          <a:prstGeom prst="rect">
            <a:avLst/>
          </a:prstGeom>
          <a:noFill/>
        </p:spPr>
        <p:txBody>
          <a:bodyPr wrap="square" lIns="0" rIns="0" tIns="0" bIns="0" anchor="t"/>
          <a:lstStyle/>
          <a:p>
            <a:pPr algn="l"/>
            <a:r>
              <a:rPr sz="1100" b="0" i="0">
                <a:solidFill>
                  <a:srgbClr val="1F2937"/>
                </a:solidFill>
                <a:latin typeface="Inter"/>
                <a:ea typeface="Inter"/>
                <a:cs typeface="Inter"/>
              </a:rPr>
              <a:t>deployment</a:t>
            </a:r>
          </a:p>
          <a:p>
            <a:pPr algn="l"/>
            <a:r>
              <a:rPr sz="1100" b="0" i="0">
                <a:solidFill>
                  <a:srgbClr val="1F2937"/>
                </a:solidFill>
                <a:latin typeface="Inter"/>
                <a:ea typeface="Inter"/>
                <a:cs typeface="Inter"/>
              </a:rPr>
              <a:t>targets</a:t>
            </a:r>
          </a:p>
        </p:txBody>
      </p:sp>
      <p:sp>
        <p:nvSpPr>
          <p:cNvPr id="14" name="TextBox 13"/>
          <p:cNvSpPr txBox="1"/>
          <p:nvPr/>
        </p:nvSpPr>
        <p:spPr>
          <a:xfrm>
            <a:off x="612648" y="4983480"/>
            <a:ext cx="5257800" cy="566928"/>
          </a:xfrm>
          <a:prstGeom prst="rect">
            <a:avLst/>
          </a:prstGeom>
          <a:noFill/>
        </p:spPr>
        <p:txBody>
          <a:bodyPr wrap="square" lIns="0" rIns="0" tIns="0" bIns="0" anchor="t"/>
          <a:lstStyle/>
          <a:p>
            <a:pPr algn="l">
              <a:lnSpc>
                <a:spcPct val="105000"/>
              </a:lnSpc>
            </a:pPr>
            <a:r>
              <a:rPr sz="1300" b="0" i="0">
                <a:solidFill>
                  <a:srgbClr val="1F2937"/>
                </a:solidFill>
                <a:latin typeface="Inter"/>
                <a:ea typeface="Inter"/>
                <a:cs typeface="Inter"/>
              </a:rPr>
              <a:t>One shared project context · runner-based evidence at every handoff · human approval before every release</a:t>
            </a:r>
          </a:p>
        </p:txBody>
      </p:sp>
      <p:sp>
        <p:nvSpPr>
          <p:cNvPr id="15" name="TextBox 14"/>
          <p:cNvSpPr txBox="1"/>
          <p:nvPr/>
        </p:nvSpPr>
        <p:spPr>
          <a:xfrm>
            <a:off x="612648" y="6016752"/>
            <a:ext cx="5486400" cy="228600"/>
          </a:xfrm>
          <a:prstGeom prst="rect">
            <a:avLst/>
          </a:prstGeom>
          <a:noFill/>
        </p:spPr>
        <p:txBody>
          <a:bodyPr wrap="square" lIns="0" rIns="0" tIns="0" bIns="0" anchor="t"/>
          <a:lstStyle/>
          <a:p>
            <a:pPr algn="l"/>
            <a:r>
              <a:rPr sz="1250" b="0" i="0">
                <a:solidFill>
                  <a:srgbClr val="374151"/>
                </a:solidFill>
                <a:latin typeface="Urbanist"/>
                <a:ea typeface="Urbanist"/>
                <a:cs typeface="Urbanist"/>
              </a:rPr>
              <a:t>Requirements → Prototype → Build → QA → Deployment</a:t>
            </a:r>
          </a:p>
        </p:txBody>
      </p:sp>
      <p:pic>
        <p:nvPicPr>
          <p:cNvPr id="16" name="Picture 15" descr="1.png"/>
          <p:cNvPicPr>
            <a:picLocks noChangeAspect="1"/>
          </p:cNvPicPr>
          <p:nvPr/>
        </p:nvPicPr>
        <p:blipFill>
          <a:blip r:embed="rId2"/>
          <a:stretch>
            <a:fillRect/>
          </a:stretch>
        </p:blipFill>
        <p:spPr>
          <a:xfrm>
            <a:off x="6096304" y="0"/>
            <a:ext cx="6096304"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PRESENTATION ROUTE</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From idea to release evidence</a:t>
            </a:r>
          </a:p>
        </p:txBody>
      </p:sp>
      <p:sp>
        <p:nvSpPr>
          <p:cNvPr id="6" name="TextBox 5"/>
          <p:cNvSpPr txBox="1"/>
          <p:nvPr/>
        </p:nvSpPr>
        <p:spPr>
          <a:xfrm>
            <a:off x="612648" y="1554480"/>
            <a:ext cx="9692640" cy="310896"/>
          </a:xfrm>
          <a:prstGeom prst="rect">
            <a:avLst/>
          </a:prstGeom>
          <a:noFill/>
        </p:spPr>
        <p:txBody>
          <a:bodyPr wrap="square" lIns="0" rIns="0" tIns="0" bIns="0" anchor="t"/>
          <a:lstStyle/>
          <a:p>
            <a:pPr algn="l"/>
            <a:r>
              <a:rPr sz="1600" b="0" i="0">
                <a:solidFill>
                  <a:srgbClr val="1F2937"/>
                </a:solidFill>
                <a:latin typeface="Inter"/>
                <a:ea typeface="Inter"/>
                <a:cs typeface="Inter"/>
              </a:rPr>
              <a:t>Five parts: why the problem matters, how AgentForge works, and what the evidence shows.</a:t>
            </a:r>
          </a:p>
        </p:txBody>
      </p:sp>
      <p:sp>
        <p:nvSpPr>
          <p:cNvPr id="7" name="TextBox 6"/>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02</a:t>
            </a:r>
          </a:p>
        </p:txBody>
      </p:sp>
      <p:sp>
        <p:nvSpPr>
          <p:cNvPr id="8" name="TextBox 7"/>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9" name="Picture 8" descr="3.png"/>
          <p:cNvPicPr>
            <a:picLocks noChangeAspect="1"/>
          </p:cNvPicPr>
          <p:nvPr/>
        </p:nvPicPr>
        <p:blipFill>
          <a:blip r:embed="rId3"/>
          <a:stretch>
            <a:fillRect/>
          </a:stretch>
        </p:blipFill>
        <p:spPr>
          <a:xfrm>
            <a:off x="10488168" y="201168"/>
            <a:ext cx="1316736" cy="1316736"/>
          </a:xfrm>
          <a:prstGeom prst="rect">
            <a:avLst/>
          </a:prstGeom>
        </p:spPr>
      </p:pic>
      <p:sp>
        <p:nvSpPr>
          <p:cNvPr id="10" name="Oval 9"/>
          <p:cNvSpPr/>
          <p:nvPr/>
        </p:nvSpPr>
        <p:spPr>
          <a:xfrm>
            <a:off x="841248" y="2121408"/>
            <a:ext cx="347472" cy="347472"/>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121408"/>
            <a:ext cx="347472" cy="347472"/>
          </a:xfrm>
          <a:prstGeom prst="rect">
            <a:avLst/>
          </a:prstGeom>
          <a:noFill/>
        </p:spPr>
        <p:txBody>
          <a:bodyPr wrap="square" lIns="0" rIns="0" tIns="0" bIns="0" anchor="ctr"/>
          <a:lstStyle/>
          <a:p>
            <a:pPr algn="ctr"/>
            <a:r>
              <a:rPr sz="1200" b="0" i="0">
                <a:solidFill>
                  <a:srgbClr val="FFFFFF"/>
                </a:solidFill>
                <a:latin typeface="Inter SemiBold"/>
                <a:ea typeface="Inter SemiBold"/>
                <a:cs typeface="Inter SemiBold"/>
              </a:rPr>
              <a:t>01</a:t>
            </a:r>
          </a:p>
        </p:txBody>
      </p:sp>
      <p:sp>
        <p:nvSpPr>
          <p:cNvPr id="12" name="TextBox 11"/>
          <p:cNvSpPr txBox="1"/>
          <p:nvPr/>
        </p:nvSpPr>
        <p:spPr>
          <a:xfrm>
            <a:off x="1371600" y="2148839"/>
            <a:ext cx="8686800" cy="285750"/>
          </a:xfrm>
          <a:prstGeom prst="rect">
            <a:avLst/>
          </a:prstGeom>
          <a:noFill/>
        </p:spPr>
        <p:txBody>
          <a:bodyPr wrap="square" lIns="0" rIns="0" tIns="0" bIns="0" anchor="t"/>
          <a:lstStyle/>
          <a:p>
            <a:pPr algn="l"/>
            <a:r>
              <a:rPr sz="1800" b="0" i="0" spc="18">
                <a:solidFill>
                  <a:srgbClr val="111111"/>
                </a:solidFill>
                <a:latin typeface="Outfit ExtraBold"/>
                <a:ea typeface="Outfit ExtraBold"/>
                <a:cs typeface="Outfit ExtraBold"/>
              </a:rPr>
              <a:t>THE PROBLEM AND RESEARCH GAP</a:t>
            </a:r>
          </a:p>
        </p:txBody>
      </p:sp>
      <p:sp>
        <p:nvSpPr>
          <p:cNvPr id="13" name="TextBox 12"/>
          <p:cNvSpPr txBox="1"/>
          <p:nvPr/>
        </p:nvSpPr>
        <p:spPr>
          <a:xfrm>
            <a:off x="1371600" y="2487168"/>
            <a:ext cx="8961120" cy="274320"/>
          </a:xfrm>
          <a:prstGeom prst="rect">
            <a:avLst/>
          </a:prstGeom>
          <a:noFill/>
        </p:spPr>
        <p:txBody>
          <a:bodyPr wrap="square" lIns="0" rIns="0" tIns="0" bIns="0" anchor="t"/>
          <a:lstStyle/>
          <a:p>
            <a:pPr algn="l"/>
            <a:r>
              <a:rPr sz="1400" b="0" i="0">
                <a:solidFill>
                  <a:srgbClr val="1F2937"/>
                </a:solidFill>
                <a:latin typeface="Inter"/>
                <a:ea typeface="Inter"/>
                <a:cs typeface="Inter"/>
              </a:rPr>
              <a:t>Why AI code generators still fail to deliver complete, verifiable software, and where the gap is.</a:t>
            </a:r>
          </a:p>
        </p:txBody>
      </p:sp>
      <p:sp>
        <p:nvSpPr>
          <p:cNvPr id="14" name="Oval 13"/>
          <p:cNvSpPr/>
          <p:nvPr/>
        </p:nvSpPr>
        <p:spPr>
          <a:xfrm>
            <a:off x="841248" y="2971800"/>
            <a:ext cx="347472" cy="347472"/>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2971800"/>
            <a:ext cx="347472" cy="347472"/>
          </a:xfrm>
          <a:prstGeom prst="rect">
            <a:avLst/>
          </a:prstGeom>
          <a:noFill/>
        </p:spPr>
        <p:txBody>
          <a:bodyPr wrap="square" lIns="0" rIns="0" tIns="0" bIns="0" anchor="ctr"/>
          <a:lstStyle/>
          <a:p>
            <a:pPr algn="ctr"/>
            <a:r>
              <a:rPr sz="1200" b="0" i="0">
                <a:solidFill>
                  <a:srgbClr val="FFFFFF"/>
                </a:solidFill>
                <a:latin typeface="Inter SemiBold"/>
                <a:ea typeface="Inter SemiBold"/>
                <a:cs typeface="Inter SemiBold"/>
              </a:rPr>
              <a:t>02</a:t>
            </a:r>
          </a:p>
        </p:txBody>
      </p:sp>
      <p:sp>
        <p:nvSpPr>
          <p:cNvPr id="16" name="TextBox 15"/>
          <p:cNvSpPr txBox="1"/>
          <p:nvPr/>
        </p:nvSpPr>
        <p:spPr>
          <a:xfrm>
            <a:off x="1371600" y="2999232"/>
            <a:ext cx="8686800" cy="285750"/>
          </a:xfrm>
          <a:prstGeom prst="rect">
            <a:avLst/>
          </a:prstGeom>
          <a:noFill/>
        </p:spPr>
        <p:txBody>
          <a:bodyPr wrap="square" lIns="0" rIns="0" tIns="0" bIns="0" anchor="t"/>
          <a:lstStyle/>
          <a:p>
            <a:pPr algn="l"/>
            <a:r>
              <a:rPr sz="1800" b="0" i="0" spc="18">
                <a:solidFill>
                  <a:srgbClr val="111111"/>
                </a:solidFill>
                <a:latin typeface="Outfit ExtraBold"/>
                <a:ea typeface="Outfit ExtraBold"/>
                <a:cs typeface="Outfit ExtraBold"/>
              </a:rPr>
              <a:t>SYSTEM AND ARCHITECTURE</a:t>
            </a:r>
          </a:p>
        </p:txBody>
      </p:sp>
      <p:sp>
        <p:nvSpPr>
          <p:cNvPr id="17" name="TextBox 16"/>
          <p:cNvSpPr txBox="1"/>
          <p:nvPr/>
        </p:nvSpPr>
        <p:spPr>
          <a:xfrm>
            <a:off x="1371600" y="3337560"/>
            <a:ext cx="8961120" cy="274320"/>
          </a:xfrm>
          <a:prstGeom prst="rect">
            <a:avLst/>
          </a:prstGeom>
          <a:noFill/>
        </p:spPr>
        <p:txBody>
          <a:bodyPr wrap="square" lIns="0" rIns="0" tIns="0" bIns="0" anchor="t"/>
          <a:lstStyle/>
          <a:p>
            <a:pPr algn="l"/>
            <a:r>
              <a:rPr sz="1400" b="0" i="0">
                <a:solidFill>
                  <a:srgbClr val="1F2937"/>
                </a:solidFill>
                <a:latin typeface="Inter"/>
                <a:ea typeface="Inter"/>
                <a:cs typeface="Inter"/>
              </a:rPr>
              <a:t>Five agents in one shared context, a layered platform, four quality gates and an auditable record.</a:t>
            </a:r>
          </a:p>
        </p:txBody>
      </p:sp>
      <p:sp>
        <p:nvSpPr>
          <p:cNvPr id="18" name="Oval 17"/>
          <p:cNvSpPr/>
          <p:nvPr/>
        </p:nvSpPr>
        <p:spPr>
          <a:xfrm>
            <a:off x="841248" y="3822191"/>
            <a:ext cx="347472" cy="347472"/>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3822191"/>
            <a:ext cx="347472" cy="347472"/>
          </a:xfrm>
          <a:prstGeom prst="rect">
            <a:avLst/>
          </a:prstGeom>
          <a:noFill/>
        </p:spPr>
        <p:txBody>
          <a:bodyPr wrap="square" lIns="0" rIns="0" tIns="0" bIns="0" anchor="ctr"/>
          <a:lstStyle/>
          <a:p>
            <a:pPr algn="ctr"/>
            <a:r>
              <a:rPr sz="1200" b="0" i="0">
                <a:solidFill>
                  <a:srgbClr val="FFFFFF"/>
                </a:solidFill>
                <a:latin typeface="Inter SemiBold"/>
                <a:ea typeface="Inter SemiBold"/>
                <a:cs typeface="Inter SemiBold"/>
              </a:rPr>
              <a:t>03</a:t>
            </a:r>
          </a:p>
        </p:txBody>
      </p:sp>
      <p:sp>
        <p:nvSpPr>
          <p:cNvPr id="20" name="TextBox 19"/>
          <p:cNvSpPr txBox="1"/>
          <p:nvPr/>
        </p:nvSpPr>
        <p:spPr>
          <a:xfrm>
            <a:off x="1371600" y="3849624"/>
            <a:ext cx="8686800" cy="285750"/>
          </a:xfrm>
          <a:prstGeom prst="rect">
            <a:avLst/>
          </a:prstGeom>
          <a:noFill/>
        </p:spPr>
        <p:txBody>
          <a:bodyPr wrap="square" lIns="0" rIns="0" tIns="0" bIns="0" anchor="t"/>
          <a:lstStyle/>
          <a:p>
            <a:pPr algn="l"/>
            <a:r>
              <a:rPr sz="1800" b="0" i="0" spc="18">
                <a:solidFill>
                  <a:srgbClr val="111111"/>
                </a:solidFill>
                <a:latin typeface="Outfit ExtraBold"/>
                <a:ea typeface="Outfit ExtraBold"/>
                <a:cs typeface="Outfit ExtraBold"/>
              </a:rPr>
              <a:t>THE FIVE AGENTS</a:t>
            </a:r>
          </a:p>
        </p:txBody>
      </p:sp>
      <p:sp>
        <p:nvSpPr>
          <p:cNvPr id="21" name="TextBox 20"/>
          <p:cNvSpPr txBox="1"/>
          <p:nvPr/>
        </p:nvSpPr>
        <p:spPr>
          <a:xfrm>
            <a:off x="1371600" y="4187952"/>
            <a:ext cx="8961120" cy="274320"/>
          </a:xfrm>
          <a:prstGeom prst="rect">
            <a:avLst/>
          </a:prstGeom>
          <a:noFill/>
        </p:spPr>
        <p:txBody>
          <a:bodyPr wrap="square" lIns="0" rIns="0" tIns="0" bIns="0" anchor="t"/>
          <a:lstStyle/>
          <a:p>
            <a:pPr algn="l"/>
            <a:r>
              <a:rPr sz="1400" b="0" i="0">
                <a:solidFill>
                  <a:srgbClr val="1F2937"/>
                </a:solidFill>
                <a:latin typeface="Inter"/>
                <a:ea typeface="Inter"/>
                <a:cs typeface="Inter"/>
              </a:rPr>
              <a:t>What each agent does, the specialist tools it uses and the evidence it leaves behind.</a:t>
            </a:r>
          </a:p>
        </p:txBody>
      </p:sp>
      <p:sp>
        <p:nvSpPr>
          <p:cNvPr id="22" name="Oval 21"/>
          <p:cNvSpPr/>
          <p:nvPr/>
        </p:nvSpPr>
        <p:spPr>
          <a:xfrm>
            <a:off x="841248" y="4672583"/>
            <a:ext cx="347472" cy="347472"/>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4672583"/>
            <a:ext cx="347472" cy="347472"/>
          </a:xfrm>
          <a:prstGeom prst="rect">
            <a:avLst/>
          </a:prstGeom>
          <a:noFill/>
        </p:spPr>
        <p:txBody>
          <a:bodyPr wrap="square" lIns="0" rIns="0" tIns="0" bIns="0" anchor="ctr"/>
          <a:lstStyle/>
          <a:p>
            <a:pPr algn="ctr"/>
            <a:r>
              <a:rPr sz="1200" b="0" i="0">
                <a:solidFill>
                  <a:srgbClr val="FFFFFF"/>
                </a:solidFill>
                <a:latin typeface="Inter SemiBold"/>
                <a:ea typeface="Inter SemiBold"/>
                <a:cs typeface="Inter SemiBold"/>
              </a:rPr>
              <a:t>04</a:t>
            </a:r>
          </a:p>
        </p:txBody>
      </p:sp>
      <p:sp>
        <p:nvSpPr>
          <p:cNvPr id="24" name="TextBox 23"/>
          <p:cNvSpPr txBox="1"/>
          <p:nvPr/>
        </p:nvSpPr>
        <p:spPr>
          <a:xfrm>
            <a:off x="1371600" y="4700016"/>
            <a:ext cx="8686800" cy="285750"/>
          </a:xfrm>
          <a:prstGeom prst="rect">
            <a:avLst/>
          </a:prstGeom>
          <a:noFill/>
        </p:spPr>
        <p:txBody>
          <a:bodyPr wrap="square" lIns="0" rIns="0" tIns="0" bIns="0" anchor="t"/>
          <a:lstStyle/>
          <a:p>
            <a:pPr algn="l"/>
            <a:r>
              <a:rPr sz="1800" b="0" i="0" spc="18">
                <a:solidFill>
                  <a:srgbClr val="111111"/>
                </a:solidFill>
                <a:latin typeface="Outfit ExtraBold"/>
                <a:ea typeface="Outfit ExtraBold"/>
                <a:cs typeface="Outfit ExtraBold"/>
              </a:rPr>
              <a:t>PLATFORM FEATURES</a:t>
            </a:r>
          </a:p>
        </p:txBody>
      </p:sp>
      <p:sp>
        <p:nvSpPr>
          <p:cNvPr id="25" name="TextBox 24"/>
          <p:cNvSpPr txBox="1"/>
          <p:nvPr/>
        </p:nvSpPr>
        <p:spPr>
          <a:xfrm>
            <a:off x="1371600" y="5038344"/>
            <a:ext cx="8961120" cy="274320"/>
          </a:xfrm>
          <a:prstGeom prst="rect">
            <a:avLst/>
          </a:prstGeom>
          <a:noFill/>
        </p:spPr>
        <p:txBody>
          <a:bodyPr wrap="square" lIns="0" rIns="0" tIns="0" bIns="0" anchor="t"/>
          <a:lstStyle/>
          <a:p>
            <a:pPr algn="l"/>
            <a:r>
              <a:rPr sz="1400" b="0" i="0">
                <a:solidFill>
                  <a:srgbClr val="1F2937"/>
                </a:solidFill>
                <a:latin typeface="Inter"/>
                <a:ea typeface="Inter"/>
                <a:cs typeface="Inter"/>
              </a:rPr>
              <a:t>Studio workspace, change control and versioning, integrations, security by design and the toolchain.</a:t>
            </a:r>
          </a:p>
        </p:txBody>
      </p:sp>
      <p:sp>
        <p:nvSpPr>
          <p:cNvPr id="26" name="Oval 25"/>
          <p:cNvSpPr/>
          <p:nvPr/>
        </p:nvSpPr>
        <p:spPr>
          <a:xfrm>
            <a:off x="841248" y="5522976"/>
            <a:ext cx="347472" cy="347472"/>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522976"/>
            <a:ext cx="347472" cy="347472"/>
          </a:xfrm>
          <a:prstGeom prst="rect">
            <a:avLst/>
          </a:prstGeom>
          <a:noFill/>
        </p:spPr>
        <p:txBody>
          <a:bodyPr wrap="square" lIns="0" rIns="0" tIns="0" bIns="0" anchor="ctr"/>
          <a:lstStyle/>
          <a:p>
            <a:pPr algn="ctr"/>
            <a:r>
              <a:rPr sz="1200" b="0" i="0">
                <a:solidFill>
                  <a:srgbClr val="FFFFFF"/>
                </a:solidFill>
                <a:latin typeface="Inter SemiBold"/>
                <a:ea typeface="Inter SemiBold"/>
                <a:cs typeface="Inter SemiBold"/>
              </a:rPr>
              <a:t>05</a:t>
            </a:r>
          </a:p>
        </p:txBody>
      </p:sp>
      <p:sp>
        <p:nvSpPr>
          <p:cNvPr id="28" name="TextBox 27"/>
          <p:cNvSpPr txBox="1"/>
          <p:nvPr/>
        </p:nvSpPr>
        <p:spPr>
          <a:xfrm>
            <a:off x="1371600" y="5550408"/>
            <a:ext cx="8686800" cy="285750"/>
          </a:xfrm>
          <a:prstGeom prst="rect">
            <a:avLst/>
          </a:prstGeom>
          <a:noFill/>
        </p:spPr>
        <p:txBody>
          <a:bodyPr wrap="square" lIns="0" rIns="0" tIns="0" bIns="0" anchor="t"/>
          <a:lstStyle/>
          <a:p>
            <a:pPr algn="l"/>
            <a:r>
              <a:rPr sz="1800" b="0" i="0" spc="18">
                <a:solidFill>
                  <a:srgbClr val="111111"/>
                </a:solidFill>
                <a:latin typeface="Outfit ExtraBold"/>
                <a:ea typeface="Outfit ExtraBold"/>
                <a:cs typeface="Outfit ExtraBold"/>
              </a:rPr>
              <a:t>EVALUATION AND OUTLOOK</a:t>
            </a:r>
          </a:p>
        </p:txBody>
      </p:sp>
      <p:sp>
        <p:nvSpPr>
          <p:cNvPr id="29" name="TextBox 28"/>
          <p:cNvSpPr txBox="1"/>
          <p:nvPr/>
        </p:nvSpPr>
        <p:spPr>
          <a:xfrm>
            <a:off x="1371600" y="5888736"/>
            <a:ext cx="8961120" cy="274320"/>
          </a:xfrm>
          <a:prstGeom prst="rect">
            <a:avLst/>
          </a:prstGeom>
          <a:noFill/>
        </p:spPr>
        <p:txBody>
          <a:bodyPr wrap="square" lIns="0" rIns="0" tIns="0" bIns="0" anchor="t"/>
          <a:lstStyle/>
          <a:p>
            <a:pPr algn="l"/>
            <a:r>
              <a:rPr sz="1400" b="0" i="0">
                <a:solidFill>
                  <a:srgbClr val="1F2937"/>
                </a:solidFill>
                <a:latin typeface="Inter"/>
                <a:ea typeface="Inter"/>
                <a:cs typeface="Inter"/>
              </a:rPr>
              <a:t>How the system will be evaluated, its known limits, the contributions and the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RESEARCH MOTIVATION</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An idea must survive the whole lifecycle</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03</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4.png"/>
          <p:cNvPicPr>
            <a:picLocks noChangeAspect="1"/>
          </p:cNvPicPr>
          <p:nvPr/>
        </p:nvPicPr>
        <p:blipFill>
          <a:blip r:embed="rId3"/>
          <a:stretch>
            <a:fillRect/>
          </a:stretch>
        </p:blipFill>
        <p:spPr>
          <a:xfrm>
            <a:off x="10488168" y="201168"/>
            <a:ext cx="1316736" cy="1316736"/>
          </a:xfrm>
          <a:prstGeom prst="rect">
            <a:avLst/>
          </a:prstGeom>
        </p:spPr>
      </p:pic>
      <p:sp>
        <p:nvSpPr>
          <p:cNvPr id="9" name="TextBox 8"/>
          <p:cNvSpPr txBox="1"/>
          <p:nvPr/>
        </p:nvSpPr>
        <p:spPr>
          <a:xfrm>
            <a:off x="612648" y="1783080"/>
            <a:ext cx="5257800" cy="1645920"/>
          </a:xfrm>
          <a:prstGeom prst="rect">
            <a:avLst/>
          </a:prstGeom>
          <a:noFill/>
        </p:spPr>
        <p:txBody>
          <a:bodyPr wrap="square" lIns="0" rIns="0" tIns="0" bIns="0" anchor="t"/>
          <a:lstStyle/>
          <a:p>
            <a:pPr algn="l">
              <a:lnSpc>
                <a:spcPct val="108000"/>
              </a:lnSpc>
            </a:pPr>
            <a:r>
              <a:rPr sz="1550" b="0" i="0">
                <a:solidFill>
                  <a:srgbClr val="111111"/>
                </a:solidFill>
                <a:latin typeface="Inter"/>
                <a:ea typeface="Inter"/>
                <a:cs typeface="Inter"/>
              </a:rPr>
              <a:t>A one-line idea such as “an ordering website for my bakery” leaves most decisions open: who the users are, which screens exist, what data is kept, who may do what, and how success is proven. Every later stage depends on those decisions.</a:t>
            </a:r>
          </a:p>
        </p:txBody>
      </p:sp>
      <p:sp>
        <p:nvSpPr>
          <p:cNvPr id="10" name="Rounded Rectangle 9"/>
          <p:cNvSpPr/>
          <p:nvPr/>
        </p:nvSpPr>
        <p:spPr>
          <a:xfrm>
            <a:off x="6327648" y="1783080"/>
            <a:ext cx="5257800" cy="1600200"/>
          </a:xfrm>
          <a:prstGeom prst="roundRect">
            <a:avLst>
              <a:gd name="adj" fmla="val 3500"/>
            </a:avLst>
          </a:prstGeom>
          <a:solidFill>
            <a:srgbClr val="CCDD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65960"/>
            <a:ext cx="4754880" cy="254000"/>
          </a:xfrm>
          <a:prstGeom prst="rect">
            <a:avLst/>
          </a:prstGeom>
          <a:noFill/>
        </p:spPr>
        <p:txBody>
          <a:bodyPr wrap="square" lIns="0" rIns="0" tIns="0" bIns="0" anchor="t"/>
          <a:lstStyle/>
          <a:p>
            <a:pPr algn="l"/>
            <a:r>
              <a:rPr sz="1600" b="0" i="0" spc="16">
                <a:solidFill>
                  <a:srgbClr val="111111"/>
                </a:solidFill>
                <a:latin typeface="Outfit ExtraBold"/>
                <a:ea typeface="Outfit ExtraBold"/>
                <a:cs typeface="Outfit ExtraBold"/>
              </a:rPr>
              <a:t>AGENTFORGE'S ANSWER</a:t>
            </a:r>
          </a:p>
        </p:txBody>
      </p:sp>
      <p:sp>
        <p:nvSpPr>
          <p:cNvPr id="12" name="TextBox 11"/>
          <p:cNvSpPr txBox="1"/>
          <p:nvPr/>
        </p:nvSpPr>
        <p:spPr>
          <a:xfrm>
            <a:off x="6583680" y="2331720"/>
            <a:ext cx="4800600" cy="960120"/>
          </a:xfrm>
          <a:prstGeom prst="rect">
            <a:avLst/>
          </a:prstGeom>
          <a:noFill/>
        </p:spPr>
        <p:txBody>
          <a:bodyPr wrap="square" lIns="0" rIns="0" tIns="0" bIns="0" anchor="t"/>
          <a:lstStyle/>
          <a:p>
            <a:pPr algn="l">
              <a:lnSpc>
                <a:spcPct val="105000"/>
              </a:lnSpc>
            </a:pPr>
            <a:r>
              <a:rPr sz="1300" b="0" i="0">
                <a:solidFill>
                  <a:srgbClr val="111111"/>
                </a:solidFill>
                <a:latin typeface="Inter"/>
                <a:ea typeface="Inter"/>
                <a:cs typeface="Inter"/>
              </a:rPr>
              <a:t>Five specialist agents share one persistent project record, check every artifact before the next stage uses it, and carry QA findings back into repair — until a human approves the release.</a:t>
            </a:r>
          </a:p>
        </p:txBody>
      </p:sp>
      <p:sp>
        <p:nvSpPr>
          <p:cNvPr id="13" name="Chevron 12"/>
          <p:cNvSpPr/>
          <p:nvPr/>
        </p:nvSpPr>
        <p:spPr>
          <a:xfrm>
            <a:off x="612648" y="3657600"/>
            <a:ext cx="1798320" cy="457200"/>
          </a:xfrm>
          <a:prstGeom prst="chevron">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3657600"/>
            <a:ext cx="1478280" cy="457200"/>
          </a:xfrm>
          <a:prstGeom prst="rect">
            <a:avLst/>
          </a:prstGeom>
          <a:noFill/>
        </p:spPr>
        <p:txBody>
          <a:bodyPr wrap="square" lIns="0" rIns="0" tIns="0" bIns="0" anchor="ctr"/>
          <a:lstStyle/>
          <a:p>
            <a:pPr algn="ctr"/>
            <a:r>
              <a:rPr sz="1200" b="0" i="0" spc="40">
                <a:solidFill>
                  <a:srgbClr val="FFFFFF"/>
                </a:solidFill>
                <a:latin typeface="Outfit ExtraBold"/>
                <a:ea typeface="Outfit ExtraBold"/>
                <a:cs typeface="Outfit ExtraBold"/>
              </a:rPr>
              <a:t>IDEA</a:t>
            </a:r>
          </a:p>
        </p:txBody>
      </p:sp>
      <p:sp>
        <p:nvSpPr>
          <p:cNvPr id="15" name="Chevron 14"/>
          <p:cNvSpPr/>
          <p:nvPr/>
        </p:nvSpPr>
        <p:spPr>
          <a:xfrm>
            <a:off x="2447544" y="3657600"/>
            <a:ext cx="1798320" cy="457200"/>
          </a:xfrm>
          <a:prstGeom prst="chevron">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30424" y="3657600"/>
            <a:ext cx="1478280" cy="457200"/>
          </a:xfrm>
          <a:prstGeom prst="rect">
            <a:avLst/>
          </a:prstGeom>
          <a:noFill/>
        </p:spPr>
        <p:txBody>
          <a:bodyPr wrap="square" lIns="0" rIns="0" tIns="0" bIns="0" anchor="ctr"/>
          <a:lstStyle/>
          <a:p>
            <a:pPr algn="ctr"/>
            <a:r>
              <a:rPr sz="1200" b="0" i="0" spc="40">
                <a:solidFill>
                  <a:srgbClr val="FFFFFF"/>
                </a:solidFill>
                <a:latin typeface="Outfit ExtraBold"/>
                <a:ea typeface="Outfit ExtraBold"/>
                <a:cs typeface="Outfit ExtraBold"/>
              </a:rPr>
              <a:t>REQUIREMENTS</a:t>
            </a:r>
          </a:p>
        </p:txBody>
      </p:sp>
      <p:sp>
        <p:nvSpPr>
          <p:cNvPr id="17" name="Chevron 16"/>
          <p:cNvSpPr/>
          <p:nvPr/>
        </p:nvSpPr>
        <p:spPr>
          <a:xfrm>
            <a:off x="4282440" y="3657600"/>
            <a:ext cx="1798320" cy="457200"/>
          </a:xfrm>
          <a:prstGeom prst="chevron">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5320" y="3657600"/>
            <a:ext cx="1478280" cy="457200"/>
          </a:xfrm>
          <a:prstGeom prst="rect">
            <a:avLst/>
          </a:prstGeom>
          <a:noFill/>
        </p:spPr>
        <p:txBody>
          <a:bodyPr wrap="square" lIns="0" rIns="0" tIns="0" bIns="0" anchor="ctr"/>
          <a:lstStyle/>
          <a:p>
            <a:pPr algn="ctr"/>
            <a:r>
              <a:rPr sz="1200" b="0" i="0" spc="40">
                <a:solidFill>
                  <a:srgbClr val="FFFFFF"/>
                </a:solidFill>
                <a:latin typeface="Outfit ExtraBold"/>
                <a:ea typeface="Outfit ExtraBold"/>
                <a:cs typeface="Outfit ExtraBold"/>
              </a:rPr>
              <a:t>DESIGN</a:t>
            </a:r>
          </a:p>
        </p:txBody>
      </p:sp>
      <p:sp>
        <p:nvSpPr>
          <p:cNvPr id="19" name="Chevron 18"/>
          <p:cNvSpPr/>
          <p:nvPr/>
        </p:nvSpPr>
        <p:spPr>
          <a:xfrm>
            <a:off x="6117336" y="3657600"/>
            <a:ext cx="1798320" cy="457200"/>
          </a:xfrm>
          <a:prstGeom prst="chevron">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0216" y="3657600"/>
            <a:ext cx="1478280" cy="457200"/>
          </a:xfrm>
          <a:prstGeom prst="rect">
            <a:avLst/>
          </a:prstGeom>
          <a:noFill/>
        </p:spPr>
        <p:txBody>
          <a:bodyPr wrap="square" lIns="0" rIns="0" tIns="0" bIns="0" anchor="ctr"/>
          <a:lstStyle/>
          <a:p>
            <a:pPr algn="ctr"/>
            <a:r>
              <a:rPr sz="1200" b="0" i="0" spc="40">
                <a:solidFill>
                  <a:srgbClr val="FFFFFF"/>
                </a:solidFill>
                <a:latin typeface="Outfit ExtraBold"/>
                <a:ea typeface="Outfit ExtraBold"/>
                <a:cs typeface="Outfit ExtraBold"/>
              </a:rPr>
              <a:t>CODE</a:t>
            </a:r>
          </a:p>
        </p:txBody>
      </p:sp>
      <p:sp>
        <p:nvSpPr>
          <p:cNvPr id="21" name="Chevron 20"/>
          <p:cNvSpPr/>
          <p:nvPr/>
        </p:nvSpPr>
        <p:spPr>
          <a:xfrm>
            <a:off x="7952232" y="3657600"/>
            <a:ext cx="1798320" cy="457200"/>
          </a:xfrm>
          <a:prstGeom prst="chevron">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5112" y="3657600"/>
            <a:ext cx="1478280" cy="457200"/>
          </a:xfrm>
          <a:prstGeom prst="rect">
            <a:avLst/>
          </a:prstGeom>
          <a:noFill/>
        </p:spPr>
        <p:txBody>
          <a:bodyPr wrap="square" lIns="0" rIns="0" tIns="0" bIns="0" anchor="ctr"/>
          <a:lstStyle/>
          <a:p>
            <a:pPr algn="ctr"/>
            <a:r>
              <a:rPr sz="1200" b="0" i="0" spc="40">
                <a:solidFill>
                  <a:srgbClr val="FFFFFF"/>
                </a:solidFill>
                <a:latin typeface="Outfit ExtraBold"/>
                <a:ea typeface="Outfit ExtraBold"/>
                <a:cs typeface="Outfit ExtraBold"/>
              </a:rPr>
              <a:t>TESTS</a:t>
            </a:r>
          </a:p>
        </p:txBody>
      </p:sp>
      <p:sp>
        <p:nvSpPr>
          <p:cNvPr id="23" name="Chevron 22"/>
          <p:cNvSpPr/>
          <p:nvPr/>
        </p:nvSpPr>
        <p:spPr>
          <a:xfrm>
            <a:off x="9787128" y="3657600"/>
            <a:ext cx="1798320" cy="457200"/>
          </a:xfrm>
          <a:prstGeom prst="chevron">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70008" y="3657600"/>
            <a:ext cx="1478280" cy="457200"/>
          </a:xfrm>
          <a:prstGeom prst="rect">
            <a:avLst/>
          </a:prstGeom>
          <a:noFill/>
        </p:spPr>
        <p:txBody>
          <a:bodyPr wrap="square" lIns="0" rIns="0" tIns="0" bIns="0" anchor="ctr"/>
          <a:lstStyle/>
          <a:p>
            <a:pPr algn="ctr"/>
            <a:r>
              <a:rPr sz="1200" b="0" i="0" spc="40">
                <a:solidFill>
                  <a:srgbClr val="FFFFFF"/>
                </a:solidFill>
                <a:latin typeface="Outfit ExtraBold"/>
                <a:ea typeface="Outfit ExtraBold"/>
                <a:cs typeface="Outfit ExtraBold"/>
              </a:rPr>
              <a:t>RELEASE</a:t>
            </a:r>
          </a:p>
        </p:txBody>
      </p:sp>
      <p:sp>
        <p:nvSpPr>
          <p:cNvPr id="25" name="Rounded Rectangle 24"/>
          <p:cNvSpPr/>
          <p:nvPr/>
        </p:nvSpPr>
        <p:spPr>
          <a:xfrm>
            <a:off x="612648" y="4389120"/>
            <a:ext cx="3505200" cy="17830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572000"/>
            <a:ext cx="3048000" cy="254000"/>
          </a:xfrm>
          <a:prstGeom prst="rect">
            <a:avLst/>
          </a:prstGeom>
          <a:noFill/>
        </p:spPr>
        <p:txBody>
          <a:bodyPr wrap="square" lIns="0" rIns="0" tIns="0" bIns="0" anchor="t"/>
          <a:lstStyle/>
          <a:p>
            <a:pPr algn="l"/>
            <a:r>
              <a:rPr sz="1600" b="0" i="0" spc="16">
                <a:solidFill>
                  <a:srgbClr val="111111"/>
                </a:solidFill>
                <a:latin typeface="Outfit ExtraBold"/>
                <a:ea typeface="Outfit ExtraBold"/>
                <a:cs typeface="Outfit ExtraBold"/>
              </a:rPr>
              <a:t>AMBIGUITY</a:t>
            </a:r>
          </a:p>
        </p:txBody>
      </p:sp>
      <p:sp>
        <p:nvSpPr>
          <p:cNvPr id="27" name="TextBox 26"/>
          <p:cNvSpPr txBox="1"/>
          <p:nvPr/>
        </p:nvSpPr>
        <p:spPr>
          <a:xfrm>
            <a:off x="841248" y="4899152"/>
            <a:ext cx="304800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Code generators start coding before requirements exist, so missing roles, rules and edge cases surface late — when they are most expensive to fix.</a:t>
            </a:r>
          </a:p>
        </p:txBody>
      </p:sp>
      <p:sp>
        <p:nvSpPr>
          <p:cNvPr id="28" name="Rounded Rectangle 27"/>
          <p:cNvSpPr/>
          <p:nvPr/>
        </p:nvSpPr>
        <p:spPr>
          <a:xfrm>
            <a:off x="4346448" y="4389120"/>
            <a:ext cx="3505200" cy="17830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5048" y="4572000"/>
            <a:ext cx="3048000" cy="254000"/>
          </a:xfrm>
          <a:prstGeom prst="rect">
            <a:avLst/>
          </a:prstGeom>
          <a:noFill/>
        </p:spPr>
        <p:txBody>
          <a:bodyPr wrap="square" lIns="0" rIns="0" tIns="0" bIns="0" anchor="t"/>
          <a:lstStyle/>
          <a:p>
            <a:pPr algn="l"/>
            <a:r>
              <a:rPr sz="1600" b="0" i="0" spc="16">
                <a:solidFill>
                  <a:srgbClr val="111111"/>
                </a:solidFill>
                <a:latin typeface="Outfit ExtraBold"/>
                <a:ea typeface="Outfit ExtraBold"/>
                <a:cs typeface="Outfit ExtraBold"/>
              </a:rPr>
              <a:t>CONTEXT LOSS</a:t>
            </a:r>
          </a:p>
        </p:txBody>
      </p:sp>
      <p:sp>
        <p:nvSpPr>
          <p:cNvPr id="30" name="TextBox 29"/>
          <p:cNvSpPr txBox="1"/>
          <p:nvPr/>
        </p:nvSpPr>
        <p:spPr>
          <a:xfrm>
            <a:off x="4575048" y="4899152"/>
            <a:ext cx="3048000" cy="1037907"/>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When each step starts a fresh conversation, earlier decisions are forgotten or re-invented, and the product drifts away from what the customer asked for.</a:t>
            </a:r>
          </a:p>
        </p:txBody>
      </p:sp>
      <p:sp>
        <p:nvSpPr>
          <p:cNvPr id="31" name="Rounded Rectangle 30"/>
          <p:cNvSpPr/>
          <p:nvPr/>
        </p:nvSpPr>
        <p:spPr>
          <a:xfrm>
            <a:off x="8080248" y="4389120"/>
            <a:ext cx="3505200" cy="17830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08848" y="4572000"/>
            <a:ext cx="3048000" cy="254000"/>
          </a:xfrm>
          <a:prstGeom prst="rect">
            <a:avLst/>
          </a:prstGeom>
          <a:noFill/>
        </p:spPr>
        <p:txBody>
          <a:bodyPr wrap="square" lIns="0" rIns="0" tIns="0" bIns="0" anchor="t"/>
          <a:lstStyle/>
          <a:p>
            <a:pPr algn="l"/>
            <a:r>
              <a:rPr sz="1600" b="0" i="0" spc="16">
                <a:solidFill>
                  <a:srgbClr val="111111"/>
                </a:solidFill>
                <a:latin typeface="Outfit ExtraBold"/>
                <a:ea typeface="Outfit ExtraBold"/>
                <a:cs typeface="Outfit ExtraBold"/>
              </a:rPr>
              <a:t>UNPROVEN QUALITY</a:t>
            </a:r>
          </a:p>
        </p:txBody>
      </p:sp>
      <p:sp>
        <p:nvSpPr>
          <p:cNvPr id="33" name="TextBox 32"/>
          <p:cNvSpPr txBox="1"/>
          <p:nvPr/>
        </p:nvSpPr>
        <p:spPr>
          <a:xfrm>
            <a:off x="8308848" y="4899152"/>
            <a:ext cx="3048000" cy="1037907"/>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“It works” is usually the model's own claim. Without runner evidence for tests, accessibility, performance and security, nobody can verify the release.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RESEARCH GAP</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Six gaps in AI-assisted delivery</a:t>
            </a:r>
          </a:p>
        </p:txBody>
      </p:sp>
      <p:sp>
        <p:nvSpPr>
          <p:cNvPr id="6" name="TextBox 5"/>
          <p:cNvSpPr txBox="1"/>
          <p:nvPr/>
        </p:nvSpPr>
        <p:spPr>
          <a:xfrm>
            <a:off x="612648" y="1554480"/>
            <a:ext cx="9692640" cy="310896"/>
          </a:xfrm>
          <a:prstGeom prst="rect">
            <a:avLst/>
          </a:prstGeom>
          <a:noFill/>
        </p:spPr>
        <p:txBody>
          <a:bodyPr wrap="square" lIns="0" rIns="0" tIns="0" bIns="0" anchor="t"/>
          <a:lstStyle/>
          <a:p>
            <a:pPr algn="l"/>
            <a:r>
              <a:rPr sz="1600" b="0" i="0">
                <a:solidFill>
                  <a:srgbClr val="1F2937"/>
                </a:solidFill>
                <a:latin typeface="Inter"/>
                <a:ea typeface="Inter"/>
                <a:cs typeface="Inter"/>
              </a:rPr>
              <a:t>Code now comes fast, but the path from idea to verified release still breaks in six places.</a:t>
            </a:r>
          </a:p>
        </p:txBody>
      </p:sp>
      <p:sp>
        <p:nvSpPr>
          <p:cNvPr id="7" name="TextBox 6"/>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04</a:t>
            </a:r>
          </a:p>
        </p:txBody>
      </p:sp>
      <p:sp>
        <p:nvSpPr>
          <p:cNvPr id="8" name="TextBox 7"/>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9" name="Picture 8" descr="76.png"/>
          <p:cNvPicPr>
            <a:picLocks noChangeAspect="1"/>
          </p:cNvPicPr>
          <p:nvPr/>
        </p:nvPicPr>
        <p:blipFill>
          <a:blip r:embed="rId3"/>
          <a:stretch>
            <a:fillRect/>
          </a:stretch>
        </p:blipFill>
        <p:spPr>
          <a:xfrm>
            <a:off x="10488168" y="201168"/>
            <a:ext cx="1316736" cy="1316736"/>
          </a:xfrm>
          <a:prstGeom prst="rect">
            <a:avLst/>
          </a:prstGeom>
        </p:spPr>
      </p:pic>
      <p:sp>
        <p:nvSpPr>
          <p:cNvPr id="10" name="Rounded Rectangle 9"/>
          <p:cNvSpPr/>
          <p:nvPr/>
        </p:nvSpPr>
        <p:spPr>
          <a:xfrm>
            <a:off x="612648" y="2103120"/>
            <a:ext cx="3505200" cy="20116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28600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G1</a:t>
            </a:r>
          </a:p>
        </p:txBody>
      </p:sp>
      <p:sp>
        <p:nvSpPr>
          <p:cNvPr id="12" name="TextBox 11"/>
          <p:cNvSpPr txBox="1"/>
          <p:nvPr/>
        </p:nvSpPr>
        <p:spPr>
          <a:xfrm>
            <a:off x="841248" y="2542032"/>
            <a:ext cx="3048000"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REQUIREMENTS ARE ASSUMED</a:t>
            </a:r>
          </a:p>
        </p:txBody>
      </p:sp>
      <p:sp>
        <p:nvSpPr>
          <p:cNvPr id="13" name="TextBox 12"/>
          <p:cNvSpPr txBox="1"/>
          <p:nvPr/>
        </p:nvSpPr>
        <p:spPr>
          <a:xfrm>
            <a:off x="841248" y="2861246"/>
            <a:ext cx="304800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Prompt-to-code tools rarely elicit requirements. There is no standards-based SRS that traces features to screens, data and tests.</a:t>
            </a:r>
          </a:p>
        </p:txBody>
      </p:sp>
      <p:sp>
        <p:nvSpPr>
          <p:cNvPr id="14" name="Rounded Rectangle 13"/>
          <p:cNvSpPr/>
          <p:nvPr/>
        </p:nvSpPr>
        <p:spPr>
          <a:xfrm>
            <a:off x="4346448" y="2103120"/>
            <a:ext cx="3505200" cy="20116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5048" y="228600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G2</a:t>
            </a:r>
          </a:p>
        </p:txBody>
      </p:sp>
      <p:sp>
        <p:nvSpPr>
          <p:cNvPr id="16" name="TextBox 15"/>
          <p:cNvSpPr txBox="1"/>
          <p:nvPr/>
        </p:nvSpPr>
        <p:spPr>
          <a:xfrm>
            <a:off x="4575048" y="2542032"/>
            <a:ext cx="3048000"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CONTEXT IS FRAGMENTED</a:t>
            </a:r>
          </a:p>
        </p:txBody>
      </p:sp>
      <p:sp>
        <p:nvSpPr>
          <p:cNvPr id="17" name="TextBox 16"/>
          <p:cNvSpPr txBox="1"/>
          <p:nvPr/>
        </p:nvSpPr>
        <p:spPr>
          <a:xfrm>
            <a:off x="4575048" y="2861246"/>
            <a:ext cx="304800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Multi-agent pipelines hand documents between separate conversations; earlier decisions are summarised away or lost between roles.</a:t>
            </a:r>
          </a:p>
        </p:txBody>
      </p:sp>
      <p:sp>
        <p:nvSpPr>
          <p:cNvPr id="18" name="Rounded Rectangle 17"/>
          <p:cNvSpPr/>
          <p:nvPr/>
        </p:nvSpPr>
        <p:spPr>
          <a:xfrm>
            <a:off x="8080248" y="2103120"/>
            <a:ext cx="3505200" cy="20116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8848" y="228600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G3</a:t>
            </a:r>
          </a:p>
        </p:txBody>
      </p:sp>
      <p:sp>
        <p:nvSpPr>
          <p:cNvPr id="20" name="TextBox 19"/>
          <p:cNvSpPr txBox="1"/>
          <p:nvPr/>
        </p:nvSpPr>
        <p:spPr>
          <a:xfrm>
            <a:off x="8308848" y="2542032"/>
            <a:ext cx="3048000"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LLMS GRADE THEMSELVES</a:t>
            </a:r>
          </a:p>
        </p:txBody>
      </p:sp>
      <p:sp>
        <p:nvSpPr>
          <p:cNvPr id="21" name="TextBox 20"/>
          <p:cNvSpPr txBox="1"/>
          <p:nvPr/>
        </p:nvSpPr>
        <p:spPr>
          <a:xfrm>
            <a:off x="8308848" y="2861246"/>
            <a:ext cx="304800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Quality is usually judged by the same kind of model that wrote the output. Few systems use deterministic, code-based acceptance gates.</a:t>
            </a:r>
          </a:p>
        </p:txBody>
      </p:sp>
      <p:sp>
        <p:nvSpPr>
          <p:cNvPr id="22" name="Rounded Rectangle 21"/>
          <p:cNvSpPr/>
          <p:nvPr/>
        </p:nvSpPr>
        <p:spPr>
          <a:xfrm>
            <a:off x="612648" y="4279392"/>
            <a:ext cx="3505200" cy="20116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446227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G4</a:t>
            </a:r>
          </a:p>
        </p:txBody>
      </p:sp>
      <p:sp>
        <p:nvSpPr>
          <p:cNvPr id="24" name="TextBox 23"/>
          <p:cNvSpPr txBox="1"/>
          <p:nvPr/>
        </p:nvSpPr>
        <p:spPr>
          <a:xfrm>
            <a:off x="841248" y="4718304"/>
            <a:ext cx="3048000"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TESTING WITHOUT EVIDENCE</a:t>
            </a:r>
          </a:p>
        </p:txBody>
      </p:sp>
      <p:sp>
        <p:nvSpPr>
          <p:cNvPr id="25" name="TextBox 24"/>
          <p:cNvSpPr txBox="1"/>
          <p:nvPr/>
        </p:nvSpPr>
        <p:spPr>
          <a:xfrm>
            <a:off x="841248" y="5037518"/>
            <a:ext cx="304800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Tests are claimed, not proven; a missing report can read as a pass. Accessibility, performance and security are often skipped.</a:t>
            </a:r>
          </a:p>
        </p:txBody>
      </p:sp>
      <p:sp>
        <p:nvSpPr>
          <p:cNvPr id="26" name="Rounded Rectangle 25"/>
          <p:cNvSpPr/>
          <p:nvPr/>
        </p:nvSpPr>
        <p:spPr>
          <a:xfrm>
            <a:off x="4346448" y="4279392"/>
            <a:ext cx="3505200" cy="20116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5048" y="446227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G5</a:t>
            </a:r>
          </a:p>
        </p:txBody>
      </p:sp>
      <p:sp>
        <p:nvSpPr>
          <p:cNvPr id="28" name="TextBox 27"/>
          <p:cNvSpPr txBox="1"/>
          <p:nvPr/>
        </p:nvSpPr>
        <p:spPr>
          <a:xfrm>
            <a:off x="4575048" y="4718304"/>
            <a:ext cx="3048000"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THE LAST MILE IS MANUAL</a:t>
            </a:r>
          </a:p>
        </p:txBody>
      </p:sp>
      <p:sp>
        <p:nvSpPr>
          <p:cNvPr id="29" name="TextBox 28"/>
          <p:cNvSpPr txBox="1"/>
          <p:nvPr/>
        </p:nvSpPr>
        <p:spPr>
          <a:xfrm>
            <a:off x="4575048" y="5037518"/>
            <a:ext cx="304800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Deployment, secrets, databases, domains, rollback and live verification are left to the developer, or done without human approval.</a:t>
            </a:r>
          </a:p>
        </p:txBody>
      </p:sp>
      <p:sp>
        <p:nvSpPr>
          <p:cNvPr id="30" name="Rounded Rectangle 29"/>
          <p:cNvSpPr/>
          <p:nvPr/>
        </p:nvSpPr>
        <p:spPr>
          <a:xfrm>
            <a:off x="8080248" y="4279392"/>
            <a:ext cx="3505200" cy="20116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08848" y="446227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G6</a:t>
            </a:r>
          </a:p>
        </p:txBody>
      </p:sp>
      <p:sp>
        <p:nvSpPr>
          <p:cNvPr id="32" name="TextBox 31"/>
          <p:cNvSpPr txBox="1"/>
          <p:nvPr/>
        </p:nvSpPr>
        <p:spPr>
          <a:xfrm>
            <a:off x="8308848" y="4718304"/>
            <a:ext cx="3048000"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CLOUD-ONLY AND OPAQUE</a:t>
            </a:r>
          </a:p>
        </p:txBody>
      </p:sp>
      <p:sp>
        <p:nvSpPr>
          <p:cNvPr id="33" name="TextBox 32"/>
          <p:cNvSpPr txBox="1"/>
          <p:nvPr/>
        </p:nvSpPr>
        <p:spPr>
          <a:xfrm>
            <a:off x="8308848" y="5037518"/>
            <a:ext cx="304800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Most tools depend on proprietary cloud models with hidden prompts; local open-weight models and inspectable behaviour are rare.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POSITIONING</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How AgentForge closes the gap</a:t>
            </a:r>
          </a:p>
        </p:txBody>
      </p:sp>
      <p:sp>
        <p:nvSpPr>
          <p:cNvPr id="6" name="TextBox 5"/>
          <p:cNvSpPr txBox="1"/>
          <p:nvPr/>
        </p:nvSpPr>
        <p:spPr>
          <a:xfrm>
            <a:off x="612648" y="1554480"/>
            <a:ext cx="9692640" cy="310896"/>
          </a:xfrm>
          <a:prstGeom prst="rect">
            <a:avLst/>
          </a:prstGeom>
          <a:noFill/>
        </p:spPr>
        <p:txBody>
          <a:bodyPr wrap="square" lIns="0" rIns="0" tIns="0" bIns="0" anchor="t"/>
          <a:lstStyle/>
          <a:p>
            <a:pPr algn="l"/>
            <a:r>
              <a:rPr sz="1600" b="0" i="0">
                <a:solidFill>
                  <a:srgbClr val="1F2937"/>
                </a:solidFill>
                <a:latin typeface="Inter"/>
                <a:ea typeface="Inter"/>
                <a:cs typeface="Inter"/>
              </a:rPr>
              <a:t>Capability coverage by category of tool — what each approach typically provides out of the box.</a:t>
            </a:r>
          </a:p>
        </p:txBody>
      </p:sp>
      <p:sp>
        <p:nvSpPr>
          <p:cNvPr id="7" name="TextBox 6"/>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05</a:t>
            </a:r>
          </a:p>
        </p:txBody>
      </p:sp>
      <p:sp>
        <p:nvSpPr>
          <p:cNvPr id="8" name="TextBox 7"/>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9" name="Picture 8" descr="74.png"/>
          <p:cNvPicPr>
            <a:picLocks noChangeAspect="1"/>
          </p:cNvPicPr>
          <p:nvPr/>
        </p:nvPicPr>
        <p:blipFill>
          <a:blip r:embed="rId3"/>
          <a:stretch>
            <a:fillRect/>
          </a:stretch>
        </p:blipFill>
        <p:spPr>
          <a:xfrm>
            <a:off x="10488168" y="201168"/>
            <a:ext cx="1316736" cy="1316736"/>
          </a:xfrm>
          <a:prstGeom prst="rect">
            <a:avLst/>
          </a:prstGeom>
        </p:spPr>
      </p:pic>
      <p:graphicFrame>
        <p:nvGraphicFramePr>
          <p:cNvPr id="10" name="Table 9"/>
          <p:cNvGraphicFramePr>
            <a:graphicFrameLocks noGrp="1"/>
          </p:cNvGraphicFramePr>
          <p:nvPr/>
        </p:nvGraphicFramePr>
        <p:xfrm>
          <a:off x="612648" y="2057400"/>
          <a:ext cx="10972800" cy="3785616"/>
        </p:xfrm>
        <a:graphic>
          <a:graphicData uri="http://schemas.openxmlformats.org/drawingml/2006/table">
            <a:tbl>
              <a:tblPr firstRow="0" bandRow="0" firstCol="0" lastRow="0" lastCol="0" bandCol="0">
                <a:tableStyleId>{2D5ABB26-0587-4C30-8999-92F81FD0307C}</a:tableStyleId>
              </a:tblPr>
              <a:tblGrid>
                <a:gridCol w="4297680"/>
                <a:gridCol w="1664208"/>
                <a:gridCol w="1664208"/>
                <a:gridCol w="1664208"/>
                <a:gridCol w="1682496"/>
              </a:tblGrid>
              <a:tr h="566928">
                <a:tc>
                  <a:txBody>
                    <a:bodyPr wrap="square"/>
                    <a:lstStyle/>
                    <a:p>
                      <a:pPr algn="l"/>
                      <a:r>
                        <a:rPr sz="1150" b="0" i="0">
                          <a:solidFill>
                            <a:srgbClr val="111111"/>
                          </a:solidFill>
                          <a:latin typeface="Outfit ExtraBold"/>
                          <a:ea typeface="Outfit ExtraBold"/>
                          <a:cs typeface="Outfit ExtraBold"/>
                        </a:rPr>
                        <a:t>Capability</a:t>
                      </a:r>
                    </a:p>
                  </a:txBody>
                  <a:tcPr marL="109728" marR="91440" marT="36576" marB="36576" anchor="ctr">
                    <a:lnL w="0">
                      <a:noFill/>
                    </a:lnL>
                    <a:lnR w="0">
                      <a:noFill/>
                    </a:lnR>
                    <a:lnT w="0">
                      <a:noFill/>
                    </a:lnT>
                    <a:lnB w="9525">
                      <a:solidFill>
                        <a:srgbClr val="D5DEEF"/>
                      </a:solidFill>
                    </a:lnB>
                    <a:solidFill>
                      <a:srgbClr val="CCDDFF"/>
                    </a:solidFill>
                  </a:tcPr>
                </a:tc>
                <a:tc>
                  <a:txBody>
                    <a:bodyPr wrap="square"/>
                    <a:lstStyle/>
                    <a:p>
                      <a:pPr algn="ctr"/>
                      <a:r>
                        <a:rPr sz="1150" b="0" i="0">
                          <a:solidFill>
                            <a:srgbClr val="111111"/>
                          </a:solidFill>
                          <a:latin typeface="Outfit ExtraBold"/>
                          <a:ea typeface="Outfit ExtraBold"/>
                          <a:cs typeface="Outfit ExtraBold"/>
                        </a:rPr>
                        <a:t>Coding assistants
(Copilot, Cursor)</a:t>
                      </a:r>
                    </a:p>
                  </a:txBody>
                  <a:tcPr marL="109728" marR="91440" marT="36576" marB="36576" anchor="ctr">
                    <a:lnL w="0">
                      <a:noFill/>
                    </a:lnL>
                    <a:lnR w="0">
                      <a:noFill/>
                    </a:lnR>
                    <a:lnT w="0">
                      <a:noFill/>
                    </a:lnT>
                    <a:lnB w="9525">
                      <a:solidFill>
                        <a:srgbClr val="D5DEEF"/>
                      </a:solidFill>
                    </a:lnB>
                    <a:solidFill>
                      <a:srgbClr val="CCDDFF"/>
                    </a:solidFill>
                  </a:tcPr>
                </a:tc>
                <a:tc>
                  <a:txBody>
                    <a:bodyPr wrap="square"/>
                    <a:lstStyle/>
                    <a:p>
                      <a:pPr algn="ctr"/>
                      <a:r>
                        <a:rPr sz="1150" b="0" i="0">
                          <a:solidFill>
                            <a:srgbClr val="111111"/>
                          </a:solidFill>
                          <a:latin typeface="Outfit ExtraBold"/>
                          <a:ea typeface="Outfit ExtraBold"/>
                          <a:cs typeface="Outfit ExtraBold"/>
                        </a:rPr>
                        <a:t>Prompt-to-app
(Bolt, Lovable, v0)</a:t>
                      </a:r>
                    </a:p>
                  </a:txBody>
                  <a:tcPr marL="109728" marR="91440" marT="36576" marB="36576" anchor="ctr">
                    <a:lnL w="0">
                      <a:noFill/>
                    </a:lnL>
                    <a:lnR w="0">
                      <a:noFill/>
                    </a:lnR>
                    <a:lnT w="0">
                      <a:noFill/>
                    </a:lnT>
                    <a:lnB w="9525">
                      <a:solidFill>
                        <a:srgbClr val="D5DEEF"/>
                      </a:solidFill>
                    </a:lnB>
                    <a:solidFill>
                      <a:srgbClr val="CCDDFF"/>
                    </a:solidFill>
                  </a:tcPr>
                </a:tc>
                <a:tc>
                  <a:txBody>
                    <a:bodyPr wrap="square"/>
                    <a:lstStyle/>
                    <a:p>
                      <a:pPr algn="ctr"/>
                      <a:r>
                        <a:rPr sz="1150" b="0" i="0">
                          <a:solidFill>
                            <a:srgbClr val="111111"/>
                          </a:solidFill>
                          <a:latin typeface="Outfit ExtraBold"/>
                          <a:ea typeface="Outfit ExtraBold"/>
                          <a:cs typeface="Outfit ExtraBold"/>
                        </a:rPr>
                        <a:t>Research agents
(ChatDev, MetaGPT)</a:t>
                      </a:r>
                    </a:p>
                  </a:txBody>
                  <a:tcPr marL="109728" marR="91440" marT="36576" marB="36576" anchor="ctr">
                    <a:lnL w="0">
                      <a:noFill/>
                    </a:lnL>
                    <a:lnR w="0">
                      <a:noFill/>
                    </a:lnR>
                    <a:lnT w="0">
                      <a:noFill/>
                    </a:lnT>
                    <a:lnB w="9525">
                      <a:solidFill>
                        <a:srgbClr val="D5DEEF"/>
                      </a:solidFill>
                    </a:lnB>
                    <a:solidFill>
                      <a:srgbClr val="CCDDFF"/>
                    </a:solidFill>
                  </a:tcPr>
                </a:tc>
                <a:tc>
                  <a:txBody>
                    <a:bodyPr wrap="square"/>
                    <a:lstStyle/>
                    <a:p>
                      <a:pPr algn="ctr"/>
                      <a:r>
                        <a:rPr sz="1150" b="0" i="0">
                          <a:solidFill>
                            <a:srgbClr val="FFFFFF"/>
                          </a:solidFill>
                          <a:latin typeface="Outfit ExtraBold"/>
                          <a:ea typeface="Outfit ExtraBold"/>
                          <a:cs typeface="Outfit ExtraBold"/>
                        </a:rPr>
                        <a:t>AgentForge</a:t>
                      </a:r>
                    </a:p>
                  </a:txBody>
                  <a:tcPr marL="109728" marR="91440" marT="36576" marB="36576" anchor="ctr">
                    <a:lnL w="0">
                      <a:noFill/>
                    </a:lnL>
                    <a:lnR w="0">
                      <a:noFill/>
                    </a:lnR>
                    <a:lnT w="0">
                      <a:noFill/>
                    </a:lnT>
                    <a:lnB w="9525">
                      <a:solidFill>
                        <a:srgbClr val="D5DEEF"/>
                      </a:solidFill>
                    </a:lnB>
                    <a:solidFill>
                      <a:srgbClr val="1F6BFF"/>
                    </a:solidFill>
                  </a:tcPr>
                </a:tc>
              </a:tr>
              <a:tr h="402336">
                <a:tc>
                  <a:txBody>
                    <a:bodyPr wrap="square"/>
                    <a:lstStyle/>
                    <a:p>
                      <a:pPr algn="l"/>
                      <a:r>
                        <a:rPr sz="1200" b="0" i="0">
                          <a:solidFill>
                            <a:srgbClr val="111111"/>
                          </a:solidFill>
                          <a:latin typeface="Inter"/>
                          <a:ea typeface="Inter"/>
                          <a:cs typeface="Inter"/>
                        </a:rPr>
                        <a:t>Requirements interview and approved plan (G1)</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1" i="0">
                          <a:solidFill>
                            <a:srgbClr val="1F6BFF"/>
                          </a:solidFill>
                          <a:latin typeface="Inter"/>
                          <a:ea typeface="Inter"/>
                          <a:cs typeface="Inter"/>
                        </a:rPr>
                        <a:t>Yes</a:t>
                      </a:r>
                    </a:p>
                  </a:txBody>
                  <a:tcPr marL="109728" marR="91440" marT="36576" marB="36576" anchor="ctr">
                    <a:lnL w="0">
                      <a:noFill/>
                    </a:lnL>
                    <a:lnR w="0">
                      <a:noFill/>
                    </a:lnR>
                    <a:lnT w="0">
                      <a:noFill/>
                    </a:lnT>
                    <a:lnB w="9525">
                      <a:solidFill>
                        <a:srgbClr val="D5DEEF"/>
                      </a:solidFill>
                    </a:lnB>
                    <a:solidFill>
                      <a:srgbClr val="E3ECFF"/>
                    </a:solidFill>
                  </a:tcPr>
                </a:tc>
              </a:tr>
              <a:tr h="402336">
                <a:tc>
                  <a:txBody>
                    <a:bodyPr wrap="square"/>
                    <a:lstStyle/>
                    <a:p>
                      <a:pPr algn="l"/>
                      <a:r>
                        <a:rPr sz="1200" b="0" i="0">
                          <a:solidFill>
                            <a:srgbClr val="111111"/>
                          </a:solidFill>
                          <a:latin typeface="Inter"/>
                          <a:ea typeface="Inter"/>
                          <a:cs typeface="Inter"/>
                        </a:rPr>
                        <a:t>Standards-based SRS with UML/BPMN diagrams (G1)</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1" i="0">
                          <a:solidFill>
                            <a:srgbClr val="1F6BFF"/>
                          </a:solidFill>
                          <a:latin typeface="Inter"/>
                          <a:ea typeface="Inter"/>
                          <a:cs typeface="Inter"/>
                        </a:rPr>
                        <a:t>Yes</a:t>
                      </a:r>
                    </a:p>
                  </a:txBody>
                  <a:tcPr marL="109728" marR="91440" marT="36576" marB="36576" anchor="ctr">
                    <a:lnL w="0">
                      <a:noFill/>
                    </a:lnL>
                    <a:lnR w="0">
                      <a:noFill/>
                    </a:lnR>
                    <a:lnT w="0">
                      <a:noFill/>
                    </a:lnT>
                    <a:lnB w="9525">
                      <a:solidFill>
                        <a:srgbClr val="D5DEEF"/>
                      </a:solidFill>
                    </a:lnB>
                    <a:solidFill>
                      <a:srgbClr val="E3ECFF"/>
                    </a:solidFill>
                  </a:tcPr>
                </a:tc>
              </a:tr>
              <a:tr h="402336">
                <a:tc>
                  <a:txBody>
                    <a:bodyPr wrap="square"/>
                    <a:lstStyle/>
                    <a:p>
                      <a:pPr algn="l"/>
                      <a:r>
                        <a:rPr sz="1200" b="0" i="0">
                          <a:solidFill>
                            <a:srgbClr val="111111"/>
                          </a:solidFill>
                          <a:latin typeface="Inter"/>
                          <a:ea typeface="Inter"/>
                          <a:cs typeface="Inter"/>
                        </a:rPr>
                        <a:t>One persistent context shared by every role (G2)</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1" i="0">
                          <a:solidFill>
                            <a:srgbClr val="1F6BFF"/>
                          </a:solidFill>
                          <a:latin typeface="Inter"/>
                          <a:ea typeface="Inter"/>
                          <a:cs typeface="Inter"/>
                        </a:rPr>
                        <a:t>Yes</a:t>
                      </a:r>
                    </a:p>
                  </a:txBody>
                  <a:tcPr marL="109728" marR="91440" marT="36576" marB="36576" anchor="ctr">
                    <a:lnL w="0">
                      <a:noFill/>
                    </a:lnL>
                    <a:lnR w="0">
                      <a:noFill/>
                    </a:lnR>
                    <a:lnT w="0">
                      <a:noFill/>
                    </a:lnT>
                    <a:lnB w="9525">
                      <a:solidFill>
                        <a:srgbClr val="D5DEEF"/>
                      </a:solidFill>
                    </a:lnB>
                    <a:solidFill>
                      <a:srgbClr val="E3ECFF"/>
                    </a:solidFill>
                  </a:tcPr>
                </a:tc>
              </a:tr>
              <a:tr h="402336">
                <a:tc>
                  <a:txBody>
                    <a:bodyPr wrap="square"/>
                    <a:lstStyle/>
                    <a:p>
                      <a:pPr algn="l"/>
                      <a:r>
                        <a:rPr sz="1200" b="0" i="0">
                          <a:solidFill>
                            <a:srgbClr val="111111"/>
                          </a:solidFill>
                          <a:latin typeface="Inter"/>
                          <a:ea typeface="Inter"/>
                          <a:cs typeface="Inter"/>
                        </a:rPr>
                        <a:t>Deterministic, code-based quality gates (G3)</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1" i="0">
                          <a:solidFill>
                            <a:srgbClr val="1F6BFF"/>
                          </a:solidFill>
                          <a:latin typeface="Inter"/>
                          <a:ea typeface="Inter"/>
                          <a:cs typeface="Inter"/>
                        </a:rPr>
                        <a:t>Yes</a:t>
                      </a:r>
                    </a:p>
                  </a:txBody>
                  <a:tcPr marL="109728" marR="91440" marT="36576" marB="36576" anchor="ctr">
                    <a:lnL w="0">
                      <a:noFill/>
                    </a:lnL>
                    <a:lnR w="0">
                      <a:noFill/>
                    </a:lnR>
                    <a:lnT w="0">
                      <a:noFill/>
                    </a:lnT>
                    <a:lnB w="9525">
                      <a:solidFill>
                        <a:srgbClr val="D5DEEF"/>
                      </a:solidFill>
                    </a:lnB>
                    <a:solidFill>
                      <a:srgbClr val="E3ECFF"/>
                    </a:solidFill>
                  </a:tcPr>
                </a:tc>
              </a:tr>
              <a:tr h="402336">
                <a:tc>
                  <a:txBody>
                    <a:bodyPr wrap="square"/>
                    <a:lstStyle/>
                    <a:p>
                      <a:pPr algn="l"/>
                      <a:r>
                        <a:rPr sz="1200" b="0" i="0">
                          <a:solidFill>
                            <a:srgbClr val="111111"/>
                          </a:solidFill>
                          <a:latin typeface="Inter"/>
                          <a:ea typeface="Inter"/>
                          <a:cs typeface="Inter"/>
                        </a:rPr>
                        <a:t>Clickable prototype approved before coding</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1" i="0">
                          <a:solidFill>
                            <a:srgbClr val="1F6BFF"/>
                          </a:solidFill>
                          <a:latin typeface="Inter"/>
                          <a:ea typeface="Inter"/>
                          <a:cs typeface="Inter"/>
                        </a:rPr>
                        <a:t>Yes</a:t>
                      </a:r>
                    </a:p>
                  </a:txBody>
                  <a:tcPr marL="109728" marR="91440" marT="36576" marB="36576" anchor="ctr">
                    <a:lnL w="0">
                      <a:noFill/>
                    </a:lnL>
                    <a:lnR w="0">
                      <a:noFill/>
                    </a:lnR>
                    <a:lnT w="0">
                      <a:noFill/>
                    </a:lnT>
                    <a:lnB w="9525">
                      <a:solidFill>
                        <a:srgbClr val="D5DEEF"/>
                      </a:solidFill>
                    </a:lnB>
                    <a:solidFill>
                      <a:srgbClr val="E3ECFF"/>
                    </a:solidFill>
                  </a:tcPr>
                </a:tc>
              </a:tr>
              <a:tr h="402336">
                <a:tc>
                  <a:txBody>
                    <a:bodyPr wrap="square"/>
                    <a:lstStyle/>
                    <a:p>
                      <a:pPr algn="l"/>
                      <a:r>
                        <a:rPr sz="1200" b="0" i="0">
                          <a:solidFill>
                            <a:srgbClr val="111111"/>
                          </a:solidFill>
                          <a:latin typeface="Inter"/>
                          <a:ea typeface="Inter"/>
                          <a:cs typeface="Inter"/>
                        </a:rPr>
                        <a:t>Test evidence: E2E, accessibility, security (G4)</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1" i="0">
                          <a:solidFill>
                            <a:srgbClr val="1F6BFF"/>
                          </a:solidFill>
                          <a:latin typeface="Inter"/>
                          <a:ea typeface="Inter"/>
                          <a:cs typeface="Inter"/>
                        </a:rPr>
                        <a:t>Yes</a:t>
                      </a:r>
                    </a:p>
                  </a:txBody>
                  <a:tcPr marL="109728" marR="91440" marT="36576" marB="36576" anchor="ctr">
                    <a:lnL w="0">
                      <a:noFill/>
                    </a:lnL>
                    <a:lnR w="0">
                      <a:noFill/>
                    </a:lnR>
                    <a:lnT w="0">
                      <a:noFill/>
                    </a:lnT>
                    <a:lnB w="9525">
                      <a:solidFill>
                        <a:srgbClr val="D5DEEF"/>
                      </a:solidFill>
                    </a:lnB>
                    <a:solidFill>
                      <a:srgbClr val="E3ECFF"/>
                    </a:solidFill>
                  </a:tcPr>
                </a:tc>
              </a:tr>
              <a:tr h="402336">
                <a:tc>
                  <a:txBody>
                    <a:bodyPr wrap="square"/>
                    <a:lstStyle/>
                    <a:p>
                      <a:pPr algn="l"/>
                      <a:r>
                        <a:rPr sz="1200" b="0" i="0">
                          <a:solidFill>
                            <a:srgbClr val="111111"/>
                          </a:solidFill>
                          <a:latin typeface="Inter"/>
                          <a:ea typeface="Inter"/>
                          <a:cs typeface="Inter"/>
                        </a:rPr>
                        <a:t>Approval-gated deploy with live HTTPS check (G5)</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1" i="0">
                          <a:solidFill>
                            <a:srgbClr val="1F6BFF"/>
                          </a:solidFill>
                          <a:latin typeface="Inter"/>
                          <a:ea typeface="Inter"/>
                          <a:cs typeface="Inter"/>
                        </a:rPr>
                        <a:t>Yes</a:t>
                      </a:r>
                    </a:p>
                  </a:txBody>
                  <a:tcPr marL="109728" marR="91440" marT="36576" marB="36576" anchor="ctr">
                    <a:lnL w="0">
                      <a:noFill/>
                    </a:lnL>
                    <a:lnR w="0">
                      <a:noFill/>
                    </a:lnR>
                    <a:lnT w="0">
                      <a:noFill/>
                    </a:lnT>
                    <a:lnB w="9525">
                      <a:solidFill>
                        <a:srgbClr val="D5DEEF"/>
                      </a:solidFill>
                    </a:lnB>
                    <a:solidFill>
                      <a:srgbClr val="E3ECFF"/>
                    </a:solidFill>
                  </a:tcPr>
                </a:tc>
              </a:tr>
              <a:tr h="402336">
                <a:tc>
                  <a:txBody>
                    <a:bodyPr wrap="square"/>
                    <a:lstStyle/>
                    <a:p>
                      <a:pPr algn="l"/>
                      <a:r>
                        <a:rPr sz="1200" b="0" i="0">
                          <a:solidFill>
                            <a:srgbClr val="111111"/>
                          </a:solidFill>
                          <a:latin typeface="Inter"/>
                          <a:ea typeface="Inter"/>
                          <a:cs typeface="Inter"/>
                        </a:rPr>
                        <a:t>Local open models and editable prompt packs (G6)</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9CA3AF"/>
                          </a:solidFill>
                          <a:latin typeface="Inter"/>
                          <a:ea typeface="Inter"/>
                          <a:cs typeface="Inter"/>
                        </a:rPr>
                        <a:t>No</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0" i="0">
                          <a:solidFill>
                            <a:srgbClr val="4B5563"/>
                          </a:solidFill>
                          <a:latin typeface="Inter"/>
                          <a:ea typeface="Inter"/>
                          <a:cs typeface="Inter"/>
                        </a:rPr>
                        <a:t>Partial</a:t>
                      </a:r>
                    </a:p>
                  </a:txBody>
                  <a:tcPr marL="109728" marR="91440" marT="36576" marB="36576" anchor="ctr">
                    <a:lnL w="0">
                      <a:noFill/>
                    </a:lnL>
                    <a:lnR w="0">
                      <a:noFill/>
                    </a:lnR>
                    <a:lnT w="0">
                      <a:noFill/>
                    </a:lnT>
                    <a:lnB w="9525">
                      <a:solidFill>
                        <a:srgbClr val="D5DEEF"/>
                      </a:solidFill>
                    </a:lnB>
                    <a:noFill/>
                  </a:tcPr>
                </a:tc>
                <a:tc>
                  <a:txBody>
                    <a:bodyPr wrap="square"/>
                    <a:lstStyle/>
                    <a:p>
                      <a:pPr algn="ctr"/>
                      <a:r>
                        <a:rPr sz="1200" b="1" i="0">
                          <a:solidFill>
                            <a:srgbClr val="1F6BFF"/>
                          </a:solidFill>
                          <a:latin typeface="Inter"/>
                          <a:ea typeface="Inter"/>
                          <a:cs typeface="Inter"/>
                        </a:rPr>
                        <a:t>Yes</a:t>
                      </a:r>
                    </a:p>
                  </a:txBody>
                  <a:tcPr marL="109728" marR="91440" marT="36576" marB="36576" anchor="ctr">
                    <a:lnL w="0">
                      <a:noFill/>
                    </a:lnL>
                    <a:lnR w="0">
                      <a:noFill/>
                    </a:lnR>
                    <a:lnT w="0">
                      <a:noFill/>
                    </a:lnT>
                    <a:lnB w="9525">
                      <a:solidFill>
                        <a:srgbClr val="D5DEEF"/>
                      </a:solidFill>
                    </a:lnB>
                    <a:solidFill>
                      <a:srgbClr val="E3ECFF"/>
                    </a:solidFill>
                  </a:tcPr>
                </a:tc>
              </a:tr>
            </a:tbl>
          </a:graphicData>
        </a:graphic>
      </p:graphicFrame>
      <p:sp>
        <p:nvSpPr>
          <p:cNvPr id="11" name="TextBox 10"/>
          <p:cNvSpPr txBox="1"/>
          <p:nvPr/>
        </p:nvSpPr>
        <p:spPr>
          <a:xfrm>
            <a:off x="612648" y="6053328"/>
            <a:ext cx="10972800" cy="274320"/>
          </a:xfrm>
          <a:prstGeom prst="rect">
            <a:avLst/>
          </a:prstGeom>
          <a:noFill/>
        </p:spPr>
        <p:txBody>
          <a:bodyPr wrap="square" lIns="0" rIns="0" tIns="0" bIns="0" anchor="t"/>
          <a:lstStyle/>
          <a:p>
            <a:pPr algn="l"/>
            <a:r>
              <a:rPr sz="1150" b="0" i="0">
                <a:solidFill>
                  <a:srgbClr val="6B7280"/>
                </a:solidFill>
                <a:latin typeface="Urbanist"/>
                <a:ea typeface="Urbanist"/>
                <a:cs typeface="Urbanist"/>
              </a:rPr>
              <a:t>Indicative comparison by capability category, based on public documentation (2026). Not a benchmark — individual products change quickly.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SCOPE</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Research objective and questions</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06</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sp>
        <p:nvSpPr>
          <p:cNvPr id="8" name="TextBox 7"/>
          <p:cNvSpPr txBox="1"/>
          <p:nvPr/>
        </p:nvSpPr>
        <p:spPr>
          <a:xfrm>
            <a:off x="612648" y="1645920"/>
            <a:ext cx="7772400" cy="1143000"/>
          </a:xfrm>
          <a:prstGeom prst="rect">
            <a:avLst/>
          </a:prstGeom>
          <a:noFill/>
        </p:spPr>
        <p:txBody>
          <a:bodyPr wrap="square" lIns="0" rIns="0" tIns="0" bIns="0" anchor="t"/>
          <a:lstStyle/>
          <a:p>
            <a:pPr algn="l">
              <a:lnSpc>
                <a:spcPct val="102000"/>
              </a:lnSpc>
            </a:pPr>
            <a:r>
              <a:rPr sz="1850" b="0" i="0" spc="18">
                <a:solidFill>
                  <a:srgbClr val="111111"/>
                </a:solidFill>
                <a:latin typeface="Outfit ExtraBold"/>
                <a:ea typeface="Outfit ExtraBold"/>
                <a:cs typeface="Outfit ExtraBold"/>
              </a:rPr>
              <a:t>CAN SPECIALISED LLM AGENTS THAT SHARE ONE PROJECT CONTEXT, AND ARE HELD TO DETERMINISTIC QUALITY GATES, TURN A NATURAL-LANGUAGE IDEA INTO A VERIFIED, DEPLOYED APPLICATION?</a:t>
            </a:r>
          </a:p>
        </p:txBody>
      </p:sp>
      <p:sp>
        <p:nvSpPr>
          <p:cNvPr id="9" name="TextBox 8"/>
          <p:cNvSpPr txBox="1"/>
          <p:nvPr/>
        </p:nvSpPr>
        <p:spPr>
          <a:xfrm>
            <a:off x="612648" y="3017520"/>
            <a:ext cx="372618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RQ1 · SHARED CONTEXT</a:t>
            </a:r>
          </a:p>
        </p:txBody>
      </p:sp>
      <p:sp>
        <p:nvSpPr>
          <p:cNvPr id="10" name="TextBox 9"/>
          <p:cNvSpPr txBox="1"/>
          <p:nvPr/>
        </p:nvSpPr>
        <p:spPr>
          <a:xfrm>
            <a:off x="612648" y="3328797"/>
            <a:ext cx="3726180" cy="664845"/>
          </a:xfrm>
          <a:prstGeom prst="rect">
            <a:avLst/>
          </a:prstGeom>
          <a:noFill/>
        </p:spPr>
        <p:txBody>
          <a:bodyPr wrap="square" lIns="0" rIns="0" tIns="0" bIns="0" anchor="t"/>
          <a:lstStyle/>
          <a:p>
            <a:pPr algn="l">
              <a:lnSpc>
                <a:spcPct val="105000"/>
              </a:lnSpc>
            </a:pPr>
            <a:r>
              <a:rPr sz="1300" b="0" i="0">
                <a:solidFill>
                  <a:srgbClr val="1F2937"/>
                </a:solidFill>
                <a:latin typeface="Inter"/>
                <a:ea typeface="Inter"/>
                <a:cs typeface="Inter"/>
              </a:rPr>
              <a:t>Does one persistent context reduce requirement drift between stages, compared with agents in isolated conversations?</a:t>
            </a:r>
          </a:p>
        </p:txBody>
      </p:sp>
      <p:sp>
        <p:nvSpPr>
          <p:cNvPr id="11" name="TextBox 10"/>
          <p:cNvSpPr txBox="1"/>
          <p:nvPr/>
        </p:nvSpPr>
        <p:spPr>
          <a:xfrm>
            <a:off x="4658868" y="3017520"/>
            <a:ext cx="372618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RQ2 · QUALITY GATES</a:t>
            </a:r>
          </a:p>
        </p:txBody>
      </p:sp>
      <p:sp>
        <p:nvSpPr>
          <p:cNvPr id="12" name="TextBox 11"/>
          <p:cNvSpPr txBox="1"/>
          <p:nvPr/>
        </p:nvSpPr>
        <p:spPr>
          <a:xfrm>
            <a:off x="4658868" y="3328797"/>
            <a:ext cx="3726180" cy="664845"/>
          </a:xfrm>
          <a:prstGeom prst="rect">
            <a:avLst/>
          </a:prstGeom>
          <a:noFill/>
        </p:spPr>
        <p:txBody>
          <a:bodyPr wrap="square" lIns="0" rIns="0" tIns="0" bIns="0" anchor="t"/>
          <a:lstStyle/>
          <a:p>
            <a:pPr algn="l">
              <a:lnSpc>
                <a:spcPct val="105000"/>
              </a:lnSpc>
            </a:pPr>
            <a:r>
              <a:rPr sz="1300" b="0" i="0">
                <a:solidFill>
                  <a:srgbClr val="1F2937"/>
                </a:solidFill>
                <a:latin typeface="Inter"/>
                <a:ea typeface="Inter"/>
                <a:cs typeface="Inter"/>
              </a:rPr>
              <a:t>Do code-based gates (plan depth, schema, coverage, review) measurably improve the completeness of the specification?</a:t>
            </a:r>
          </a:p>
        </p:txBody>
      </p:sp>
      <p:sp>
        <p:nvSpPr>
          <p:cNvPr id="13" name="TextBox 12"/>
          <p:cNvSpPr txBox="1"/>
          <p:nvPr/>
        </p:nvSpPr>
        <p:spPr>
          <a:xfrm>
            <a:off x="612648" y="4498848"/>
            <a:ext cx="372618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RQ3 · RUNNER EVIDENCE</a:t>
            </a:r>
          </a:p>
        </p:txBody>
      </p:sp>
      <p:sp>
        <p:nvSpPr>
          <p:cNvPr id="14" name="TextBox 13"/>
          <p:cNvSpPr txBox="1"/>
          <p:nvPr/>
        </p:nvSpPr>
        <p:spPr>
          <a:xfrm>
            <a:off x="612648" y="4810125"/>
            <a:ext cx="3726180" cy="871220"/>
          </a:xfrm>
          <a:prstGeom prst="rect">
            <a:avLst/>
          </a:prstGeom>
          <a:noFill/>
        </p:spPr>
        <p:txBody>
          <a:bodyPr wrap="square" lIns="0" rIns="0" tIns="0" bIns="0" anchor="t"/>
          <a:lstStyle/>
          <a:p>
            <a:pPr algn="l">
              <a:lnSpc>
                <a:spcPct val="105000"/>
              </a:lnSpc>
            </a:pPr>
            <a:r>
              <a:rPr sz="1300" b="0" i="0">
                <a:solidFill>
                  <a:srgbClr val="1F2937"/>
                </a:solidFill>
                <a:latin typeface="Inter"/>
                <a:ea typeface="Inter"/>
                <a:cs typeface="Inter"/>
              </a:rPr>
              <a:t>Can runner-based QA — unit, E2E, accessibility, performance, security — give trustworthy release evidence for generated apps?</a:t>
            </a:r>
          </a:p>
        </p:txBody>
      </p:sp>
      <p:sp>
        <p:nvSpPr>
          <p:cNvPr id="15" name="TextBox 14"/>
          <p:cNvSpPr txBox="1"/>
          <p:nvPr/>
        </p:nvSpPr>
        <p:spPr>
          <a:xfrm>
            <a:off x="4658868" y="4498848"/>
            <a:ext cx="372618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RQ4 · GOVERNED DELIVERY</a:t>
            </a:r>
          </a:p>
        </p:txBody>
      </p:sp>
      <p:sp>
        <p:nvSpPr>
          <p:cNvPr id="16" name="TextBox 15"/>
          <p:cNvSpPr txBox="1"/>
          <p:nvPr/>
        </p:nvSpPr>
        <p:spPr>
          <a:xfrm>
            <a:off x="4658868" y="4810125"/>
            <a:ext cx="3726180" cy="664845"/>
          </a:xfrm>
          <a:prstGeom prst="rect">
            <a:avLst/>
          </a:prstGeom>
          <a:noFill/>
        </p:spPr>
        <p:txBody>
          <a:bodyPr wrap="square" lIns="0" rIns="0" tIns="0" bIns="0" anchor="t"/>
          <a:lstStyle/>
          <a:p>
            <a:pPr algn="l">
              <a:lnSpc>
                <a:spcPct val="105000"/>
              </a:lnSpc>
            </a:pPr>
            <a:r>
              <a:rPr sz="1300" b="0" i="0">
                <a:solidFill>
                  <a:srgbClr val="1F2937"/>
                </a:solidFill>
                <a:latin typeface="Inter"/>
                <a:ea typeface="Inter"/>
                <a:cs typeface="Inter"/>
              </a:rPr>
              <a:t>Can an approval-gated deploy agent publish a real application and verify it independently at its live HTTPS address?</a:t>
            </a:r>
          </a:p>
        </p:txBody>
      </p:sp>
      <p:pic>
        <p:nvPicPr>
          <p:cNvPr id="17" name="Picture 16" descr="5.png"/>
          <p:cNvPicPr>
            <a:picLocks noChangeAspect="1"/>
          </p:cNvPicPr>
          <p:nvPr/>
        </p:nvPicPr>
        <p:blipFill>
          <a:blip r:embed="rId3"/>
          <a:stretch>
            <a:fillRect/>
          </a:stretch>
        </p:blipFill>
        <p:spPr>
          <a:xfrm>
            <a:off x="8887968" y="1463040"/>
            <a:ext cx="2688336" cy="3593592"/>
          </a:xfrm>
          <a:prstGeom prst="rect">
            <a:avLst/>
          </a:prstGeom>
        </p:spPr>
      </p:pic>
      <p:sp>
        <p:nvSpPr>
          <p:cNvPr id="18" name="Rounded Rectangle 17"/>
          <p:cNvSpPr/>
          <p:nvPr/>
        </p:nvSpPr>
        <p:spPr>
          <a:xfrm>
            <a:off x="8412480" y="5257800"/>
            <a:ext cx="3172968" cy="1097280"/>
          </a:xfrm>
          <a:prstGeom prst="roundRect">
            <a:avLst>
              <a:gd name="adj" fmla="val 3500"/>
            </a:avLst>
          </a:prstGeom>
          <a:solidFill>
            <a:srgbClr val="CCDD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77072" y="5358384"/>
            <a:ext cx="2880360" cy="914400"/>
          </a:xfrm>
          <a:prstGeom prst="rect">
            <a:avLst/>
          </a:prstGeom>
          <a:noFill/>
        </p:spPr>
        <p:txBody>
          <a:bodyPr wrap="square" lIns="0" rIns="0" tIns="0" bIns="0" anchor="t"/>
          <a:lstStyle/>
          <a:p>
            <a:pPr algn="l">
              <a:lnSpc>
                <a:spcPct val="102000"/>
              </a:lnSpc>
            </a:pPr>
            <a:r>
              <a:rPr sz="1150" b="1" i="0">
                <a:solidFill>
                  <a:srgbClr val="111111"/>
                </a:solidFill>
                <a:latin typeface="Inter"/>
                <a:ea typeface="Inter"/>
                <a:cs typeface="Inter"/>
              </a:rPr>
              <a:t>Hypothesis: </a:t>
            </a:r>
            <a:r>
              <a:rPr sz="1150" b="0" i="0">
                <a:solidFill>
                  <a:srgbClr val="111111"/>
                </a:solidFill>
                <a:latin typeface="Inter"/>
                <a:ea typeface="Inter"/>
                <a:cs typeface="Inter"/>
              </a:rPr>
              <a:t>shared context + deterministic gates + runner evidence give more complete, more verifiable apps than prompt-to-code.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SYSTEM ARCHITECTURE</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Shared context, self-correcting loops</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07</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68.png"/>
          <p:cNvPicPr>
            <a:picLocks noChangeAspect="1"/>
          </p:cNvPicPr>
          <p:nvPr/>
        </p:nvPicPr>
        <p:blipFill>
          <a:blip r:embed="rId3"/>
          <a:stretch>
            <a:fillRect/>
          </a:stretch>
        </p:blipFill>
        <p:spPr>
          <a:xfrm>
            <a:off x="10488168" y="201168"/>
            <a:ext cx="1316736" cy="1316736"/>
          </a:xfrm>
          <a:prstGeom prst="rect">
            <a:avLst/>
          </a:prstGeom>
        </p:spPr>
      </p:pic>
      <p:pic>
        <p:nvPicPr>
          <p:cNvPr id="9" name="Picture 8" descr="7.png"/>
          <p:cNvPicPr>
            <a:picLocks noChangeAspect="1"/>
          </p:cNvPicPr>
          <p:nvPr/>
        </p:nvPicPr>
        <p:blipFill>
          <a:blip r:embed="rId4"/>
          <a:stretch>
            <a:fillRect/>
          </a:stretch>
        </p:blipFill>
        <p:spPr>
          <a:xfrm>
            <a:off x="1527048" y="1554480"/>
            <a:ext cx="9144000" cy="3698875"/>
          </a:xfrm>
          <a:prstGeom prst="rect">
            <a:avLst/>
          </a:prstGeom>
        </p:spPr>
      </p:pic>
      <p:sp>
        <p:nvSpPr>
          <p:cNvPr id="10" name="TextBox 9"/>
          <p:cNvSpPr txBox="1"/>
          <p:nvPr/>
        </p:nvSpPr>
        <p:spPr>
          <a:xfrm>
            <a:off x="612648" y="5413248"/>
            <a:ext cx="10972800" cy="228600"/>
          </a:xfrm>
          <a:prstGeom prst="rect">
            <a:avLst/>
          </a:prstGeom>
          <a:noFill/>
        </p:spPr>
        <p:txBody>
          <a:bodyPr wrap="square" lIns="0" rIns="0" tIns="0" bIns="0" anchor="t"/>
          <a:lstStyle/>
          <a:p>
            <a:pPr algn="l"/>
            <a:r>
              <a:rPr sz="1100" b="0" i="0" spc="250">
                <a:solidFill>
                  <a:srgbClr val="1F6BFF"/>
                </a:solidFill>
                <a:latin typeface="Urbanist SemiBold"/>
                <a:ea typeface="Urbanist SemiBold"/>
                <a:cs typeface="Urbanist SemiBold"/>
              </a:rPr>
              <a:t>SELF-OPTIMISATION: FOUR CLOSED FEEDBACK LOOPS</a:t>
            </a:r>
          </a:p>
        </p:txBody>
      </p:sp>
      <p:sp>
        <p:nvSpPr>
          <p:cNvPr id="11" name="TextBox 10"/>
          <p:cNvSpPr txBox="1"/>
          <p:nvPr/>
        </p:nvSpPr>
        <p:spPr>
          <a:xfrm>
            <a:off x="612648" y="5687568"/>
            <a:ext cx="2571750" cy="198437"/>
          </a:xfrm>
          <a:prstGeom prst="rect">
            <a:avLst/>
          </a:prstGeom>
          <a:noFill/>
        </p:spPr>
        <p:txBody>
          <a:bodyPr wrap="square" lIns="0" rIns="0" tIns="0" bIns="0" anchor="t"/>
          <a:lstStyle/>
          <a:p>
            <a:pPr algn="l"/>
            <a:r>
              <a:rPr sz="1250" b="0" i="0" spc="12">
                <a:solidFill>
                  <a:srgbClr val="111111"/>
                </a:solidFill>
                <a:latin typeface="Outfit ExtraBold"/>
                <a:ea typeface="Outfit ExtraBold"/>
                <a:cs typeface="Outfit ExtraBold"/>
              </a:rPr>
              <a:t>SPECIFICATION</a:t>
            </a:r>
          </a:p>
        </p:txBody>
      </p:sp>
      <p:sp>
        <p:nvSpPr>
          <p:cNvPr id="12" name="TextBox 11"/>
          <p:cNvSpPr txBox="1"/>
          <p:nvPr/>
        </p:nvSpPr>
        <p:spPr>
          <a:xfrm>
            <a:off x="612648" y="5922581"/>
            <a:ext cx="2571750" cy="569595"/>
          </a:xfrm>
          <a:prstGeom prst="rect">
            <a:avLst/>
          </a:prstGeom>
          <a:noFill/>
        </p:spPr>
        <p:txBody>
          <a:bodyPr wrap="square" lIns="0" rIns="0" tIns="0" bIns="0" anchor="t"/>
          <a:lstStyle/>
          <a:p>
            <a:pPr algn="l">
              <a:lnSpc>
                <a:spcPct val="105000"/>
              </a:lnSpc>
            </a:pPr>
            <a:r>
              <a:rPr sz="1100" b="0" i="0">
                <a:solidFill>
                  <a:srgbClr val="1F2937"/>
                </a:solidFill>
                <a:latin typeface="Inter"/>
                <a:ea typeface="Inter"/>
                <a:cs typeface="Inter"/>
              </a:rPr>
              <a:t>Gaps return as repair instructions (2 rounds). Bakery test run: diagrams 1 → 7, requirements 3 → 6.</a:t>
            </a:r>
          </a:p>
        </p:txBody>
      </p:sp>
      <p:sp>
        <p:nvSpPr>
          <p:cNvPr id="13" name="TextBox 12"/>
          <p:cNvSpPr txBox="1"/>
          <p:nvPr/>
        </p:nvSpPr>
        <p:spPr>
          <a:xfrm>
            <a:off x="3412998" y="5687568"/>
            <a:ext cx="2571750" cy="198437"/>
          </a:xfrm>
          <a:prstGeom prst="rect">
            <a:avLst/>
          </a:prstGeom>
          <a:noFill/>
        </p:spPr>
        <p:txBody>
          <a:bodyPr wrap="square" lIns="0" rIns="0" tIns="0" bIns="0" anchor="t"/>
          <a:lstStyle/>
          <a:p>
            <a:pPr algn="l"/>
            <a:r>
              <a:rPr sz="1250" b="0" i="0" spc="12">
                <a:solidFill>
                  <a:srgbClr val="111111"/>
                </a:solidFill>
                <a:latin typeface="Outfit ExtraBold"/>
                <a:ea typeface="Outfit ExtraBold"/>
                <a:cs typeface="Outfit ExtraBold"/>
              </a:rPr>
              <a:t>JSON &amp; DIAGRAMS</a:t>
            </a:r>
          </a:p>
        </p:txBody>
      </p:sp>
      <p:sp>
        <p:nvSpPr>
          <p:cNvPr id="14" name="TextBox 13"/>
          <p:cNvSpPr txBox="1"/>
          <p:nvPr/>
        </p:nvSpPr>
        <p:spPr>
          <a:xfrm>
            <a:off x="3412998" y="5922581"/>
            <a:ext cx="2571750" cy="569595"/>
          </a:xfrm>
          <a:prstGeom prst="rect">
            <a:avLst/>
          </a:prstGeom>
          <a:noFill/>
        </p:spPr>
        <p:txBody>
          <a:bodyPr wrap="square" lIns="0" rIns="0" tIns="0" bIns="0" anchor="t"/>
          <a:lstStyle/>
          <a:p>
            <a:pPr algn="l">
              <a:lnSpc>
                <a:spcPct val="105000"/>
              </a:lnSpc>
            </a:pPr>
            <a:r>
              <a:rPr sz="1100" b="0" i="0">
                <a:solidFill>
                  <a:srgbClr val="1F2937"/>
                </a:solidFill>
                <a:latin typeface="Inter"/>
                <a:ea typeface="Inter"/>
                <a:cs typeface="Inter"/>
              </a:rPr>
              <a:t>Invalid JSON, schema errors and Mermaid parse errors are fed back in-context until they pass.</a:t>
            </a:r>
          </a:p>
        </p:txBody>
      </p:sp>
      <p:sp>
        <p:nvSpPr>
          <p:cNvPr id="15" name="TextBox 14"/>
          <p:cNvSpPr txBox="1"/>
          <p:nvPr/>
        </p:nvSpPr>
        <p:spPr>
          <a:xfrm>
            <a:off x="6213348" y="5687568"/>
            <a:ext cx="2571750" cy="198437"/>
          </a:xfrm>
          <a:prstGeom prst="rect">
            <a:avLst/>
          </a:prstGeom>
          <a:noFill/>
        </p:spPr>
        <p:txBody>
          <a:bodyPr wrap="square" lIns="0" rIns="0" tIns="0" bIns="0" anchor="t"/>
          <a:lstStyle/>
          <a:p>
            <a:pPr algn="l"/>
            <a:r>
              <a:rPr sz="1250" b="0" i="0" spc="12">
                <a:solidFill>
                  <a:srgbClr val="111111"/>
                </a:solidFill>
                <a:latin typeface="Outfit ExtraBold"/>
                <a:ea typeface="Outfit ExtraBold"/>
                <a:cs typeface="Outfit ExtraBold"/>
              </a:rPr>
              <a:t>BUILD &amp; QA</a:t>
            </a:r>
          </a:p>
        </p:txBody>
      </p:sp>
      <p:sp>
        <p:nvSpPr>
          <p:cNvPr id="16" name="TextBox 15"/>
          <p:cNvSpPr txBox="1"/>
          <p:nvPr/>
        </p:nvSpPr>
        <p:spPr>
          <a:xfrm>
            <a:off x="6213348" y="5922581"/>
            <a:ext cx="2571750" cy="569595"/>
          </a:xfrm>
          <a:prstGeom prst="rect">
            <a:avLst/>
          </a:prstGeom>
          <a:noFill/>
        </p:spPr>
        <p:txBody>
          <a:bodyPr wrap="square" lIns="0" rIns="0" tIns="0" bIns="0" anchor="t"/>
          <a:lstStyle/>
          <a:p>
            <a:pPr algn="l">
              <a:lnSpc>
                <a:spcPct val="105000"/>
              </a:lnSpc>
            </a:pPr>
            <a:r>
              <a:rPr sz="1100" b="0" i="0">
                <a:solidFill>
                  <a:srgbClr val="1F2937"/>
                </a:solidFill>
                <a:latin typeface="Inter"/>
                <a:ea typeface="Inter"/>
                <a:cs typeface="Inter"/>
              </a:rPr>
              <a:t>A failed check is fixed in product code; only the affected test is rerun, never the whole plan.</a:t>
            </a:r>
          </a:p>
        </p:txBody>
      </p:sp>
      <p:sp>
        <p:nvSpPr>
          <p:cNvPr id="17" name="TextBox 16"/>
          <p:cNvSpPr txBox="1"/>
          <p:nvPr/>
        </p:nvSpPr>
        <p:spPr>
          <a:xfrm>
            <a:off x="9013698" y="5687568"/>
            <a:ext cx="2571750" cy="198437"/>
          </a:xfrm>
          <a:prstGeom prst="rect">
            <a:avLst/>
          </a:prstGeom>
          <a:noFill/>
        </p:spPr>
        <p:txBody>
          <a:bodyPr wrap="square" lIns="0" rIns="0" tIns="0" bIns="0" anchor="t"/>
          <a:lstStyle/>
          <a:p>
            <a:pPr algn="l"/>
            <a:r>
              <a:rPr sz="1250" b="0" i="0" spc="12">
                <a:solidFill>
                  <a:srgbClr val="111111"/>
                </a:solidFill>
                <a:latin typeface="Outfit ExtraBold"/>
                <a:ea typeface="Outfit ExtraBold"/>
                <a:cs typeface="Outfit ExtraBold"/>
              </a:rPr>
              <a:t>DEPLOYMENT</a:t>
            </a:r>
          </a:p>
        </p:txBody>
      </p:sp>
      <p:sp>
        <p:nvSpPr>
          <p:cNvPr id="18" name="TextBox 17"/>
          <p:cNvSpPr txBox="1"/>
          <p:nvPr/>
        </p:nvSpPr>
        <p:spPr>
          <a:xfrm>
            <a:off x="9013698" y="5922581"/>
            <a:ext cx="2571750" cy="394969"/>
          </a:xfrm>
          <a:prstGeom prst="rect">
            <a:avLst/>
          </a:prstGeom>
          <a:noFill/>
        </p:spPr>
        <p:txBody>
          <a:bodyPr wrap="square" lIns="0" rIns="0" tIns="0" bIns="0" anchor="t"/>
          <a:lstStyle/>
          <a:p>
            <a:pPr algn="l">
              <a:lnSpc>
                <a:spcPct val="105000"/>
              </a:lnSpc>
            </a:pPr>
            <a:r>
              <a:rPr sz="1100" b="0" i="0">
                <a:solidFill>
                  <a:srgbClr val="1F2937"/>
                </a:solidFill>
                <a:latin typeface="Inter"/>
                <a:ea typeface="Inter"/>
                <a:cs typeface="Inter"/>
              </a:rPr>
              <a:t>A failed live probe triggers the repair skill and a redeploy (up to 2 rounds).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TECHNICAL ARCHITECTURE</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How the platform is built</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08</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8.png"/>
          <p:cNvPicPr>
            <a:picLocks noChangeAspect="1"/>
          </p:cNvPicPr>
          <p:nvPr/>
        </p:nvPicPr>
        <p:blipFill>
          <a:blip r:embed="rId3"/>
          <a:stretch>
            <a:fillRect/>
          </a:stretch>
        </p:blipFill>
        <p:spPr>
          <a:xfrm>
            <a:off x="10488168" y="201168"/>
            <a:ext cx="1316736" cy="1316736"/>
          </a:xfrm>
          <a:prstGeom prst="rect">
            <a:avLst/>
          </a:prstGeom>
        </p:spPr>
      </p:pic>
      <p:sp>
        <p:nvSpPr>
          <p:cNvPr id="9" name="TextBox 8"/>
          <p:cNvSpPr txBox="1"/>
          <p:nvPr/>
        </p:nvSpPr>
        <p:spPr>
          <a:xfrm>
            <a:off x="612648" y="1737360"/>
            <a:ext cx="1645920" cy="658368"/>
          </a:xfrm>
          <a:prstGeom prst="rect">
            <a:avLst/>
          </a:prstGeom>
          <a:noFill/>
        </p:spPr>
        <p:txBody>
          <a:bodyPr wrap="square" lIns="0" rIns="0" tIns="0" bIns="0" anchor="ctr"/>
          <a:lstStyle/>
          <a:p>
            <a:pPr algn="l"/>
            <a:r>
              <a:rPr sz="1250" b="0" i="0" spc="12">
                <a:solidFill>
                  <a:srgbClr val="1F6BFF"/>
                </a:solidFill>
                <a:latin typeface="Outfit ExtraBold"/>
                <a:ea typeface="Outfit ExtraBold"/>
                <a:cs typeface="Outfit ExtraBold"/>
              </a:rPr>
              <a:t>STUDIO UI</a:t>
            </a:r>
          </a:p>
        </p:txBody>
      </p:sp>
      <p:sp>
        <p:nvSpPr>
          <p:cNvPr id="10" name="Rounded Rectangle 9"/>
          <p:cNvSpPr/>
          <p:nvPr/>
        </p:nvSpPr>
        <p:spPr>
          <a:xfrm>
            <a:off x="2331720" y="1737360"/>
            <a:ext cx="9253728"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59736" y="1737360"/>
            <a:ext cx="8997696" cy="658368"/>
          </a:xfrm>
          <a:prstGeom prst="rect">
            <a:avLst/>
          </a:prstGeom>
          <a:noFill/>
        </p:spPr>
        <p:txBody>
          <a:bodyPr wrap="square" lIns="0" rIns="0" tIns="0" bIns="0" anchor="ctr"/>
          <a:lstStyle/>
          <a:p>
            <a:pPr algn="l">
              <a:lnSpc>
                <a:spcPct val="100000"/>
              </a:lnSpc>
            </a:pPr>
            <a:r>
              <a:rPr sz="1150" b="0" i="0">
                <a:solidFill>
                  <a:srgbClr val="111111"/>
                </a:solidFill>
                <a:latin typeface="Inter"/>
                <a:ea typeface="Inter"/>
                <a:cs typeface="Inter"/>
              </a:rPr>
              <a:t>AgentForge Studio · Next.js / React — interview · plan · SRS review · diagrams · wireframes · design · prototype · code · preview · testing · deploy</a:t>
            </a:r>
          </a:p>
        </p:txBody>
      </p:sp>
      <p:sp>
        <p:nvSpPr>
          <p:cNvPr id="12" name="TextBox 11"/>
          <p:cNvSpPr txBox="1"/>
          <p:nvPr/>
        </p:nvSpPr>
        <p:spPr>
          <a:xfrm>
            <a:off x="612648" y="2505456"/>
            <a:ext cx="1645920" cy="658368"/>
          </a:xfrm>
          <a:prstGeom prst="rect">
            <a:avLst/>
          </a:prstGeom>
          <a:noFill/>
        </p:spPr>
        <p:txBody>
          <a:bodyPr wrap="square" lIns="0" rIns="0" tIns="0" bIns="0" anchor="ctr"/>
          <a:lstStyle/>
          <a:p>
            <a:pPr algn="l"/>
            <a:r>
              <a:rPr sz="1250" b="0" i="0" spc="12">
                <a:solidFill>
                  <a:srgbClr val="1F6BFF"/>
                </a:solidFill>
                <a:latin typeface="Outfit ExtraBold"/>
                <a:ea typeface="Outfit ExtraBold"/>
                <a:cs typeface="Outfit ExtraBold"/>
              </a:rPr>
              <a:t>INTERFACES</a:t>
            </a:r>
          </a:p>
        </p:txBody>
      </p:sp>
      <p:sp>
        <p:nvSpPr>
          <p:cNvPr id="13" name="Rounded Rectangle 12"/>
          <p:cNvSpPr/>
          <p:nvPr/>
        </p:nvSpPr>
        <p:spPr>
          <a:xfrm>
            <a:off x="2331720" y="2505456"/>
            <a:ext cx="3023616"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59736" y="2505456"/>
            <a:ext cx="2767583" cy="658368"/>
          </a:xfrm>
          <a:prstGeom prst="rect">
            <a:avLst/>
          </a:prstGeom>
          <a:noFill/>
        </p:spPr>
        <p:txBody>
          <a:bodyPr wrap="square" lIns="0" rIns="0" tIns="0" bIns="0" anchor="ctr"/>
          <a:lstStyle/>
          <a:p>
            <a:pPr algn="l">
              <a:lnSpc>
                <a:spcPct val="100000"/>
              </a:lnSpc>
            </a:pPr>
            <a:r>
              <a:rPr sz="1150" b="0" i="0">
                <a:solidFill>
                  <a:srgbClr val="111111"/>
                </a:solidFill>
                <a:latin typeface="Inter"/>
                <a:ea typeface="Inter"/>
                <a:cs typeface="Inter"/>
              </a:rPr>
              <a:t>HTTP API :7824 — jobs + polling, never blocks on a model</a:t>
            </a:r>
          </a:p>
        </p:txBody>
      </p:sp>
      <p:sp>
        <p:nvSpPr>
          <p:cNvPr id="15" name="Rounded Rectangle 14"/>
          <p:cNvSpPr/>
          <p:nvPr/>
        </p:nvSpPr>
        <p:spPr>
          <a:xfrm>
            <a:off x="5446776" y="2505456"/>
            <a:ext cx="3023616"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4792" y="2505456"/>
            <a:ext cx="2767583" cy="658368"/>
          </a:xfrm>
          <a:prstGeom prst="rect">
            <a:avLst/>
          </a:prstGeom>
          <a:noFill/>
        </p:spPr>
        <p:txBody>
          <a:bodyPr wrap="square" lIns="0" rIns="0" tIns="0" bIns="0" anchor="ctr"/>
          <a:lstStyle/>
          <a:p>
            <a:pPr algn="l">
              <a:lnSpc>
                <a:spcPct val="100000"/>
              </a:lnSpc>
            </a:pPr>
            <a:r>
              <a:rPr sz="1150" b="0" i="0">
                <a:solidFill>
                  <a:srgbClr val="111111"/>
                </a:solidFill>
                <a:latin typeface="Inter"/>
                <a:ea typeface="Inter"/>
                <a:cs typeface="Inter"/>
              </a:rPr>
              <a:t>Live feed :7825 — WebSocket, event replay on reload</a:t>
            </a:r>
          </a:p>
        </p:txBody>
      </p:sp>
      <p:sp>
        <p:nvSpPr>
          <p:cNvPr id="17" name="Rounded Rectangle 16"/>
          <p:cNvSpPr/>
          <p:nvPr/>
        </p:nvSpPr>
        <p:spPr>
          <a:xfrm>
            <a:off x="8561832" y="2505456"/>
            <a:ext cx="3023616"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9848" y="2505456"/>
            <a:ext cx="2767583" cy="658368"/>
          </a:xfrm>
          <a:prstGeom prst="rect">
            <a:avLst/>
          </a:prstGeom>
          <a:noFill/>
        </p:spPr>
        <p:txBody>
          <a:bodyPr wrap="square" lIns="0" rIns="0" tIns="0" bIns="0" anchor="ctr"/>
          <a:lstStyle/>
          <a:p>
            <a:pPr algn="l">
              <a:lnSpc>
                <a:spcPct val="100000"/>
              </a:lnSpc>
            </a:pPr>
            <a:r>
              <a:rPr sz="1150" b="0" i="0">
                <a:solidFill>
                  <a:srgbClr val="111111"/>
                </a:solidFill>
                <a:latin typeface="Inter"/>
                <a:ea typeface="Inter"/>
                <a:cs typeface="Inter"/>
              </a:rPr>
              <a:t>Managed preview — one server per project, stack port</a:t>
            </a:r>
          </a:p>
        </p:txBody>
      </p:sp>
      <p:sp>
        <p:nvSpPr>
          <p:cNvPr id="19" name="TextBox 18"/>
          <p:cNvSpPr txBox="1"/>
          <p:nvPr/>
        </p:nvSpPr>
        <p:spPr>
          <a:xfrm>
            <a:off x="612648" y="3273551"/>
            <a:ext cx="1645920" cy="658368"/>
          </a:xfrm>
          <a:prstGeom prst="rect">
            <a:avLst/>
          </a:prstGeom>
          <a:noFill/>
        </p:spPr>
        <p:txBody>
          <a:bodyPr wrap="square" lIns="0" rIns="0" tIns="0" bIns="0" anchor="ctr"/>
          <a:lstStyle/>
          <a:p>
            <a:pPr algn="l"/>
            <a:r>
              <a:rPr sz="1250" b="0" i="0" spc="12">
                <a:solidFill>
                  <a:srgbClr val="1F6BFF"/>
                </a:solidFill>
                <a:latin typeface="Outfit ExtraBold"/>
                <a:ea typeface="Outfit ExtraBold"/>
                <a:cs typeface="Outfit ExtraBold"/>
              </a:rPr>
              <a:t>ORCHESTRATION</a:t>
            </a:r>
          </a:p>
        </p:txBody>
      </p:sp>
      <p:sp>
        <p:nvSpPr>
          <p:cNvPr id="20" name="Rounded Rectangle 19"/>
          <p:cNvSpPr/>
          <p:nvPr/>
        </p:nvSpPr>
        <p:spPr>
          <a:xfrm>
            <a:off x="2331720" y="3273551"/>
            <a:ext cx="1466088"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59736" y="3273551"/>
            <a:ext cx="1210056" cy="658368"/>
          </a:xfrm>
          <a:prstGeom prst="rect">
            <a:avLst/>
          </a:prstGeom>
          <a:noFill/>
        </p:spPr>
        <p:txBody>
          <a:bodyPr wrap="square" lIns="0" rIns="0" tIns="0" bIns="0" anchor="ctr"/>
          <a:lstStyle/>
          <a:p>
            <a:pPr algn="ctr">
              <a:lnSpc>
                <a:spcPct val="100000"/>
              </a:lnSpc>
            </a:pPr>
            <a:r>
              <a:rPr sz="1200" b="0" i="0">
                <a:solidFill>
                  <a:srgbClr val="111111"/>
                </a:solidFill>
                <a:latin typeface="Inter"/>
                <a:ea typeface="Inter"/>
                <a:cs typeface="Inter"/>
              </a:rPr>
              <a:t>Event bus</a:t>
            </a:r>
          </a:p>
        </p:txBody>
      </p:sp>
      <p:sp>
        <p:nvSpPr>
          <p:cNvPr id="22" name="Rounded Rectangle 21"/>
          <p:cNvSpPr/>
          <p:nvPr/>
        </p:nvSpPr>
        <p:spPr>
          <a:xfrm>
            <a:off x="3889247" y="3273551"/>
            <a:ext cx="1466088"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17263" y="3273551"/>
            <a:ext cx="1210056" cy="658368"/>
          </a:xfrm>
          <a:prstGeom prst="rect">
            <a:avLst/>
          </a:prstGeom>
          <a:noFill/>
        </p:spPr>
        <p:txBody>
          <a:bodyPr wrap="square" lIns="0" rIns="0" tIns="0" bIns="0" anchor="ctr"/>
          <a:lstStyle/>
          <a:p>
            <a:pPr algn="ctr">
              <a:lnSpc>
                <a:spcPct val="100000"/>
              </a:lnSpc>
            </a:pPr>
            <a:r>
              <a:rPr sz="1200" b="0" i="0">
                <a:solidFill>
                  <a:srgbClr val="111111"/>
                </a:solidFill>
                <a:latin typeface="Inter"/>
                <a:ea typeface="Inter"/>
                <a:cs typeface="Inter"/>
              </a:rPr>
              <a:t>Job queue</a:t>
            </a:r>
          </a:p>
        </p:txBody>
      </p:sp>
      <p:sp>
        <p:nvSpPr>
          <p:cNvPr id="24" name="Rounded Rectangle 23"/>
          <p:cNvSpPr/>
          <p:nvPr/>
        </p:nvSpPr>
        <p:spPr>
          <a:xfrm>
            <a:off x="5446776" y="3273551"/>
            <a:ext cx="1466088"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4792" y="3273551"/>
            <a:ext cx="1210056" cy="658368"/>
          </a:xfrm>
          <a:prstGeom prst="rect">
            <a:avLst/>
          </a:prstGeom>
          <a:noFill/>
        </p:spPr>
        <p:txBody>
          <a:bodyPr wrap="square" lIns="0" rIns="0" tIns="0" bIns="0" anchor="ctr"/>
          <a:lstStyle/>
          <a:p>
            <a:pPr algn="ctr">
              <a:lnSpc>
                <a:spcPct val="100000"/>
              </a:lnSpc>
            </a:pPr>
            <a:r>
              <a:rPr sz="1200" b="0" i="0">
                <a:solidFill>
                  <a:srgbClr val="111111"/>
                </a:solidFill>
                <a:latin typeface="Inter"/>
                <a:ea typeface="Inter"/>
                <a:cs typeface="Inter"/>
              </a:rPr>
              <a:t>Prompt packs</a:t>
            </a:r>
          </a:p>
        </p:txBody>
      </p:sp>
      <p:sp>
        <p:nvSpPr>
          <p:cNvPr id="26" name="Rounded Rectangle 25"/>
          <p:cNvSpPr/>
          <p:nvPr/>
        </p:nvSpPr>
        <p:spPr>
          <a:xfrm>
            <a:off x="7004304" y="3273551"/>
            <a:ext cx="1466088"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0" y="3273551"/>
            <a:ext cx="1210056" cy="658368"/>
          </a:xfrm>
          <a:prstGeom prst="rect">
            <a:avLst/>
          </a:prstGeom>
          <a:noFill/>
        </p:spPr>
        <p:txBody>
          <a:bodyPr wrap="square" lIns="0" rIns="0" tIns="0" bIns="0" anchor="ctr"/>
          <a:lstStyle/>
          <a:p>
            <a:pPr algn="ctr">
              <a:lnSpc>
                <a:spcPct val="100000"/>
              </a:lnSpc>
            </a:pPr>
            <a:r>
              <a:rPr sz="1200" b="0" i="0">
                <a:solidFill>
                  <a:srgbClr val="111111"/>
                </a:solidFill>
                <a:latin typeface="Inter"/>
                <a:ea typeface="Inter"/>
                <a:cs typeface="Inter"/>
              </a:rPr>
              <a:t>Validation gates</a:t>
            </a:r>
          </a:p>
        </p:txBody>
      </p:sp>
      <p:sp>
        <p:nvSpPr>
          <p:cNvPr id="28" name="Rounded Rectangle 27"/>
          <p:cNvSpPr/>
          <p:nvPr/>
        </p:nvSpPr>
        <p:spPr>
          <a:xfrm>
            <a:off x="8561832" y="3273551"/>
            <a:ext cx="1466088"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9848" y="3273551"/>
            <a:ext cx="1210056" cy="658368"/>
          </a:xfrm>
          <a:prstGeom prst="rect">
            <a:avLst/>
          </a:prstGeom>
          <a:noFill/>
        </p:spPr>
        <p:txBody>
          <a:bodyPr wrap="square" lIns="0" rIns="0" tIns="0" bIns="0" anchor="ctr"/>
          <a:lstStyle/>
          <a:p>
            <a:pPr algn="ctr">
              <a:lnSpc>
                <a:spcPct val="100000"/>
              </a:lnSpc>
            </a:pPr>
            <a:r>
              <a:rPr sz="1200" b="0" i="0">
                <a:solidFill>
                  <a:srgbClr val="111111"/>
                </a:solidFill>
                <a:latin typeface="Inter"/>
                <a:ea typeface="Inter"/>
                <a:cs typeface="Inter"/>
              </a:rPr>
              <a:t>Changes &amp; versions</a:t>
            </a:r>
          </a:p>
        </p:txBody>
      </p:sp>
      <p:sp>
        <p:nvSpPr>
          <p:cNvPr id="30" name="Rounded Rectangle 29"/>
          <p:cNvSpPr/>
          <p:nvPr/>
        </p:nvSpPr>
        <p:spPr>
          <a:xfrm>
            <a:off x="10119360" y="3273551"/>
            <a:ext cx="1466088"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47376" y="3273551"/>
            <a:ext cx="1210056" cy="658368"/>
          </a:xfrm>
          <a:prstGeom prst="rect">
            <a:avLst/>
          </a:prstGeom>
          <a:noFill/>
        </p:spPr>
        <p:txBody>
          <a:bodyPr wrap="square" lIns="0" rIns="0" tIns="0" bIns="0" anchor="ctr"/>
          <a:lstStyle/>
          <a:p>
            <a:pPr algn="ctr">
              <a:lnSpc>
                <a:spcPct val="100000"/>
              </a:lnSpc>
            </a:pPr>
            <a:r>
              <a:rPr sz="1200" b="0" i="0">
                <a:solidFill>
                  <a:srgbClr val="111111"/>
                </a:solidFill>
                <a:latin typeface="Inter"/>
                <a:ea typeface="Inter"/>
                <a:cs typeface="Inter"/>
              </a:rPr>
              <a:t>Sign-in &amp; secrets</a:t>
            </a:r>
          </a:p>
        </p:txBody>
      </p:sp>
      <p:sp>
        <p:nvSpPr>
          <p:cNvPr id="32" name="TextBox 31"/>
          <p:cNvSpPr txBox="1"/>
          <p:nvPr/>
        </p:nvSpPr>
        <p:spPr>
          <a:xfrm>
            <a:off x="612648" y="4041648"/>
            <a:ext cx="1645920" cy="658368"/>
          </a:xfrm>
          <a:prstGeom prst="rect">
            <a:avLst/>
          </a:prstGeom>
          <a:noFill/>
        </p:spPr>
        <p:txBody>
          <a:bodyPr wrap="square" lIns="0" rIns="0" tIns="0" bIns="0" anchor="ctr"/>
          <a:lstStyle/>
          <a:p>
            <a:pPr algn="l"/>
            <a:r>
              <a:rPr sz="1250" b="0" i="0" spc="12">
                <a:solidFill>
                  <a:srgbClr val="1F6BFF"/>
                </a:solidFill>
                <a:latin typeface="Outfit ExtraBold"/>
                <a:ea typeface="Outfit ExtraBold"/>
                <a:cs typeface="Outfit ExtraBold"/>
              </a:rPr>
              <a:t>AGENTS</a:t>
            </a:r>
          </a:p>
        </p:txBody>
      </p:sp>
      <p:sp>
        <p:nvSpPr>
          <p:cNvPr id="33" name="Rounded Rectangle 32"/>
          <p:cNvSpPr/>
          <p:nvPr/>
        </p:nvSpPr>
        <p:spPr>
          <a:xfrm>
            <a:off x="2331720" y="4041648"/>
            <a:ext cx="1777593" cy="658368"/>
          </a:xfrm>
          <a:prstGeom prst="roundRect">
            <a:avLst>
              <a:gd name="adj" fmla="val 8000"/>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23160" y="4041648"/>
            <a:ext cx="1594713" cy="658368"/>
          </a:xfrm>
          <a:prstGeom prst="rect">
            <a:avLst/>
          </a:prstGeom>
          <a:noFill/>
        </p:spPr>
        <p:txBody>
          <a:bodyPr wrap="square" lIns="0" rIns="0" tIns="0" bIns="0" anchor="ctr"/>
          <a:lstStyle/>
          <a:p>
            <a:pPr algn="ctr"/>
            <a:r>
              <a:rPr sz="1300" b="0" i="0">
                <a:solidFill>
                  <a:srgbClr val="FFFFFF"/>
                </a:solidFill>
                <a:latin typeface="Inter SemiBold"/>
                <a:ea typeface="Inter SemiBold"/>
                <a:cs typeface="Inter SemiBold"/>
              </a:rPr>
              <a:t>SRS agent</a:t>
            </a:r>
          </a:p>
        </p:txBody>
      </p:sp>
      <p:sp>
        <p:nvSpPr>
          <p:cNvPr id="35" name="Rounded Rectangle 34"/>
          <p:cNvSpPr/>
          <p:nvPr/>
        </p:nvSpPr>
        <p:spPr>
          <a:xfrm>
            <a:off x="4200753" y="4041648"/>
            <a:ext cx="1777593" cy="658368"/>
          </a:xfrm>
          <a:prstGeom prst="roundRect">
            <a:avLst>
              <a:gd name="adj" fmla="val 8000"/>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92193" y="4041648"/>
            <a:ext cx="1594713" cy="658368"/>
          </a:xfrm>
          <a:prstGeom prst="rect">
            <a:avLst/>
          </a:prstGeom>
          <a:noFill/>
        </p:spPr>
        <p:txBody>
          <a:bodyPr wrap="square" lIns="0" rIns="0" tIns="0" bIns="0" anchor="ctr"/>
          <a:lstStyle/>
          <a:p>
            <a:pPr algn="ctr"/>
            <a:r>
              <a:rPr sz="1300" b="0" i="0">
                <a:solidFill>
                  <a:srgbClr val="FFFFFF"/>
                </a:solidFill>
                <a:latin typeface="Inter SemiBold"/>
                <a:ea typeface="Inter SemiBold"/>
                <a:cs typeface="Inter SemiBold"/>
              </a:rPr>
              <a:t>Prototype agent</a:t>
            </a:r>
          </a:p>
        </p:txBody>
      </p:sp>
      <p:sp>
        <p:nvSpPr>
          <p:cNvPr id="37" name="Rounded Rectangle 36"/>
          <p:cNvSpPr/>
          <p:nvPr/>
        </p:nvSpPr>
        <p:spPr>
          <a:xfrm>
            <a:off x="6069787" y="4041648"/>
            <a:ext cx="1777593" cy="658368"/>
          </a:xfrm>
          <a:prstGeom prst="roundRect">
            <a:avLst>
              <a:gd name="adj" fmla="val 8000"/>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61227" y="4041648"/>
            <a:ext cx="1594713" cy="658368"/>
          </a:xfrm>
          <a:prstGeom prst="rect">
            <a:avLst/>
          </a:prstGeom>
          <a:noFill/>
        </p:spPr>
        <p:txBody>
          <a:bodyPr wrap="square" lIns="0" rIns="0" tIns="0" bIns="0" anchor="ctr"/>
          <a:lstStyle/>
          <a:p>
            <a:pPr algn="ctr"/>
            <a:r>
              <a:rPr sz="1300" b="0" i="0">
                <a:solidFill>
                  <a:srgbClr val="FFFFFF"/>
                </a:solidFill>
                <a:latin typeface="Inter SemiBold"/>
                <a:ea typeface="Inter SemiBold"/>
                <a:cs typeface="Inter SemiBold"/>
              </a:rPr>
              <a:t>Builder agent</a:t>
            </a:r>
          </a:p>
        </p:txBody>
      </p:sp>
      <p:sp>
        <p:nvSpPr>
          <p:cNvPr id="39" name="Rounded Rectangle 38"/>
          <p:cNvSpPr/>
          <p:nvPr/>
        </p:nvSpPr>
        <p:spPr>
          <a:xfrm>
            <a:off x="7938820" y="4041648"/>
            <a:ext cx="1777593" cy="658368"/>
          </a:xfrm>
          <a:prstGeom prst="roundRect">
            <a:avLst>
              <a:gd name="adj" fmla="val 8000"/>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30260" y="4041648"/>
            <a:ext cx="1594713" cy="658368"/>
          </a:xfrm>
          <a:prstGeom prst="rect">
            <a:avLst/>
          </a:prstGeom>
          <a:noFill/>
        </p:spPr>
        <p:txBody>
          <a:bodyPr wrap="square" lIns="0" rIns="0" tIns="0" bIns="0" anchor="ctr"/>
          <a:lstStyle/>
          <a:p>
            <a:pPr algn="ctr"/>
            <a:r>
              <a:rPr sz="1300" b="0" i="0">
                <a:solidFill>
                  <a:srgbClr val="FFFFFF"/>
                </a:solidFill>
                <a:latin typeface="Inter SemiBold"/>
                <a:ea typeface="Inter SemiBold"/>
                <a:cs typeface="Inter SemiBold"/>
              </a:rPr>
              <a:t>QA agent</a:t>
            </a:r>
          </a:p>
        </p:txBody>
      </p:sp>
      <p:sp>
        <p:nvSpPr>
          <p:cNvPr id="41" name="Rounded Rectangle 40"/>
          <p:cNvSpPr/>
          <p:nvPr/>
        </p:nvSpPr>
        <p:spPr>
          <a:xfrm>
            <a:off x="9807854" y="4041648"/>
            <a:ext cx="1777593" cy="658368"/>
          </a:xfrm>
          <a:prstGeom prst="roundRect">
            <a:avLst>
              <a:gd name="adj" fmla="val 8000"/>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99294" y="4041648"/>
            <a:ext cx="1594713" cy="658368"/>
          </a:xfrm>
          <a:prstGeom prst="rect">
            <a:avLst/>
          </a:prstGeom>
          <a:noFill/>
        </p:spPr>
        <p:txBody>
          <a:bodyPr wrap="square" lIns="0" rIns="0" tIns="0" bIns="0" anchor="ctr"/>
          <a:lstStyle/>
          <a:p>
            <a:pPr algn="ctr"/>
            <a:r>
              <a:rPr sz="1300" b="0" i="0">
                <a:solidFill>
                  <a:srgbClr val="FFFFFF"/>
                </a:solidFill>
                <a:latin typeface="Inter SemiBold"/>
                <a:ea typeface="Inter SemiBold"/>
                <a:cs typeface="Inter SemiBold"/>
              </a:rPr>
              <a:t>Deploy agent</a:t>
            </a:r>
          </a:p>
        </p:txBody>
      </p:sp>
      <p:sp>
        <p:nvSpPr>
          <p:cNvPr id="43" name="TextBox 42"/>
          <p:cNvSpPr txBox="1"/>
          <p:nvPr/>
        </p:nvSpPr>
        <p:spPr>
          <a:xfrm>
            <a:off x="612648" y="4809744"/>
            <a:ext cx="1645920" cy="658368"/>
          </a:xfrm>
          <a:prstGeom prst="rect">
            <a:avLst/>
          </a:prstGeom>
          <a:noFill/>
        </p:spPr>
        <p:txBody>
          <a:bodyPr wrap="square" lIns="0" rIns="0" tIns="0" bIns="0" anchor="ctr"/>
          <a:lstStyle/>
          <a:p>
            <a:pPr algn="l"/>
            <a:r>
              <a:rPr sz="1250" b="0" i="0" spc="12">
                <a:solidFill>
                  <a:srgbClr val="1F6BFF"/>
                </a:solidFill>
                <a:latin typeface="Outfit ExtraBold"/>
                <a:ea typeface="Outfit ExtraBold"/>
                <a:cs typeface="Outfit ExtraBold"/>
              </a:rPr>
              <a:t>ENGINE</a:t>
            </a:r>
          </a:p>
        </p:txBody>
      </p:sp>
      <p:sp>
        <p:nvSpPr>
          <p:cNvPr id="44" name="Rounded Rectangle 43"/>
          <p:cNvSpPr/>
          <p:nvPr/>
        </p:nvSpPr>
        <p:spPr>
          <a:xfrm>
            <a:off x="2331720" y="4809744"/>
            <a:ext cx="3023616"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459736" y="4809744"/>
            <a:ext cx="2767583" cy="658368"/>
          </a:xfrm>
          <a:prstGeom prst="rect">
            <a:avLst/>
          </a:prstGeom>
          <a:noFill/>
        </p:spPr>
        <p:txBody>
          <a:bodyPr wrap="square" lIns="0" rIns="0" tIns="0" bIns="0" anchor="ctr"/>
          <a:lstStyle/>
          <a:p>
            <a:pPr algn="l">
              <a:lnSpc>
                <a:spcPct val="100000"/>
              </a:lnSpc>
            </a:pPr>
            <a:r>
              <a:rPr sz="1150" b="0" i="0">
                <a:solidFill>
                  <a:srgbClr val="111111"/>
                </a:solidFill>
                <a:latin typeface="Inter"/>
                <a:ea typeface="Inter"/>
                <a:cs typeface="Inter"/>
              </a:rPr>
              <a:t>ProjectSession — one agent per project, plan / act modes, memory</a:t>
            </a:r>
          </a:p>
        </p:txBody>
      </p:sp>
      <p:sp>
        <p:nvSpPr>
          <p:cNvPr id="46" name="Rounded Rectangle 45"/>
          <p:cNvSpPr/>
          <p:nvPr/>
        </p:nvSpPr>
        <p:spPr>
          <a:xfrm>
            <a:off x="5446776" y="4809744"/>
            <a:ext cx="3023616"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74792" y="4809744"/>
            <a:ext cx="2767583" cy="658368"/>
          </a:xfrm>
          <a:prstGeom prst="rect">
            <a:avLst/>
          </a:prstGeom>
          <a:noFill/>
        </p:spPr>
        <p:txBody>
          <a:bodyPr wrap="square" lIns="0" rIns="0" tIns="0" bIns="0" anchor="ctr"/>
          <a:lstStyle/>
          <a:p>
            <a:pPr algn="l">
              <a:lnSpc>
                <a:spcPct val="100000"/>
              </a:lnSpc>
            </a:pPr>
            <a:r>
              <a:rPr sz="1150" b="0" i="0">
                <a:solidFill>
                  <a:srgbClr val="111111"/>
                </a:solidFill>
                <a:latin typeface="Inter"/>
                <a:ea typeface="Inter"/>
                <a:cs typeface="Inter"/>
              </a:rPr>
              <a:t>Focused LLM calls — parallel lanes for documents, diagrams, pages</a:t>
            </a:r>
          </a:p>
        </p:txBody>
      </p:sp>
      <p:sp>
        <p:nvSpPr>
          <p:cNvPr id="48" name="Rounded Rectangle 47"/>
          <p:cNvSpPr/>
          <p:nvPr/>
        </p:nvSpPr>
        <p:spPr>
          <a:xfrm>
            <a:off x="8561832" y="4809744"/>
            <a:ext cx="3023616"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9848" y="4809744"/>
            <a:ext cx="2767583" cy="658368"/>
          </a:xfrm>
          <a:prstGeom prst="rect">
            <a:avLst/>
          </a:prstGeom>
          <a:noFill/>
        </p:spPr>
        <p:txBody>
          <a:bodyPr wrap="square" lIns="0" rIns="0" tIns="0" bIns="0" anchor="ctr"/>
          <a:lstStyle/>
          <a:p>
            <a:pPr algn="l">
              <a:lnSpc>
                <a:spcPct val="100000"/>
              </a:lnSpc>
            </a:pPr>
            <a:r>
              <a:rPr sz="1150" b="0" i="0">
                <a:solidFill>
                  <a:srgbClr val="111111"/>
                </a:solidFill>
                <a:latin typeface="Inter"/>
                <a:ea typeface="Inter"/>
                <a:cs typeface="Inter"/>
              </a:rPr>
              <a:t>Ollama — local or cloud models, web search</a:t>
            </a:r>
          </a:p>
        </p:txBody>
      </p:sp>
      <p:sp>
        <p:nvSpPr>
          <p:cNvPr id="50" name="TextBox 49"/>
          <p:cNvSpPr txBox="1"/>
          <p:nvPr/>
        </p:nvSpPr>
        <p:spPr>
          <a:xfrm>
            <a:off x="612648" y="5577840"/>
            <a:ext cx="1645920" cy="658368"/>
          </a:xfrm>
          <a:prstGeom prst="rect">
            <a:avLst/>
          </a:prstGeom>
          <a:noFill/>
        </p:spPr>
        <p:txBody>
          <a:bodyPr wrap="square" lIns="0" rIns="0" tIns="0" bIns="0" anchor="ctr"/>
          <a:lstStyle/>
          <a:p>
            <a:pPr algn="l"/>
            <a:r>
              <a:rPr sz="1250" b="0" i="0" spc="12">
                <a:solidFill>
                  <a:srgbClr val="1F6BFF"/>
                </a:solidFill>
                <a:latin typeface="Outfit ExtraBold"/>
                <a:ea typeface="Outfit ExtraBold"/>
                <a:cs typeface="Outfit ExtraBold"/>
              </a:rPr>
              <a:t>PROJECT STORE</a:t>
            </a:r>
          </a:p>
        </p:txBody>
      </p:sp>
      <p:sp>
        <p:nvSpPr>
          <p:cNvPr id="51" name="Rounded Rectangle 50"/>
          <p:cNvSpPr/>
          <p:nvPr/>
        </p:nvSpPr>
        <p:spPr>
          <a:xfrm>
            <a:off x="2331720" y="5577840"/>
            <a:ext cx="9253728" cy="658368"/>
          </a:xfrm>
          <a:prstGeom prst="roundRect">
            <a:avLst>
              <a:gd name="adj" fmla="val 3500"/>
            </a:avLst>
          </a:prstGeom>
          <a:solidFill>
            <a:srgbClr val="FFFFFF">
              <a:alpha val="92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459736" y="5577840"/>
            <a:ext cx="8997696" cy="658368"/>
          </a:xfrm>
          <a:prstGeom prst="rect">
            <a:avLst/>
          </a:prstGeom>
          <a:noFill/>
        </p:spPr>
        <p:txBody>
          <a:bodyPr wrap="square" lIns="0" rIns="0" tIns="0" bIns="0" anchor="ctr"/>
          <a:lstStyle/>
          <a:p>
            <a:pPr algn="l">
              <a:lnSpc>
                <a:spcPct val="100000"/>
              </a:lnSpc>
            </a:pPr>
            <a:r>
              <a:rPr sz="1150" b="0" i="0">
                <a:solidFill>
                  <a:srgbClr val="111111"/>
                </a:solidFill>
                <a:latin typeface="Inter"/>
                <a:ea typeface="Inter"/>
                <a:cs typeface="Inter"/>
              </a:rPr>
              <a:t>workspaces/&lt;project&gt;/ — the application + .agentforge/ : context.json · events.jsonl · interview · plan · design · srs/ · prototype/ · build/ · qa/ · deploy/ · versions/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ARCHITECTURE</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The shared project record</a:t>
            </a:r>
          </a:p>
        </p:txBody>
      </p:sp>
      <p:sp>
        <p:nvSpPr>
          <p:cNvPr id="6" name="TextBox 5"/>
          <p:cNvSpPr txBox="1"/>
          <p:nvPr/>
        </p:nvSpPr>
        <p:spPr>
          <a:xfrm>
            <a:off x="612648" y="1554480"/>
            <a:ext cx="9692640" cy="310896"/>
          </a:xfrm>
          <a:prstGeom prst="rect">
            <a:avLst/>
          </a:prstGeom>
          <a:noFill/>
        </p:spPr>
        <p:txBody>
          <a:bodyPr wrap="square" lIns="0" rIns="0" tIns="0" bIns="0" anchor="t"/>
          <a:lstStyle/>
          <a:p>
            <a:pPr algn="l"/>
            <a:r>
              <a:rPr sz="1600" b="0" i="0">
                <a:solidFill>
                  <a:srgbClr val="1F2937"/>
                </a:solidFill>
                <a:latin typeface="Inter"/>
                <a:ea typeface="Inter"/>
                <a:cs typeface="Inter"/>
              </a:rPr>
              <a:t>All five agents reuse one session and one workspace, so later roles keep every decision.</a:t>
            </a:r>
          </a:p>
        </p:txBody>
      </p:sp>
      <p:sp>
        <p:nvSpPr>
          <p:cNvPr id="7" name="TextBox 6"/>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09</a:t>
            </a:r>
          </a:p>
        </p:txBody>
      </p:sp>
      <p:sp>
        <p:nvSpPr>
          <p:cNvPr id="8" name="TextBox 7"/>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9" name="Picture 8" descr="10.png"/>
          <p:cNvPicPr>
            <a:picLocks noChangeAspect="1"/>
          </p:cNvPicPr>
          <p:nvPr/>
        </p:nvPicPr>
        <p:blipFill>
          <a:blip r:embed="rId3"/>
          <a:stretch>
            <a:fillRect/>
          </a:stretch>
        </p:blipFill>
        <p:spPr>
          <a:xfrm>
            <a:off x="10488168" y="201168"/>
            <a:ext cx="1316736" cy="1316736"/>
          </a:xfrm>
          <a:prstGeom prst="rect">
            <a:avLst/>
          </a:prstGeom>
        </p:spPr>
      </p:pic>
      <p:sp>
        <p:nvSpPr>
          <p:cNvPr id="10" name="Rounded Rectangle 9"/>
          <p:cNvSpPr/>
          <p:nvPr/>
        </p:nvSpPr>
        <p:spPr>
          <a:xfrm>
            <a:off x="612648" y="2057400"/>
            <a:ext cx="3474720" cy="16002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240280"/>
            <a:ext cx="3017520" cy="269875"/>
          </a:xfrm>
          <a:prstGeom prst="rect">
            <a:avLst/>
          </a:prstGeom>
          <a:noFill/>
        </p:spPr>
        <p:txBody>
          <a:bodyPr wrap="square" lIns="0" rIns="0" tIns="0" bIns="0" anchor="t"/>
          <a:lstStyle/>
          <a:p>
            <a:pPr algn="l"/>
            <a:r>
              <a:rPr sz="1700" b="0" i="0" spc="17">
                <a:solidFill>
                  <a:srgbClr val="111111"/>
                </a:solidFill>
                <a:latin typeface="Outfit ExtraBold"/>
                <a:ea typeface="Outfit ExtraBold"/>
                <a:cs typeface="Outfit ExtraBold"/>
              </a:rPr>
              <a:t>CONTEXT.JSON</a:t>
            </a:r>
          </a:p>
        </p:txBody>
      </p:sp>
      <p:sp>
        <p:nvSpPr>
          <p:cNvPr id="12" name="TextBox 11"/>
          <p:cNvSpPr txBox="1"/>
          <p:nvPr/>
        </p:nvSpPr>
        <p:spPr>
          <a:xfrm>
            <a:off x="841248" y="2583307"/>
            <a:ext cx="301752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The one conversation all five agents share. Saved after every turn and restored after a restart; switching the model keeps it.</a:t>
            </a:r>
          </a:p>
        </p:txBody>
      </p:sp>
      <p:sp>
        <p:nvSpPr>
          <p:cNvPr id="13" name="Rounded Rectangle 12"/>
          <p:cNvSpPr/>
          <p:nvPr/>
        </p:nvSpPr>
        <p:spPr>
          <a:xfrm>
            <a:off x="4361688" y="2057400"/>
            <a:ext cx="3474720" cy="16002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240280"/>
            <a:ext cx="3017520" cy="269875"/>
          </a:xfrm>
          <a:prstGeom prst="rect">
            <a:avLst/>
          </a:prstGeom>
          <a:noFill/>
        </p:spPr>
        <p:txBody>
          <a:bodyPr wrap="square" lIns="0" rIns="0" tIns="0" bIns="0" anchor="t"/>
          <a:lstStyle/>
          <a:p>
            <a:pPr algn="l"/>
            <a:r>
              <a:rPr sz="1700" b="0" i="0" spc="17">
                <a:solidFill>
                  <a:srgbClr val="111111"/>
                </a:solidFill>
                <a:latin typeface="Outfit ExtraBold"/>
                <a:ea typeface="Outfit ExtraBold"/>
                <a:cs typeface="Outfit ExtraBold"/>
              </a:rPr>
              <a:t>EVENTS.JSONL</a:t>
            </a:r>
          </a:p>
        </p:txBody>
      </p:sp>
      <p:sp>
        <p:nvSpPr>
          <p:cNvPr id="15" name="TextBox 14"/>
          <p:cNvSpPr txBox="1"/>
          <p:nvPr/>
        </p:nvSpPr>
        <p:spPr>
          <a:xfrm>
            <a:off x="4590288" y="2583307"/>
            <a:ext cx="3017520" cy="641032"/>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Every narration, tool call, file diff and command output — streamed live to the Studio and replayed after a reload.</a:t>
            </a:r>
          </a:p>
        </p:txBody>
      </p:sp>
      <p:sp>
        <p:nvSpPr>
          <p:cNvPr id="16" name="Rounded Rectangle 15"/>
          <p:cNvSpPr/>
          <p:nvPr/>
        </p:nvSpPr>
        <p:spPr>
          <a:xfrm>
            <a:off x="8110728" y="2057400"/>
            <a:ext cx="3474720" cy="16002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2240280"/>
            <a:ext cx="3017520" cy="269875"/>
          </a:xfrm>
          <a:prstGeom prst="rect">
            <a:avLst/>
          </a:prstGeom>
          <a:noFill/>
        </p:spPr>
        <p:txBody>
          <a:bodyPr wrap="square" lIns="0" rIns="0" tIns="0" bIns="0" anchor="t"/>
          <a:lstStyle/>
          <a:p>
            <a:pPr algn="l"/>
            <a:r>
              <a:rPr sz="1700" b="0" i="0" spc="17">
                <a:solidFill>
                  <a:srgbClr val="111111"/>
                </a:solidFill>
                <a:latin typeface="Outfit ExtraBold"/>
                <a:ea typeface="Outfit ExtraBold"/>
                <a:cs typeface="Outfit ExtraBold"/>
              </a:rPr>
              <a:t>STAGE FOLDERS</a:t>
            </a:r>
          </a:p>
        </p:txBody>
      </p:sp>
      <p:sp>
        <p:nvSpPr>
          <p:cNvPr id="18" name="TextBox 17"/>
          <p:cNvSpPr txBox="1"/>
          <p:nvPr/>
        </p:nvSpPr>
        <p:spPr>
          <a:xfrm>
            <a:off x="8339328" y="2583307"/>
            <a:ext cx="301752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interview, plan, design, srs/, prototype/, build/, qa/, deploy/ and versions/ — kept beside the application they describe.</a:t>
            </a:r>
          </a:p>
        </p:txBody>
      </p:sp>
      <p:sp>
        <p:nvSpPr>
          <p:cNvPr id="19" name="TextBox 18"/>
          <p:cNvSpPr txBox="1"/>
          <p:nvPr/>
        </p:nvSpPr>
        <p:spPr>
          <a:xfrm>
            <a:off x="612648" y="3931920"/>
            <a:ext cx="10972800" cy="228600"/>
          </a:xfrm>
          <a:prstGeom prst="rect">
            <a:avLst/>
          </a:prstGeom>
          <a:noFill/>
        </p:spPr>
        <p:txBody>
          <a:bodyPr wrap="square" lIns="0" rIns="0" tIns="0" bIns="0" anchor="t"/>
          <a:lstStyle/>
          <a:p>
            <a:pPr algn="l"/>
            <a:r>
              <a:rPr sz="1100" b="0" i="0" spc="250">
                <a:solidFill>
                  <a:srgbClr val="1F6BFF"/>
                </a:solidFill>
                <a:latin typeface="Urbanist SemiBold"/>
                <a:ea typeface="Urbanist SemiBold"/>
                <a:cs typeface="Urbanist SemiBold"/>
              </a:rPr>
              <a:t>HOW THE ENGINE STAYS RELIABLE</a:t>
            </a:r>
          </a:p>
        </p:txBody>
      </p:sp>
      <p:sp>
        <p:nvSpPr>
          <p:cNvPr id="20" name="Rounded Rectangle 19"/>
          <p:cNvSpPr/>
          <p:nvPr/>
        </p:nvSpPr>
        <p:spPr>
          <a:xfrm>
            <a:off x="612648" y="4251960"/>
            <a:ext cx="2606040" cy="2103120"/>
          </a:xfrm>
          <a:prstGeom prst="roundRect">
            <a:avLst>
              <a:gd name="adj" fmla="val 3500"/>
            </a:avLst>
          </a:prstGeom>
          <a:solidFill>
            <a:srgbClr val="EEF3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4416552"/>
            <a:ext cx="2240280"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SILENT PLAN MODE</a:t>
            </a:r>
          </a:p>
        </p:txBody>
      </p:sp>
      <p:sp>
        <p:nvSpPr>
          <p:cNvPr id="22" name="TextBox 21"/>
          <p:cNvSpPr txBox="1"/>
          <p:nvPr/>
        </p:nvSpPr>
        <p:spPr>
          <a:xfrm>
            <a:off x="795528" y="4711954"/>
            <a:ext cx="2240280" cy="1188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Each stage plans, then executes at once — bounded to 8 execution and 3 audit rounds, ending only on an explicit complete or blocked signal.</a:t>
            </a:r>
          </a:p>
        </p:txBody>
      </p:sp>
      <p:sp>
        <p:nvSpPr>
          <p:cNvPr id="23" name="Rounded Rectangle 22"/>
          <p:cNvSpPr/>
          <p:nvPr/>
        </p:nvSpPr>
        <p:spPr>
          <a:xfrm>
            <a:off x="3401568" y="4251960"/>
            <a:ext cx="2606040" cy="2103120"/>
          </a:xfrm>
          <a:prstGeom prst="roundRect">
            <a:avLst>
              <a:gd name="adj" fmla="val 3500"/>
            </a:avLst>
          </a:prstGeom>
          <a:solidFill>
            <a:srgbClr val="EEF3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4448" y="4416552"/>
            <a:ext cx="2240280"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DURABLE MEMORY</a:t>
            </a:r>
          </a:p>
        </p:txBody>
      </p:sp>
      <p:sp>
        <p:nvSpPr>
          <p:cNvPr id="25" name="TextBox 24"/>
          <p:cNvSpPr txBox="1"/>
          <p:nvPr/>
        </p:nvSpPr>
        <p:spPr>
          <a:xfrm>
            <a:off x="3584448" y="4711954"/>
            <a:ext cx="2240280" cy="1188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At 88% of the context window the oldest turns are summarised; if the model returns nothing, a digest of files, commands and requests is kept.</a:t>
            </a:r>
          </a:p>
        </p:txBody>
      </p:sp>
      <p:sp>
        <p:nvSpPr>
          <p:cNvPr id="26" name="Rounded Rectangle 25"/>
          <p:cNvSpPr/>
          <p:nvPr/>
        </p:nvSpPr>
        <p:spPr>
          <a:xfrm>
            <a:off x="6190488" y="4251960"/>
            <a:ext cx="2606040" cy="2103120"/>
          </a:xfrm>
          <a:prstGeom prst="roundRect">
            <a:avLst>
              <a:gd name="adj" fmla="val 3500"/>
            </a:avLst>
          </a:prstGeom>
          <a:solidFill>
            <a:srgbClr val="EEF3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73368" y="4416552"/>
            <a:ext cx="2240280"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RESILIENT CALLS</a:t>
            </a:r>
          </a:p>
        </p:txBody>
      </p:sp>
      <p:sp>
        <p:nvSpPr>
          <p:cNvPr id="28" name="TextBox 27"/>
          <p:cNvSpPr txBox="1"/>
          <p:nvPr/>
        </p:nvSpPr>
        <p:spPr>
          <a:xfrm>
            <a:off x="6373368" y="4711954"/>
            <a:ext cx="2240280" cy="998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Transient errors (429, 5xx, timeouts) retry with 2 s, 8 s and 20 s back-off; broken JSON is repaired in the same conversation.</a:t>
            </a:r>
          </a:p>
        </p:txBody>
      </p:sp>
      <p:sp>
        <p:nvSpPr>
          <p:cNvPr id="29" name="Rounded Rectangle 28"/>
          <p:cNvSpPr/>
          <p:nvPr/>
        </p:nvSpPr>
        <p:spPr>
          <a:xfrm>
            <a:off x="8979408" y="4251960"/>
            <a:ext cx="2606040" cy="2103120"/>
          </a:xfrm>
          <a:prstGeom prst="roundRect">
            <a:avLst>
              <a:gd name="adj" fmla="val 3500"/>
            </a:avLst>
          </a:prstGeom>
          <a:solidFill>
            <a:srgbClr val="EEF3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62288" y="4416552"/>
            <a:ext cx="2240280"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FOCUSED CALLS</a:t>
            </a:r>
          </a:p>
        </p:txBody>
      </p:sp>
      <p:sp>
        <p:nvSpPr>
          <p:cNvPr id="31" name="TextBox 30"/>
          <p:cNvSpPr txBox="1"/>
          <p:nvPr/>
        </p:nvSpPr>
        <p:spPr>
          <a:xfrm>
            <a:off x="9162288" y="4711954"/>
            <a:ext cx="2240280" cy="998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Specifications, diagrams, wireframes and pages are written as independent parallel calls, so long outputs never truncate.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VALIDATION</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Four gates that can say no</a:t>
            </a:r>
          </a:p>
        </p:txBody>
      </p:sp>
      <p:sp>
        <p:nvSpPr>
          <p:cNvPr id="6" name="TextBox 5"/>
          <p:cNvSpPr txBox="1"/>
          <p:nvPr/>
        </p:nvSpPr>
        <p:spPr>
          <a:xfrm>
            <a:off x="612648" y="1554480"/>
            <a:ext cx="9692640" cy="310896"/>
          </a:xfrm>
          <a:prstGeom prst="rect">
            <a:avLst/>
          </a:prstGeom>
          <a:noFill/>
        </p:spPr>
        <p:txBody>
          <a:bodyPr wrap="square" lIns="0" rIns="0" tIns="0" bIns="0" anchor="t"/>
          <a:lstStyle/>
          <a:p>
            <a:pPr algn="l"/>
            <a:r>
              <a:rPr sz="1600" b="0" i="0">
                <a:solidFill>
                  <a:srgbClr val="1F2937"/>
                </a:solidFill>
                <a:latin typeface="Inter"/>
                <a:ea typeface="Inter"/>
                <a:cs typeface="Inter"/>
              </a:rPr>
              <a:t>Only these code-based rules can reject a model's output; everything else is an editable prompt.</a:t>
            </a:r>
          </a:p>
        </p:txBody>
      </p:sp>
      <p:sp>
        <p:nvSpPr>
          <p:cNvPr id="7" name="TextBox 6"/>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10</a:t>
            </a:r>
          </a:p>
        </p:txBody>
      </p:sp>
      <p:sp>
        <p:nvSpPr>
          <p:cNvPr id="8" name="TextBox 7"/>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9" name="Picture 8" descr="24.png"/>
          <p:cNvPicPr>
            <a:picLocks noChangeAspect="1"/>
          </p:cNvPicPr>
          <p:nvPr/>
        </p:nvPicPr>
        <p:blipFill>
          <a:blip r:embed="rId3"/>
          <a:stretch>
            <a:fillRect/>
          </a:stretch>
        </p:blipFill>
        <p:spPr>
          <a:xfrm>
            <a:off x="10488168" y="201168"/>
            <a:ext cx="1316736" cy="1316736"/>
          </a:xfrm>
          <a:prstGeom prst="rect">
            <a:avLst/>
          </a:prstGeom>
        </p:spPr>
      </p:pic>
      <p:sp>
        <p:nvSpPr>
          <p:cNvPr id="10" name="Rounded Rectangle 9"/>
          <p:cNvSpPr/>
          <p:nvPr/>
        </p:nvSpPr>
        <p:spPr>
          <a:xfrm>
            <a:off x="612648" y="2057400"/>
            <a:ext cx="2606040" cy="26974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224028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01</a:t>
            </a:r>
          </a:p>
        </p:txBody>
      </p:sp>
      <p:sp>
        <p:nvSpPr>
          <p:cNvPr id="12" name="TextBox 11"/>
          <p:cNvSpPr txBox="1"/>
          <p:nvPr/>
        </p:nvSpPr>
        <p:spPr>
          <a:xfrm>
            <a:off x="813816" y="2496312"/>
            <a:ext cx="2203704" cy="254000"/>
          </a:xfrm>
          <a:prstGeom prst="rect">
            <a:avLst/>
          </a:prstGeom>
          <a:noFill/>
        </p:spPr>
        <p:txBody>
          <a:bodyPr wrap="square" lIns="0" rIns="0" tIns="0" bIns="0" anchor="t"/>
          <a:lstStyle/>
          <a:p>
            <a:pPr algn="l"/>
            <a:r>
              <a:rPr sz="1600" b="0" i="0" spc="16">
                <a:solidFill>
                  <a:srgbClr val="111111"/>
                </a:solidFill>
                <a:latin typeface="Outfit ExtraBold"/>
                <a:ea typeface="Outfit ExtraBold"/>
                <a:cs typeface="Outfit ExtraBold"/>
              </a:rPr>
              <a:t>PLAN DEPTH</a:t>
            </a:r>
          </a:p>
        </p:txBody>
      </p:sp>
      <p:sp>
        <p:nvSpPr>
          <p:cNvPr id="13" name="TextBox 12"/>
          <p:cNvSpPr txBox="1"/>
          <p:nvPr/>
        </p:nvSpPr>
        <p:spPr>
          <a:xfrm>
            <a:off x="813816" y="2823464"/>
            <a:ext cx="2203704" cy="1490345"/>
          </a:xfrm>
          <a:prstGeom prst="rect">
            <a:avLst/>
          </a:prstGeom>
          <a:noFill/>
        </p:spPr>
        <p:txBody>
          <a:bodyPr wrap="square" lIns="0" rIns="0" tIns="0" bIns="0" anchor="t"/>
          <a:lstStyle/>
          <a:p>
            <a:pPr algn="l">
              <a:lnSpc>
                <a:spcPct val="105000"/>
              </a:lnSpc>
            </a:pPr>
            <a:r>
              <a:rPr sz="1300" b="0" i="0">
                <a:solidFill>
                  <a:srgbClr val="1F2937"/>
                </a:solidFill>
                <a:latin typeface="Inter"/>
                <a:ea typeface="Inter"/>
                <a:cs typeface="Inter"/>
              </a:rPr>
              <a:t>Every screen has a purpose; every record keeps at least 2 fields; every signed-in role can do 2 things; public sign-up can never create a privileged role.</a:t>
            </a:r>
          </a:p>
        </p:txBody>
      </p:sp>
      <p:sp>
        <p:nvSpPr>
          <p:cNvPr id="14" name="Rounded Rectangle 13"/>
          <p:cNvSpPr/>
          <p:nvPr/>
        </p:nvSpPr>
        <p:spPr>
          <a:xfrm>
            <a:off x="3401568" y="2057400"/>
            <a:ext cx="2606040" cy="26974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2736" y="224028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02</a:t>
            </a:r>
          </a:p>
        </p:txBody>
      </p:sp>
      <p:sp>
        <p:nvSpPr>
          <p:cNvPr id="16" name="TextBox 15"/>
          <p:cNvSpPr txBox="1"/>
          <p:nvPr/>
        </p:nvSpPr>
        <p:spPr>
          <a:xfrm>
            <a:off x="3602736" y="2496312"/>
            <a:ext cx="2203704" cy="254000"/>
          </a:xfrm>
          <a:prstGeom prst="rect">
            <a:avLst/>
          </a:prstGeom>
          <a:noFill/>
        </p:spPr>
        <p:txBody>
          <a:bodyPr wrap="square" lIns="0" rIns="0" tIns="0" bIns="0" anchor="t"/>
          <a:lstStyle/>
          <a:p>
            <a:pPr algn="l"/>
            <a:r>
              <a:rPr sz="1600" b="0" i="0" spc="16">
                <a:solidFill>
                  <a:srgbClr val="111111"/>
                </a:solidFill>
                <a:latin typeface="Outfit ExtraBold"/>
                <a:ea typeface="Outfit ExtraBold"/>
                <a:cs typeface="Outfit ExtraBold"/>
              </a:rPr>
              <a:t>SRS SCHEMA</a:t>
            </a:r>
          </a:p>
        </p:txBody>
      </p:sp>
      <p:sp>
        <p:nvSpPr>
          <p:cNvPr id="17" name="TextBox 16"/>
          <p:cNvSpPr txBox="1"/>
          <p:nvPr/>
        </p:nvSpPr>
        <p:spPr>
          <a:xfrm>
            <a:off x="3602736" y="2823464"/>
            <a:ext cx="2203704" cy="1283970"/>
          </a:xfrm>
          <a:prstGeom prst="rect">
            <a:avLst/>
          </a:prstGeom>
          <a:noFill/>
        </p:spPr>
        <p:txBody>
          <a:bodyPr wrap="square" lIns="0" rIns="0" tIns="0" bIns="0" anchor="t"/>
          <a:lstStyle/>
          <a:p>
            <a:pPr algn="l">
              <a:lnSpc>
                <a:spcPct val="105000"/>
              </a:lnSpc>
            </a:pPr>
            <a:r>
              <a:rPr sz="1300" b="0" i="0">
                <a:solidFill>
                  <a:srgbClr val="1F2937"/>
                </a:solidFill>
                <a:latin typeface="Inter"/>
                <a:ea typeface="Inter"/>
                <a:cs typeface="Inter"/>
              </a:rPr>
              <a:t>A Pydantic model of 30+ sections — the same one the Studio's views read — with floors of 3 functional and 3 quality requirements and 1 role.</a:t>
            </a:r>
          </a:p>
        </p:txBody>
      </p:sp>
      <p:sp>
        <p:nvSpPr>
          <p:cNvPr id="18" name="Rounded Rectangle 17"/>
          <p:cNvSpPr/>
          <p:nvPr/>
        </p:nvSpPr>
        <p:spPr>
          <a:xfrm>
            <a:off x="6190488" y="2057400"/>
            <a:ext cx="2606040" cy="26974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1656" y="224028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03</a:t>
            </a:r>
          </a:p>
        </p:txBody>
      </p:sp>
      <p:sp>
        <p:nvSpPr>
          <p:cNvPr id="20" name="TextBox 19"/>
          <p:cNvSpPr txBox="1"/>
          <p:nvPr/>
        </p:nvSpPr>
        <p:spPr>
          <a:xfrm>
            <a:off x="6391656" y="2496312"/>
            <a:ext cx="2203704" cy="254000"/>
          </a:xfrm>
          <a:prstGeom prst="rect">
            <a:avLst/>
          </a:prstGeom>
          <a:noFill/>
        </p:spPr>
        <p:txBody>
          <a:bodyPr wrap="square" lIns="0" rIns="0" tIns="0" bIns="0" anchor="t"/>
          <a:lstStyle/>
          <a:p>
            <a:pPr algn="l"/>
            <a:r>
              <a:rPr sz="1600" b="0" i="0" spc="16">
                <a:solidFill>
                  <a:srgbClr val="111111"/>
                </a:solidFill>
                <a:latin typeface="Outfit ExtraBold"/>
                <a:ea typeface="Outfit ExtraBold"/>
                <a:cs typeface="Outfit ExtraBold"/>
              </a:rPr>
              <a:t>COVERAGE</a:t>
            </a:r>
          </a:p>
        </p:txBody>
      </p:sp>
      <p:sp>
        <p:nvSpPr>
          <p:cNvPr id="21" name="TextBox 20"/>
          <p:cNvSpPr txBox="1"/>
          <p:nvPr/>
        </p:nvSpPr>
        <p:spPr>
          <a:xfrm>
            <a:off x="6391656" y="2823464"/>
            <a:ext cx="2203704" cy="1490345"/>
          </a:xfrm>
          <a:prstGeom prst="rect">
            <a:avLst/>
          </a:prstGeom>
          <a:noFill/>
        </p:spPr>
        <p:txBody>
          <a:bodyPr wrap="square" lIns="0" rIns="0" tIns="0" bIns="0" anchor="t"/>
          <a:lstStyle/>
          <a:p>
            <a:pPr algn="l">
              <a:lnSpc>
                <a:spcPct val="105000"/>
              </a:lnSpc>
            </a:pPr>
            <a:r>
              <a:rPr sz="1300" b="0" i="0">
                <a:solidFill>
                  <a:srgbClr val="1F2937"/>
                </a:solidFill>
                <a:latin typeface="Inter"/>
                <a:ea typeface="Inter"/>
                <a:cs typeface="Inter"/>
              </a:rPr>
              <a:t>Counts the plan against the spec: dropped screens, features with no requirement, skipped diagrams, half-drawn wireframes, dead prototype links.</a:t>
            </a:r>
          </a:p>
        </p:txBody>
      </p:sp>
      <p:sp>
        <p:nvSpPr>
          <p:cNvPr id="22" name="Rounded Rectangle 21"/>
          <p:cNvSpPr/>
          <p:nvPr/>
        </p:nvSpPr>
        <p:spPr>
          <a:xfrm>
            <a:off x="8979408" y="2057400"/>
            <a:ext cx="2606040" cy="26974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0576" y="224028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04</a:t>
            </a:r>
          </a:p>
        </p:txBody>
      </p:sp>
      <p:sp>
        <p:nvSpPr>
          <p:cNvPr id="24" name="TextBox 23"/>
          <p:cNvSpPr txBox="1"/>
          <p:nvPr/>
        </p:nvSpPr>
        <p:spPr>
          <a:xfrm>
            <a:off x="9180576" y="2496312"/>
            <a:ext cx="2203704" cy="254000"/>
          </a:xfrm>
          <a:prstGeom prst="rect">
            <a:avLst/>
          </a:prstGeom>
          <a:noFill/>
        </p:spPr>
        <p:txBody>
          <a:bodyPr wrap="square" lIns="0" rIns="0" tIns="0" bIns="0" anchor="t"/>
          <a:lstStyle/>
          <a:p>
            <a:pPr algn="l"/>
            <a:r>
              <a:rPr sz="1600" b="0" i="0" spc="16">
                <a:solidFill>
                  <a:srgbClr val="111111"/>
                </a:solidFill>
                <a:latin typeface="Outfit ExtraBold"/>
                <a:ea typeface="Outfit ExtraBold"/>
                <a:cs typeface="Outfit ExtraBold"/>
              </a:rPr>
              <a:t>STANDARDS REVIEW</a:t>
            </a:r>
          </a:p>
        </p:txBody>
      </p:sp>
      <p:sp>
        <p:nvSpPr>
          <p:cNvPr id="25" name="TextBox 24"/>
          <p:cNvSpPr txBox="1"/>
          <p:nvPr/>
        </p:nvSpPr>
        <p:spPr>
          <a:xfrm>
            <a:off x="9180576" y="2823464"/>
            <a:ext cx="2203704" cy="1283970"/>
          </a:xfrm>
          <a:prstGeom prst="rect">
            <a:avLst/>
          </a:prstGeom>
          <a:noFill/>
        </p:spPr>
        <p:txBody>
          <a:bodyPr wrap="square" lIns="0" rIns="0" tIns="0" bIns="0" anchor="t"/>
          <a:lstStyle/>
          <a:p>
            <a:pPr algn="l">
              <a:lnSpc>
                <a:spcPct val="105000"/>
              </a:lnSpc>
            </a:pPr>
            <a:r>
              <a:rPr sz="1300" b="0" i="0">
                <a:solidFill>
                  <a:srgbClr val="1F2937"/>
                </a:solidFill>
                <a:latin typeface="Inter"/>
                <a:ea typeface="Inter"/>
                <a:cs typeface="Inter"/>
              </a:rPr>
              <a:t>A reviewer scores 5 dimensions from 0 to 5. Python — not the model — decides the pass: no blockers and every score at least 3.</a:t>
            </a:r>
          </a:p>
        </p:txBody>
      </p:sp>
      <p:sp>
        <p:nvSpPr>
          <p:cNvPr id="26" name="Rounded Rectangle 25"/>
          <p:cNvSpPr/>
          <p:nvPr/>
        </p:nvSpPr>
        <p:spPr>
          <a:xfrm>
            <a:off x="612648" y="4983480"/>
            <a:ext cx="10972800" cy="1325880"/>
          </a:xfrm>
          <a:prstGeom prst="roundRect">
            <a:avLst>
              <a:gd name="adj" fmla="val 3500"/>
            </a:avLst>
          </a:prstGeom>
          <a:solidFill>
            <a:srgbClr val="CCDD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8" y="5148072"/>
            <a:ext cx="274320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EVERYTHING IS A PROMPT</a:t>
            </a:r>
          </a:p>
        </p:txBody>
      </p:sp>
      <p:sp>
        <p:nvSpPr>
          <p:cNvPr id="28" name="TextBox 27"/>
          <p:cNvSpPr txBox="1"/>
          <p:nvPr/>
        </p:nvSpPr>
        <p:spPr>
          <a:xfrm>
            <a:off x="886968" y="5468112"/>
            <a:ext cx="10424160" cy="731520"/>
          </a:xfrm>
          <a:prstGeom prst="rect">
            <a:avLst/>
          </a:prstGeom>
          <a:noFill/>
        </p:spPr>
        <p:txBody>
          <a:bodyPr wrap="square" lIns="0" rIns="0" tIns="0" bIns="0" anchor="t"/>
          <a:lstStyle/>
          <a:p>
            <a:pPr algn="l">
              <a:lnSpc>
                <a:spcPct val="104000"/>
              </a:lnSpc>
            </a:pPr>
            <a:r>
              <a:rPr sz="1250" b="0" i="0">
                <a:solidFill>
                  <a:srgbClr val="111111"/>
                </a:solidFill>
                <a:latin typeface="Inter"/>
                <a:ea typeface="Inter"/>
                <a:cs typeface="Inter"/>
              </a:rPr>
              <a:t>Every instruction lives in prompts/ as Markdown: 12 packs (engine, interview, plan, SRS, design, prototype, builder, testing, deployment, changes, chat, research), 71 design themes and 12 deployment skill pages. Changing how a stage behaves means editing a file, not the code.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1 · SRS</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SRS agent: conversation to contract</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11</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22.png"/>
          <p:cNvPicPr>
            <a:picLocks noChangeAspect="1"/>
          </p:cNvPicPr>
          <p:nvPr/>
        </p:nvPicPr>
        <p:blipFill>
          <a:blip r:embed="rId3"/>
          <a:stretch>
            <a:fillRect/>
          </a:stretch>
        </p:blipFill>
        <p:spPr>
          <a:xfrm>
            <a:off x="10488168" y="201168"/>
            <a:ext cx="1316736" cy="1316736"/>
          </a:xfrm>
          <a:prstGeom prst="rect">
            <a:avLst/>
          </a:prstGeom>
        </p:spPr>
      </p:pic>
      <p:sp>
        <p:nvSpPr>
          <p:cNvPr id="9" name="TextBox 8"/>
          <p:cNvSpPr txBox="1"/>
          <p:nvPr/>
        </p:nvSpPr>
        <p:spPr>
          <a:xfrm>
            <a:off x="612648" y="178308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01</a:t>
            </a:r>
          </a:p>
        </p:txBody>
      </p:sp>
      <p:sp>
        <p:nvSpPr>
          <p:cNvPr id="10" name="TextBox 9"/>
          <p:cNvSpPr txBox="1"/>
          <p:nvPr/>
        </p:nvSpPr>
        <p:spPr>
          <a:xfrm>
            <a:off x="612648" y="2039112"/>
            <a:ext cx="3413759"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ADAPTIVE INTERVIEW</a:t>
            </a:r>
          </a:p>
        </p:txBody>
      </p:sp>
      <p:sp>
        <p:nvSpPr>
          <p:cNvPr id="11" name="TextBox 10"/>
          <p:cNvSpPr txBox="1"/>
          <p:nvPr/>
        </p:nvSpPr>
        <p:spPr>
          <a:xfrm>
            <a:off x="612648" y="2358326"/>
            <a:ext cx="3413759" cy="1037907"/>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The first question fixes the product type (10 kinds, e.g. POS, booking, e-commerce, SaaS). Each next question targets what is still unknown: choices, yes/no, numbers, free text and attachments.</a:t>
            </a:r>
          </a:p>
        </p:txBody>
      </p:sp>
      <p:sp>
        <p:nvSpPr>
          <p:cNvPr id="12" name="TextBox 11"/>
          <p:cNvSpPr txBox="1"/>
          <p:nvPr/>
        </p:nvSpPr>
        <p:spPr>
          <a:xfrm>
            <a:off x="4392167" y="178308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02</a:t>
            </a:r>
          </a:p>
        </p:txBody>
      </p:sp>
      <p:sp>
        <p:nvSpPr>
          <p:cNvPr id="13" name="TextBox 12"/>
          <p:cNvSpPr txBox="1"/>
          <p:nvPr/>
        </p:nvSpPr>
        <p:spPr>
          <a:xfrm>
            <a:off x="4392167" y="2039112"/>
            <a:ext cx="3413759"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APPROVAL PLAN</a:t>
            </a:r>
          </a:p>
        </p:txBody>
      </p:sp>
      <p:sp>
        <p:nvSpPr>
          <p:cNvPr id="14" name="TextBox 13"/>
          <p:cNvSpPr txBox="1"/>
          <p:nvPr/>
        </p:nvSpPr>
        <p:spPr>
          <a:xfrm>
            <a:off x="4392167" y="2358326"/>
            <a:ext cx="3413759" cy="1037907"/>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Users, screens, records, workflows and open decisions in plain language. Revisions keep untouched sections; open questions block approval. The plan is a ceiling nothing may exceed.</a:t>
            </a:r>
          </a:p>
        </p:txBody>
      </p:sp>
      <p:sp>
        <p:nvSpPr>
          <p:cNvPr id="15" name="TextBox 14"/>
          <p:cNvSpPr txBox="1"/>
          <p:nvPr/>
        </p:nvSpPr>
        <p:spPr>
          <a:xfrm>
            <a:off x="8171687" y="178308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03</a:t>
            </a:r>
          </a:p>
        </p:txBody>
      </p:sp>
      <p:sp>
        <p:nvSpPr>
          <p:cNvPr id="16" name="TextBox 15"/>
          <p:cNvSpPr txBox="1"/>
          <p:nvPr/>
        </p:nvSpPr>
        <p:spPr>
          <a:xfrm>
            <a:off x="8171687" y="2039112"/>
            <a:ext cx="3413759"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STRUCTURED SRS</a:t>
            </a:r>
          </a:p>
        </p:txBody>
      </p:sp>
      <p:sp>
        <p:nvSpPr>
          <p:cNvPr id="17" name="TextBox 16"/>
          <p:cNvSpPr txBox="1"/>
          <p:nvPr/>
        </p:nvSpPr>
        <p:spPr>
          <a:xfrm>
            <a:off x="8171687" y="2358326"/>
            <a:ext cx="3413759" cy="1037907"/>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ISO/IEC/IEEE 29148-aligned JSON and Markdown: roles, access matrix, pages, database, API, functional and quality requirements, workflows, risks, acceptance criteria, traceability.</a:t>
            </a:r>
          </a:p>
        </p:txBody>
      </p:sp>
      <p:sp>
        <p:nvSpPr>
          <p:cNvPr id="18" name="TextBox 17"/>
          <p:cNvSpPr txBox="1"/>
          <p:nvPr/>
        </p:nvSpPr>
        <p:spPr>
          <a:xfrm>
            <a:off x="612648" y="377647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04</a:t>
            </a:r>
          </a:p>
        </p:txBody>
      </p:sp>
      <p:sp>
        <p:nvSpPr>
          <p:cNvPr id="19" name="TextBox 18"/>
          <p:cNvSpPr txBox="1"/>
          <p:nvPr/>
        </p:nvSpPr>
        <p:spPr>
          <a:xfrm>
            <a:off x="612648" y="4032504"/>
            <a:ext cx="3413759"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11 DIAGRAMS</a:t>
            </a:r>
          </a:p>
        </p:txBody>
      </p:sp>
      <p:sp>
        <p:nvSpPr>
          <p:cNvPr id="20" name="TextBox 19"/>
          <p:cNvSpPr txBox="1"/>
          <p:nvPr/>
        </p:nvSpPr>
        <p:spPr>
          <a:xfrm>
            <a:off x="612648" y="4351718"/>
            <a:ext cx="3413759" cy="1037907"/>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System context, use case, ERD (Crow's Foot), sequence, activity, class, state machine, data flow, BPMN 2.0, component and deployment — one focused call each, rendered to SVG.</a:t>
            </a:r>
          </a:p>
        </p:txBody>
      </p:sp>
      <p:sp>
        <p:nvSpPr>
          <p:cNvPr id="21" name="TextBox 20"/>
          <p:cNvSpPr txBox="1"/>
          <p:nvPr/>
        </p:nvSpPr>
        <p:spPr>
          <a:xfrm>
            <a:off x="4392167" y="377647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05</a:t>
            </a:r>
          </a:p>
        </p:txBody>
      </p:sp>
      <p:sp>
        <p:nvSpPr>
          <p:cNvPr id="22" name="TextBox 21"/>
          <p:cNvSpPr txBox="1"/>
          <p:nvPr/>
        </p:nvSpPr>
        <p:spPr>
          <a:xfrm>
            <a:off x="4392167" y="4032504"/>
            <a:ext cx="3413759"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PAGE WIREFRAMES</a:t>
            </a:r>
          </a:p>
        </p:txBody>
      </p:sp>
      <p:sp>
        <p:nvSpPr>
          <p:cNvPr id="23" name="TextBox 22"/>
          <p:cNvSpPr txBox="1"/>
          <p:nvPr/>
        </p:nvSpPr>
        <p:spPr>
          <a:xfrm>
            <a:off x="4392167" y="4351718"/>
            <a:ext cx="3413759"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Web research on how similar products lay out screens, one shared layout, then a complete HTML wireframe per route. Redraw one or all; edit by hand or by AI.</a:t>
            </a:r>
          </a:p>
        </p:txBody>
      </p:sp>
      <p:sp>
        <p:nvSpPr>
          <p:cNvPr id="24" name="TextBox 23"/>
          <p:cNvSpPr txBox="1"/>
          <p:nvPr/>
        </p:nvSpPr>
        <p:spPr>
          <a:xfrm>
            <a:off x="8171687" y="377647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06</a:t>
            </a:r>
          </a:p>
        </p:txBody>
      </p:sp>
      <p:sp>
        <p:nvSpPr>
          <p:cNvPr id="25" name="TextBox 24"/>
          <p:cNvSpPr txBox="1"/>
          <p:nvPr/>
        </p:nvSpPr>
        <p:spPr>
          <a:xfrm>
            <a:off x="8171687" y="4032504"/>
            <a:ext cx="3413759"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HANDOFF CONTRACT</a:t>
            </a:r>
          </a:p>
        </p:txBody>
      </p:sp>
      <p:sp>
        <p:nvSpPr>
          <p:cNvPr id="26" name="TextBox 25"/>
          <p:cNvSpPr txBox="1"/>
          <p:nvPr/>
        </p:nvSpPr>
        <p:spPr>
          <a:xfrm>
            <a:off x="8171687" y="4351718"/>
            <a:ext cx="3413759" cy="1037907"/>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app.md, sitemap.md, prototype.md and builder.md are projections of the SRS made without a model call, so every later agent reads the same contract; journeys map to pages.</a:t>
            </a:r>
          </a:p>
        </p:txBody>
      </p:sp>
      <p:sp>
        <p:nvSpPr>
          <p:cNvPr id="27" name="Rounded Rectangle 26"/>
          <p:cNvSpPr/>
          <p:nvPr/>
        </p:nvSpPr>
        <p:spPr>
          <a:xfrm>
            <a:off x="612648" y="5989320"/>
            <a:ext cx="8412480" cy="310896"/>
          </a:xfrm>
          <a:prstGeom prst="roundRect">
            <a:avLst>
              <a:gd name="adj" fmla="val 25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5989320"/>
            <a:ext cx="8138159" cy="310896"/>
          </a:xfrm>
          <a:prstGeom prst="rect">
            <a:avLst/>
          </a:prstGeom>
          <a:noFill/>
        </p:spPr>
        <p:txBody>
          <a:bodyPr wrap="square" lIns="0" rIns="0" tIns="0" bIns="0" anchor="ctr"/>
          <a:lstStyle/>
          <a:p>
            <a:pPr algn="l"/>
            <a:r>
              <a:rPr sz="1150" b="0" i="0" spc="220">
                <a:solidFill>
                  <a:srgbClr val="111111"/>
                </a:solidFill>
                <a:latin typeface="Urbanist SemiBold"/>
                <a:ea typeface="Urbanist SemiBold"/>
                <a:cs typeface="Urbanist SemiBold"/>
              </a:rPr>
              <a:t>INTERVIEW → PLAN → APPROVE → SPECIFY → VALIDATE → REPAIR → HANDOFF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1 · TOOLKIT</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SRS agent: tools and what they do</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12</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26.png"/>
          <p:cNvPicPr>
            <a:picLocks noChangeAspect="1"/>
          </p:cNvPicPr>
          <p:nvPr/>
        </p:nvPicPr>
        <p:blipFill>
          <a:blip r:embed="rId3"/>
          <a:stretch>
            <a:fillRect/>
          </a:stretch>
        </p:blipFill>
        <p:spPr>
          <a:xfrm>
            <a:off x="10488168" y="201168"/>
            <a:ext cx="1316736" cy="1316736"/>
          </a:xfrm>
          <a:prstGeom prst="rect">
            <a:avLst/>
          </a:prstGeom>
        </p:spPr>
      </p:pic>
      <p:sp>
        <p:nvSpPr>
          <p:cNvPr id="9" name="Oval 8"/>
          <p:cNvSpPr/>
          <p:nvPr/>
        </p:nvSpPr>
        <p:spPr>
          <a:xfrm>
            <a:off x="612648" y="1764792"/>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764792"/>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1</a:t>
            </a:r>
          </a:p>
        </p:txBody>
      </p:sp>
      <p:sp>
        <p:nvSpPr>
          <p:cNvPr id="11" name="TextBox 10"/>
          <p:cNvSpPr txBox="1"/>
          <p:nvPr/>
        </p:nvSpPr>
        <p:spPr>
          <a:xfrm>
            <a:off x="1024128" y="1783080"/>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OLLAMA LLM · FOCUSED CALLS</a:t>
            </a:r>
          </a:p>
        </p:txBody>
      </p:sp>
      <p:sp>
        <p:nvSpPr>
          <p:cNvPr id="12" name="TextBox 11"/>
          <p:cNvSpPr txBox="1"/>
          <p:nvPr/>
        </p:nvSpPr>
        <p:spPr>
          <a:xfrm>
            <a:off x="1024128" y="2029967"/>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Writes each question, the plan, the SRS, every diagram and every page in parallel lanes, so no output is truncated.</a:t>
            </a:r>
          </a:p>
        </p:txBody>
      </p:sp>
      <p:sp>
        <p:nvSpPr>
          <p:cNvPr id="13" name="Oval 12"/>
          <p:cNvSpPr/>
          <p:nvPr/>
        </p:nvSpPr>
        <p:spPr>
          <a:xfrm>
            <a:off x="612648" y="2514600"/>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514600"/>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2</a:t>
            </a:r>
          </a:p>
        </p:txBody>
      </p:sp>
      <p:sp>
        <p:nvSpPr>
          <p:cNvPr id="15" name="TextBox 14"/>
          <p:cNvSpPr txBox="1"/>
          <p:nvPr/>
        </p:nvSpPr>
        <p:spPr>
          <a:xfrm>
            <a:off x="1024128" y="2532888"/>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OLLAMA WEB SEARCH</a:t>
            </a:r>
          </a:p>
        </p:txBody>
      </p:sp>
      <p:sp>
        <p:nvSpPr>
          <p:cNvPr id="16" name="TextBox 15"/>
          <p:cNvSpPr txBox="1"/>
          <p:nvPr/>
        </p:nvSpPr>
        <p:spPr>
          <a:xfrm>
            <a:off x="1024128" y="2779776"/>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Researches what products of this kind normally contain before the SRS and the wireframes are written.</a:t>
            </a:r>
          </a:p>
        </p:txBody>
      </p:sp>
      <p:sp>
        <p:nvSpPr>
          <p:cNvPr id="17" name="Oval 16"/>
          <p:cNvSpPr/>
          <p:nvPr/>
        </p:nvSpPr>
        <p:spPr>
          <a:xfrm>
            <a:off x="612648" y="3264408"/>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264408"/>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3</a:t>
            </a:r>
          </a:p>
        </p:txBody>
      </p:sp>
      <p:sp>
        <p:nvSpPr>
          <p:cNvPr id="19" name="TextBox 18"/>
          <p:cNvSpPr txBox="1"/>
          <p:nvPr/>
        </p:nvSpPr>
        <p:spPr>
          <a:xfrm>
            <a:off x="1024128" y="3282696"/>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MERMAID CLI + HEADLESS CHROMIUM</a:t>
            </a:r>
          </a:p>
        </p:txBody>
      </p:sp>
      <p:sp>
        <p:nvSpPr>
          <p:cNvPr id="20" name="TextBox 19"/>
          <p:cNvSpPr txBox="1"/>
          <p:nvPr/>
        </p:nvSpPr>
        <p:spPr>
          <a:xfrm>
            <a:off x="1024128" y="3529584"/>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Renders each diagram to SVG; its parse error becomes the model's repair instruction.</a:t>
            </a:r>
          </a:p>
        </p:txBody>
      </p:sp>
      <p:sp>
        <p:nvSpPr>
          <p:cNvPr id="21" name="Oval 20"/>
          <p:cNvSpPr/>
          <p:nvPr/>
        </p:nvSpPr>
        <p:spPr>
          <a:xfrm>
            <a:off x="612648" y="4014216"/>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4014216"/>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4</a:t>
            </a:r>
          </a:p>
        </p:txBody>
      </p:sp>
      <p:sp>
        <p:nvSpPr>
          <p:cNvPr id="23" name="TextBox 22"/>
          <p:cNvSpPr txBox="1"/>
          <p:nvPr/>
        </p:nvSpPr>
        <p:spPr>
          <a:xfrm>
            <a:off x="1024128" y="4032504"/>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PYDANTIC SRS SCHEMA</a:t>
            </a:r>
          </a:p>
        </p:txBody>
      </p:sp>
      <p:sp>
        <p:nvSpPr>
          <p:cNvPr id="24" name="TextBox 23"/>
          <p:cNvSpPr txBox="1"/>
          <p:nvPr/>
        </p:nvSpPr>
        <p:spPr>
          <a:xfrm>
            <a:off x="1024128" y="4279392"/>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Rejects a malformed specification and names the exact field to fix.</a:t>
            </a:r>
          </a:p>
        </p:txBody>
      </p:sp>
      <p:sp>
        <p:nvSpPr>
          <p:cNvPr id="25" name="Oval 24"/>
          <p:cNvSpPr/>
          <p:nvPr/>
        </p:nvSpPr>
        <p:spPr>
          <a:xfrm>
            <a:off x="612648" y="4764024"/>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4764024"/>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5</a:t>
            </a:r>
          </a:p>
        </p:txBody>
      </p:sp>
      <p:sp>
        <p:nvSpPr>
          <p:cNvPr id="27" name="TextBox 26"/>
          <p:cNvSpPr txBox="1"/>
          <p:nvPr/>
        </p:nvSpPr>
        <p:spPr>
          <a:xfrm>
            <a:off x="1024128" y="4782312"/>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COVERAGE AND REVIEW VALIDATORS</a:t>
            </a:r>
          </a:p>
        </p:txBody>
      </p:sp>
      <p:sp>
        <p:nvSpPr>
          <p:cNvPr id="28" name="TextBox 27"/>
          <p:cNvSpPr txBox="1"/>
          <p:nvPr/>
        </p:nvSpPr>
        <p:spPr>
          <a:xfrm>
            <a:off x="1024128" y="5029200"/>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Count plan against spec and score quality; gaps return as repair instructions.</a:t>
            </a:r>
          </a:p>
        </p:txBody>
      </p:sp>
      <p:sp>
        <p:nvSpPr>
          <p:cNvPr id="29" name="Oval 28"/>
          <p:cNvSpPr/>
          <p:nvPr/>
        </p:nvSpPr>
        <p:spPr>
          <a:xfrm>
            <a:off x="612648" y="5513832"/>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5513832"/>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6</a:t>
            </a:r>
          </a:p>
        </p:txBody>
      </p:sp>
      <p:sp>
        <p:nvSpPr>
          <p:cNvPr id="31" name="TextBox 30"/>
          <p:cNvSpPr txBox="1"/>
          <p:nvPr/>
        </p:nvSpPr>
        <p:spPr>
          <a:xfrm>
            <a:off x="1024128" y="5532120"/>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JOURNEY MAPPER + DOCUMENT EXPORT</a:t>
            </a:r>
          </a:p>
        </p:txBody>
      </p:sp>
      <p:sp>
        <p:nvSpPr>
          <p:cNvPr id="32" name="TextBox 31"/>
          <p:cNvSpPr txBox="1"/>
          <p:nvPr/>
        </p:nvSpPr>
        <p:spPr>
          <a:xfrm>
            <a:off x="1024128" y="5779008"/>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Ties each workflow step to the page it happens on; exports the SRS as a readable document for sign-off.</a:t>
            </a:r>
          </a:p>
        </p:txBody>
      </p:sp>
      <p:pic>
        <p:nvPicPr>
          <p:cNvPr id="33" name="Picture 32" descr="29.jpeg"/>
          <p:cNvPicPr>
            <a:picLocks noChangeAspect="1"/>
          </p:cNvPicPr>
          <p:nvPr/>
        </p:nvPicPr>
        <p:blipFill>
          <a:blip r:embed="rId4"/>
          <a:stretch>
            <a:fillRect/>
          </a:stretch>
        </p:blipFill>
        <p:spPr>
          <a:xfrm>
            <a:off x="6035040" y="1783080"/>
            <a:ext cx="5550408" cy="2940356"/>
          </a:xfrm>
          <a:prstGeom prst="rect">
            <a:avLst/>
          </a:prstGeom>
        </p:spPr>
      </p:pic>
      <p:sp>
        <p:nvSpPr>
          <p:cNvPr id="34" name="Rectangle 33"/>
          <p:cNvSpPr/>
          <p:nvPr/>
        </p:nvSpPr>
        <p:spPr>
          <a:xfrm>
            <a:off x="6035040" y="1783080"/>
            <a:ext cx="5550408" cy="2940356"/>
          </a:xfrm>
          <a:prstGeom prst="rect">
            <a:avLst/>
          </a:prstGeom>
          <a:noFill/>
          <a:ln w="127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40" y="4818888"/>
            <a:ext cx="5550408" cy="384048"/>
          </a:xfrm>
          <a:prstGeom prst="rect">
            <a:avLst/>
          </a:prstGeom>
          <a:noFill/>
        </p:spPr>
        <p:txBody>
          <a:bodyPr wrap="square" lIns="0" rIns="0" tIns="0" bIns="0" anchor="t"/>
          <a:lstStyle/>
          <a:p>
            <a:pPr algn="l">
              <a:lnSpc>
                <a:spcPct val="103000"/>
              </a:lnSpc>
            </a:pPr>
            <a:r>
              <a:rPr sz="1100" b="0" i="0">
                <a:solidFill>
                  <a:srgbClr val="4B5563"/>
                </a:solidFill>
                <a:latin typeface="Inter"/>
                <a:ea typeface="Inter"/>
                <a:cs typeface="Inter"/>
              </a:rPr>
              <a:t>Captured run: the generated SRS overview shows scope, roles, modules and the decisions still open for review.</a:t>
            </a:r>
          </a:p>
        </p:txBody>
      </p:sp>
      <p:sp>
        <p:nvSpPr>
          <p:cNvPr id="36" name="TextBox 35"/>
          <p:cNvSpPr txBox="1"/>
          <p:nvPr/>
        </p:nvSpPr>
        <p:spPr>
          <a:xfrm>
            <a:off x="6035040" y="5358384"/>
            <a:ext cx="5550408" cy="201168"/>
          </a:xfrm>
          <a:prstGeom prst="rect">
            <a:avLst/>
          </a:prstGeom>
          <a:noFill/>
        </p:spPr>
        <p:txBody>
          <a:bodyPr wrap="square" lIns="0" rIns="0" tIns="0" bIns="0" anchor="t"/>
          <a:lstStyle/>
          <a:p>
            <a:pPr algn="l"/>
            <a:r>
              <a:rPr sz="1000" b="0" i="0" spc="200">
                <a:solidFill>
                  <a:srgbClr val="1F6BFF"/>
                </a:solidFill>
                <a:latin typeface="Urbanist SemiBold"/>
                <a:ea typeface="Urbanist SemiBold"/>
                <a:cs typeface="Urbanist SemiBold"/>
              </a:rPr>
              <a:t>STANDARDS THE DOCUMENT FOLLOWS</a:t>
            </a:r>
          </a:p>
        </p:txBody>
      </p:sp>
      <p:sp>
        <p:nvSpPr>
          <p:cNvPr id="37" name="Rounded Rectangle 36"/>
          <p:cNvSpPr/>
          <p:nvPr/>
        </p:nvSpPr>
        <p:spPr>
          <a:xfrm>
            <a:off x="6035040" y="5614416"/>
            <a:ext cx="1936134"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35040" y="5614416"/>
            <a:ext cx="1936134" cy="292608"/>
          </a:xfrm>
          <a:prstGeom prst="rect">
            <a:avLst/>
          </a:prstGeom>
          <a:noFill/>
        </p:spPr>
        <p:txBody>
          <a:bodyPr wrap="square" lIns="0" rIns="0" tIns="0" bIns="0" anchor="ctr"/>
          <a:lstStyle/>
          <a:p>
            <a:pPr algn="ctr"/>
            <a:r>
              <a:rPr sz="1100" b="0" i="0">
                <a:solidFill>
                  <a:srgbClr val="111111"/>
                </a:solidFill>
                <a:latin typeface="Inter"/>
                <a:ea typeface="Inter"/>
                <a:cs typeface="Inter"/>
              </a:rPr>
              <a:t>ISO/IEC/IEEE 29148:2018</a:t>
            </a:r>
          </a:p>
        </p:txBody>
      </p:sp>
      <p:sp>
        <p:nvSpPr>
          <p:cNvPr id="39" name="Rounded Rectangle 38"/>
          <p:cNvSpPr/>
          <p:nvPr/>
        </p:nvSpPr>
        <p:spPr>
          <a:xfrm>
            <a:off x="8053470" y="5614416"/>
            <a:ext cx="1307222"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53470" y="5614416"/>
            <a:ext cx="1307222" cy="292608"/>
          </a:xfrm>
          <a:prstGeom prst="rect">
            <a:avLst/>
          </a:prstGeom>
          <a:noFill/>
        </p:spPr>
        <p:txBody>
          <a:bodyPr wrap="square" lIns="0" rIns="0" tIns="0" bIns="0" anchor="ctr"/>
          <a:lstStyle/>
          <a:p>
            <a:pPr algn="ctr"/>
            <a:r>
              <a:rPr sz="1100" b="0" i="0">
                <a:solidFill>
                  <a:srgbClr val="111111"/>
                </a:solidFill>
                <a:latin typeface="Inter"/>
                <a:ea typeface="Inter"/>
                <a:cs typeface="Inter"/>
              </a:rPr>
              <a:t>OMG UML 2.5.1</a:t>
            </a:r>
          </a:p>
        </p:txBody>
      </p:sp>
      <p:sp>
        <p:nvSpPr>
          <p:cNvPr id="41" name="Rounded Rectangle 40"/>
          <p:cNvSpPr/>
          <p:nvPr/>
        </p:nvSpPr>
        <p:spPr>
          <a:xfrm>
            <a:off x="9442989" y="5614416"/>
            <a:ext cx="1075953"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42989" y="5614416"/>
            <a:ext cx="1075953" cy="292608"/>
          </a:xfrm>
          <a:prstGeom prst="rect">
            <a:avLst/>
          </a:prstGeom>
          <a:noFill/>
        </p:spPr>
        <p:txBody>
          <a:bodyPr wrap="square" lIns="0" rIns="0" tIns="0" bIns="0" anchor="ctr"/>
          <a:lstStyle/>
          <a:p>
            <a:pPr algn="ctr"/>
            <a:r>
              <a:rPr sz="1100" b="0" i="0">
                <a:solidFill>
                  <a:srgbClr val="111111"/>
                </a:solidFill>
                <a:latin typeface="Inter"/>
                <a:ea typeface="Inter"/>
                <a:cs typeface="Inter"/>
              </a:rPr>
              <a:t>BPMN 2.0.2</a:t>
            </a:r>
          </a:p>
        </p:txBody>
      </p:sp>
      <p:sp>
        <p:nvSpPr>
          <p:cNvPr id="43" name="Rounded Rectangle 42"/>
          <p:cNvSpPr/>
          <p:nvPr/>
        </p:nvSpPr>
        <p:spPr>
          <a:xfrm>
            <a:off x="6035040" y="5989320"/>
            <a:ext cx="1399621"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35040" y="5989320"/>
            <a:ext cx="1399621" cy="292608"/>
          </a:xfrm>
          <a:prstGeom prst="rect">
            <a:avLst/>
          </a:prstGeom>
          <a:noFill/>
        </p:spPr>
        <p:txBody>
          <a:bodyPr wrap="square" lIns="0" rIns="0" tIns="0" bIns="0" anchor="ctr"/>
          <a:lstStyle/>
          <a:p>
            <a:pPr algn="ctr"/>
            <a:r>
              <a:rPr sz="1100" b="0" i="0">
                <a:solidFill>
                  <a:srgbClr val="111111"/>
                </a:solidFill>
                <a:latin typeface="Inter"/>
                <a:ea typeface="Inter"/>
                <a:cs typeface="Inter"/>
              </a:rPr>
              <a:t>Crow's Foot ERD</a:t>
            </a:r>
          </a:p>
        </p:txBody>
      </p:sp>
      <p:sp>
        <p:nvSpPr>
          <p:cNvPr id="45" name="Rounded Rectangle 44"/>
          <p:cNvSpPr/>
          <p:nvPr/>
        </p:nvSpPr>
        <p:spPr>
          <a:xfrm>
            <a:off x="7516957" y="5989320"/>
            <a:ext cx="1169029"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16957" y="5989320"/>
            <a:ext cx="1169029" cy="292608"/>
          </a:xfrm>
          <a:prstGeom prst="rect">
            <a:avLst/>
          </a:prstGeom>
          <a:noFill/>
        </p:spPr>
        <p:txBody>
          <a:bodyPr wrap="square" lIns="0" rIns="0" tIns="0" bIns="0" anchor="ctr"/>
          <a:lstStyle/>
          <a:p>
            <a:pPr algn="ctr"/>
            <a:r>
              <a:rPr sz="1100" b="0" i="0">
                <a:solidFill>
                  <a:srgbClr val="111111"/>
                </a:solidFill>
                <a:latin typeface="Inter"/>
                <a:ea typeface="Inter"/>
                <a:cs typeface="Inter"/>
              </a:rPr>
              <a:t>WCAG 2.1 AA</a:t>
            </a:r>
          </a:p>
        </p:txBody>
      </p:sp>
      <p:sp>
        <p:nvSpPr>
          <p:cNvPr id="47" name="Rounded Rectangle 46"/>
          <p:cNvSpPr/>
          <p:nvPr/>
        </p:nvSpPr>
        <p:spPr>
          <a:xfrm>
            <a:off x="8768282" y="5989320"/>
            <a:ext cx="1276554"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768282" y="5989320"/>
            <a:ext cx="1276554" cy="292608"/>
          </a:xfrm>
          <a:prstGeom prst="rect">
            <a:avLst/>
          </a:prstGeom>
          <a:noFill/>
        </p:spPr>
        <p:txBody>
          <a:bodyPr wrap="square" lIns="0" rIns="0" tIns="0" bIns="0" anchor="ctr"/>
          <a:lstStyle/>
          <a:p>
            <a:pPr algn="ctr"/>
            <a:r>
              <a:rPr sz="1100" b="0" i="0">
                <a:solidFill>
                  <a:srgbClr val="111111"/>
                </a:solidFill>
                <a:latin typeface="Inter"/>
                <a:ea typeface="Inter"/>
                <a:cs typeface="Inter"/>
              </a:rPr>
              <a:t>OWASP Top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1 · IN ACTION</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SRS agent in action</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13</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28.png"/>
          <p:cNvPicPr>
            <a:picLocks noChangeAspect="1"/>
          </p:cNvPicPr>
          <p:nvPr/>
        </p:nvPicPr>
        <p:blipFill>
          <a:blip r:embed="rId3"/>
          <a:stretch>
            <a:fillRect/>
          </a:stretch>
        </p:blipFill>
        <p:spPr>
          <a:xfrm>
            <a:off x="10488168" y="201168"/>
            <a:ext cx="1316736" cy="1316736"/>
          </a:xfrm>
          <a:prstGeom prst="rect">
            <a:avLst/>
          </a:prstGeom>
        </p:spPr>
      </p:pic>
      <p:pic>
        <p:nvPicPr>
          <p:cNvPr id="9" name="Picture 8" descr="27.jpeg"/>
          <p:cNvPicPr>
            <a:picLocks noChangeAspect="1"/>
          </p:cNvPicPr>
          <p:nvPr/>
        </p:nvPicPr>
        <p:blipFill>
          <a:blip r:embed="rId4"/>
          <a:stretch>
            <a:fillRect/>
          </a:stretch>
        </p:blipFill>
        <p:spPr>
          <a:xfrm>
            <a:off x="612648" y="1783080"/>
            <a:ext cx="5326380" cy="2871944"/>
          </a:xfrm>
          <a:prstGeom prst="rect">
            <a:avLst/>
          </a:prstGeom>
        </p:spPr>
      </p:pic>
      <p:sp>
        <p:nvSpPr>
          <p:cNvPr id="10" name="Rectangle 9"/>
          <p:cNvSpPr/>
          <p:nvPr/>
        </p:nvSpPr>
        <p:spPr>
          <a:xfrm>
            <a:off x="612648" y="1783080"/>
            <a:ext cx="5326380" cy="2871943"/>
          </a:xfrm>
          <a:prstGeom prst="rect">
            <a:avLst/>
          </a:prstGeom>
          <a:noFill/>
          <a:ln w="127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4846320"/>
            <a:ext cx="532638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ADAPTIVE INTERVIEW</a:t>
            </a:r>
          </a:p>
        </p:txBody>
      </p:sp>
      <p:sp>
        <p:nvSpPr>
          <p:cNvPr id="12" name="TextBox 11"/>
          <p:cNvSpPr txBox="1"/>
          <p:nvPr/>
        </p:nvSpPr>
        <p:spPr>
          <a:xfrm>
            <a:off x="612648" y="5157597"/>
            <a:ext cx="5326380" cy="641032"/>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One question at a time, chosen from what is still unknown: suggested options, a custom answer, attach or record. Earlier answers stay listed on the left.</a:t>
            </a:r>
          </a:p>
        </p:txBody>
      </p:sp>
      <p:pic>
        <p:nvPicPr>
          <p:cNvPr id="13" name="Picture 12" descr="31.jpeg"/>
          <p:cNvPicPr>
            <a:picLocks noChangeAspect="1"/>
          </p:cNvPicPr>
          <p:nvPr/>
        </p:nvPicPr>
        <p:blipFill>
          <a:blip r:embed="rId5"/>
          <a:stretch>
            <a:fillRect/>
          </a:stretch>
        </p:blipFill>
        <p:spPr>
          <a:xfrm>
            <a:off x="6259068" y="1783080"/>
            <a:ext cx="5326380" cy="2811833"/>
          </a:xfrm>
          <a:prstGeom prst="rect">
            <a:avLst/>
          </a:prstGeom>
        </p:spPr>
      </p:pic>
      <p:sp>
        <p:nvSpPr>
          <p:cNvPr id="14" name="Rectangle 13"/>
          <p:cNvSpPr/>
          <p:nvPr/>
        </p:nvSpPr>
        <p:spPr>
          <a:xfrm>
            <a:off x="6259068" y="1783080"/>
            <a:ext cx="5326380" cy="2811833"/>
          </a:xfrm>
          <a:prstGeom prst="rect">
            <a:avLst/>
          </a:prstGeom>
          <a:noFill/>
          <a:ln w="127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9068" y="4846320"/>
            <a:ext cx="532638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WIREFRAME PAGES</a:t>
            </a:r>
          </a:p>
        </p:txBody>
      </p:sp>
      <p:sp>
        <p:nvSpPr>
          <p:cNvPr id="16" name="TextBox 15"/>
          <p:cNvSpPr txBox="1"/>
          <p:nvPr/>
        </p:nvSpPr>
        <p:spPr>
          <a:xfrm>
            <a:off x="6259068" y="5157597"/>
            <a:ext cx="5326380" cy="641032"/>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Left: the agent reads the handoff, searches the web for layout ideas and writes each wireframe. Right: the grid of drawn pages, each with its route and role.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2 · PROTOTYPE</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Prototype agent: see it before it is built</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14</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34.png"/>
          <p:cNvPicPr>
            <a:picLocks noChangeAspect="1"/>
          </p:cNvPicPr>
          <p:nvPr/>
        </p:nvPicPr>
        <p:blipFill>
          <a:blip r:embed="rId3"/>
          <a:stretch>
            <a:fillRect/>
          </a:stretch>
        </p:blipFill>
        <p:spPr>
          <a:xfrm>
            <a:off x="10488168" y="201168"/>
            <a:ext cx="1316736" cy="1316736"/>
          </a:xfrm>
          <a:prstGeom prst="rect">
            <a:avLst/>
          </a:prstGeom>
        </p:spPr>
      </p:pic>
      <p:sp>
        <p:nvSpPr>
          <p:cNvPr id="9" name="TextBox 8"/>
          <p:cNvSpPr txBox="1"/>
          <p:nvPr/>
        </p:nvSpPr>
        <p:spPr>
          <a:xfrm>
            <a:off x="612648" y="178308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01</a:t>
            </a:r>
          </a:p>
        </p:txBody>
      </p:sp>
      <p:sp>
        <p:nvSpPr>
          <p:cNvPr id="10" name="TextBox 9"/>
          <p:cNvSpPr txBox="1"/>
          <p:nvPr/>
        </p:nvSpPr>
        <p:spPr>
          <a:xfrm>
            <a:off x="612648" y="2039112"/>
            <a:ext cx="3749039"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DESIGN CONTRACT</a:t>
            </a:r>
          </a:p>
        </p:txBody>
      </p:sp>
      <p:sp>
        <p:nvSpPr>
          <p:cNvPr id="11" name="TextBox 10"/>
          <p:cNvSpPr txBox="1"/>
          <p:nvPr/>
        </p:nvSpPr>
        <p:spPr>
          <a:xfrm>
            <a:off x="612648" y="2350389"/>
            <a:ext cx="3749039"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Pick one of 71 themes (minimal, bento, glassmorphism, brutalism…) or describe a direction. Tokens and styling are previewed and approved once, then bind every page.</a:t>
            </a:r>
          </a:p>
        </p:txBody>
      </p:sp>
      <p:sp>
        <p:nvSpPr>
          <p:cNvPr id="12" name="TextBox 11"/>
          <p:cNvSpPr txBox="1"/>
          <p:nvPr/>
        </p:nvSpPr>
        <p:spPr>
          <a:xfrm>
            <a:off x="4727448" y="178308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02</a:t>
            </a:r>
          </a:p>
        </p:txBody>
      </p:sp>
      <p:sp>
        <p:nvSpPr>
          <p:cNvPr id="13" name="TextBox 12"/>
          <p:cNvSpPr txBox="1"/>
          <p:nvPr/>
        </p:nvSpPr>
        <p:spPr>
          <a:xfrm>
            <a:off x="4727448" y="2039112"/>
            <a:ext cx="3749039"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SHARED KIT</a:t>
            </a:r>
          </a:p>
        </p:txBody>
      </p:sp>
      <p:sp>
        <p:nvSpPr>
          <p:cNvPr id="14" name="TextBox 13"/>
          <p:cNvSpPr txBox="1"/>
          <p:nvPr/>
        </p:nvSpPr>
        <p:spPr>
          <a:xfrm>
            <a:off x="4727448" y="2350389"/>
            <a:ext cx="3749039" cy="641032"/>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One stylesheet, one script and one page shell drawn once, so every screen is the same product rather than a set of separate mock-ups.</a:t>
            </a:r>
          </a:p>
        </p:txBody>
      </p:sp>
      <p:sp>
        <p:nvSpPr>
          <p:cNvPr id="15" name="TextBox 14"/>
          <p:cNvSpPr txBox="1"/>
          <p:nvPr/>
        </p:nvSpPr>
        <p:spPr>
          <a:xfrm>
            <a:off x="612648" y="3310128"/>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03</a:t>
            </a:r>
          </a:p>
        </p:txBody>
      </p:sp>
      <p:sp>
        <p:nvSpPr>
          <p:cNvPr id="16" name="TextBox 15"/>
          <p:cNvSpPr txBox="1"/>
          <p:nvPr/>
        </p:nvSpPr>
        <p:spPr>
          <a:xfrm>
            <a:off x="612648" y="3566160"/>
            <a:ext cx="3749039"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FLOW AND ROUTES</a:t>
            </a:r>
          </a:p>
        </p:txBody>
      </p:sp>
      <p:sp>
        <p:nvSpPr>
          <p:cNvPr id="17" name="TextBox 16"/>
          <p:cNvSpPr txBox="1"/>
          <p:nvPr/>
        </p:nvSpPr>
        <p:spPr>
          <a:xfrm>
            <a:off x="612648" y="3877437"/>
            <a:ext cx="3749039" cy="641032"/>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Journeys become 'this page leads to that page' in flow.js and routes.json, so a link can never point to a page that does not exist.</a:t>
            </a:r>
          </a:p>
        </p:txBody>
      </p:sp>
      <p:sp>
        <p:nvSpPr>
          <p:cNvPr id="18" name="TextBox 17"/>
          <p:cNvSpPr txBox="1"/>
          <p:nvPr/>
        </p:nvSpPr>
        <p:spPr>
          <a:xfrm>
            <a:off x="4727448" y="3310128"/>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04</a:t>
            </a:r>
          </a:p>
        </p:txBody>
      </p:sp>
      <p:sp>
        <p:nvSpPr>
          <p:cNvPr id="19" name="TextBox 18"/>
          <p:cNvSpPr txBox="1"/>
          <p:nvPr/>
        </p:nvSpPr>
        <p:spPr>
          <a:xfrm>
            <a:off x="4727448" y="3566160"/>
            <a:ext cx="3749039"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ROLE-AWARE DEMO</a:t>
            </a:r>
          </a:p>
        </p:txBody>
      </p:sp>
      <p:sp>
        <p:nvSpPr>
          <p:cNvPr id="20" name="TextBox 19"/>
          <p:cNvSpPr txBox="1"/>
          <p:nvPr/>
        </p:nvSpPr>
        <p:spPr>
          <a:xfrm>
            <a:off x="4727448" y="3877437"/>
            <a:ext cx="3749039" cy="641032"/>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One fictitious demo account per signing-in role, created without an LLM call; the access matrix decides which pages each role may open.</a:t>
            </a:r>
          </a:p>
        </p:txBody>
      </p:sp>
      <p:sp>
        <p:nvSpPr>
          <p:cNvPr id="21" name="TextBox 20"/>
          <p:cNvSpPr txBox="1"/>
          <p:nvPr/>
        </p:nvSpPr>
        <p:spPr>
          <a:xfrm>
            <a:off x="612648" y="4837176"/>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05</a:t>
            </a:r>
          </a:p>
        </p:txBody>
      </p:sp>
      <p:sp>
        <p:nvSpPr>
          <p:cNvPr id="22" name="TextBox 21"/>
          <p:cNvSpPr txBox="1"/>
          <p:nvPr/>
        </p:nvSpPr>
        <p:spPr>
          <a:xfrm>
            <a:off x="612648" y="5093208"/>
            <a:ext cx="3749039"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PAGE-BY-PAGE DRAWING</a:t>
            </a:r>
          </a:p>
        </p:txBody>
      </p:sp>
      <p:sp>
        <p:nvSpPr>
          <p:cNvPr id="23" name="TextBox 22"/>
          <p:cNvSpPr txBox="1"/>
          <p:nvPr/>
        </p:nvSpPr>
        <p:spPr>
          <a:xfrm>
            <a:off x="612648" y="5404485"/>
            <a:ext cx="3749039"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Each route is drawn from its approved wireframe with its own output budget, and published the moment it is ready while the rest keep drawing.</a:t>
            </a:r>
          </a:p>
        </p:txBody>
      </p:sp>
      <p:sp>
        <p:nvSpPr>
          <p:cNvPr id="24" name="TextBox 23"/>
          <p:cNvSpPr txBox="1"/>
          <p:nvPr/>
        </p:nvSpPr>
        <p:spPr>
          <a:xfrm>
            <a:off x="4727448" y="4837176"/>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06</a:t>
            </a:r>
          </a:p>
        </p:txBody>
      </p:sp>
      <p:sp>
        <p:nvSpPr>
          <p:cNvPr id="25" name="TextBox 24"/>
          <p:cNvSpPr txBox="1"/>
          <p:nvPr/>
        </p:nvSpPr>
        <p:spPr>
          <a:xfrm>
            <a:off x="4727448" y="5093208"/>
            <a:ext cx="3749039"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CHECKS AND REVISIONS</a:t>
            </a:r>
          </a:p>
        </p:txBody>
      </p:sp>
      <p:sp>
        <p:nvSpPr>
          <p:cNvPr id="26" name="TextBox 25"/>
          <p:cNvSpPr txBox="1"/>
          <p:nvPr/>
        </p:nvSpPr>
        <p:spPr>
          <a:xfrm>
            <a:off x="4727448" y="5404485"/>
            <a:ext cx="3749039"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Pages are checked for dead links, missing kit functions and leaked spec text; images are repaired. Chat or point-and-edit revises any page.</a:t>
            </a:r>
          </a:p>
        </p:txBody>
      </p:sp>
      <p:pic>
        <p:nvPicPr>
          <p:cNvPr id="27" name="Picture 26" descr="33.png"/>
          <p:cNvPicPr>
            <a:picLocks noChangeAspect="1"/>
          </p:cNvPicPr>
          <p:nvPr/>
        </p:nvPicPr>
        <p:blipFill>
          <a:blip r:embed="rId4"/>
          <a:stretch>
            <a:fillRect/>
          </a:stretch>
        </p:blipFill>
        <p:spPr>
          <a:xfrm>
            <a:off x="9006840" y="2331720"/>
            <a:ext cx="2377440" cy="317296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2 · TOOLKIT</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Prototype agent: tools and what they do</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15</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36.png"/>
          <p:cNvPicPr>
            <a:picLocks noChangeAspect="1"/>
          </p:cNvPicPr>
          <p:nvPr/>
        </p:nvPicPr>
        <p:blipFill>
          <a:blip r:embed="rId3"/>
          <a:stretch>
            <a:fillRect/>
          </a:stretch>
        </p:blipFill>
        <p:spPr>
          <a:xfrm>
            <a:off x="10488168" y="201168"/>
            <a:ext cx="1316736" cy="1316736"/>
          </a:xfrm>
          <a:prstGeom prst="rect">
            <a:avLst/>
          </a:prstGeom>
        </p:spPr>
      </p:pic>
      <p:sp>
        <p:nvSpPr>
          <p:cNvPr id="9" name="Oval 8"/>
          <p:cNvSpPr/>
          <p:nvPr/>
        </p:nvSpPr>
        <p:spPr>
          <a:xfrm>
            <a:off x="612648" y="1764792"/>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764792"/>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1</a:t>
            </a:r>
          </a:p>
        </p:txBody>
      </p:sp>
      <p:sp>
        <p:nvSpPr>
          <p:cNvPr id="11" name="TextBox 10"/>
          <p:cNvSpPr txBox="1"/>
          <p:nvPr/>
        </p:nvSpPr>
        <p:spPr>
          <a:xfrm>
            <a:off x="1024128" y="1783080"/>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DESIGN THEME CATALOGUE</a:t>
            </a:r>
          </a:p>
        </p:txBody>
      </p:sp>
      <p:sp>
        <p:nvSpPr>
          <p:cNvPr id="12" name="TextBox 11"/>
          <p:cNvSpPr txBox="1"/>
          <p:nvPr/>
        </p:nvSpPr>
        <p:spPr>
          <a:xfrm>
            <a:off x="1024128" y="2029967"/>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71 ready themes, each a DESIGN.md, plus a customiser for colour, type, density and component style.</a:t>
            </a:r>
          </a:p>
        </p:txBody>
      </p:sp>
      <p:sp>
        <p:nvSpPr>
          <p:cNvPr id="13" name="Oval 12"/>
          <p:cNvSpPr/>
          <p:nvPr/>
        </p:nvSpPr>
        <p:spPr>
          <a:xfrm>
            <a:off x="612648" y="2514600"/>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514600"/>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2</a:t>
            </a:r>
          </a:p>
        </p:txBody>
      </p:sp>
      <p:sp>
        <p:nvSpPr>
          <p:cNvPr id="15" name="TextBox 14"/>
          <p:cNvSpPr txBox="1"/>
          <p:nvPr/>
        </p:nvSpPr>
        <p:spPr>
          <a:xfrm>
            <a:off x="1024128" y="2532888"/>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LLM PAGE WRITER</a:t>
            </a:r>
          </a:p>
        </p:txBody>
      </p:sp>
      <p:sp>
        <p:nvSpPr>
          <p:cNvPr id="16" name="TextBox 15"/>
          <p:cNvSpPr txBox="1"/>
          <p:nvPr/>
        </p:nvSpPr>
        <p:spPr>
          <a:xfrm>
            <a:off x="1024128" y="2779776"/>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Draws the shared kit once, then each page from its wireframe's structure with the low-fidelity look stripped out.</a:t>
            </a:r>
          </a:p>
        </p:txBody>
      </p:sp>
      <p:sp>
        <p:nvSpPr>
          <p:cNvPr id="17" name="Oval 16"/>
          <p:cNvSpPr/>
          <p:nvPr/>
        </p:nvSpPr>
        <p:spPr>
          <a:xfrm>
            <a:off x="612648" y="3264408"/>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264408"/>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3</a:t>
            </a:r>
          </a:p>
        </p:txBody>
      </p:sp>
      <p:sp>
        <p:nvSpPr>
          <p:cNvPr id="19" name="TextBox 18"/>
          <p:cNvSpPr txBox="1"/>
          <p:nvPr/>
        </p:nvSpPr>
        <p:spPr>
          <a:xfrm>
            <a:off x="1024128" y="3282696"/>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ROUTE AND FLOW BUILDER</a:t>
            </a:r>
          </a:p>
        </p:txBody>
      </p:sp>
      <p:sp>
        <p:nvSpPr>
          <p:cNvPr id="20" name="TextBox 19"/>
          <p:cNvSpPr txBox="1"/>
          <p:nvPr/>
        </p:nvSpPr>
        <p:spPr>
          <a:xfrm>
            <a:off x="1024128" y="3529584"/>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Writes routes.json and flow.js from the SRS journeys and the role access matrix.</a:t>
            </a:r>
          </a:p>
        </p:txBody>
      </p:sp>
      <p:sp>
        <p:nvSpPr>
          <p:cNvPr id="21" name="Oval 20"/>
          <p:cNvSpPr/>
          <p:nvPr/>
        </p:nvSpPr>
        <p:spPr>
          <a:xfrm>
            <a:off x="612648" y="4014216"/>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4014216"/>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4</a:t>
            </a:r>
          </a:p>
        </p:txBody>
      </p:sp>
      <p:sp>
        <p:nvSpPr>
          <p:cNvPr id="23" name="TextBox 22"/>
          <p:cNvSpPr txBox="1"/>
          <p:nvPr/>
        </p:nvSpPr>
        <p:spPr>
          <a:xfrm>
            <a:off x="1024128" y="4032504"/>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DEMO-ACCOUNT GENERATOR</a:t>
            </a:r>
          </a:p>
        </p:txBody>
      </p:sp>
      <p:sp>
        <p:nvSpPr>
          <p:cNvPr id="24" name="TextBox 23"/>
          <p:cNvSpPr txBox="1"/>
          <p:nvPr/>
        </p:nvSpPr>
        <p:spPr>
          <a:xfrm>
            <a:off x="1024128" y="4279392"/>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Creates one stable, fictitious login per role and tells the customer how to enter as each one.</a:t>
            </a:r>
          </a:p>
        </p:txBody>
      </p:sp>
      <p:sp>
        <p:nvSpPr>
          <p:cNvPr id="25" name="Oval 24"/>
          <p:cNvSpPr/>
          <p:nvPr/>
        </p:nvSpPr>
        <p:spPr>
          <a:xfrm>
            <a:off x="612648" y="4764024"/>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4764024"/>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5</a:t>
            </a:r>
          </a:p>
        </p:txBody>
      </p:sp>
      <p:sp>
        <p:nvSpPr>
          <p:cNvPr id="27" name="TextBox 26"/>
          <p:cNvSpPr txBox="1"/>
          <p:nvPr/>
        </p:nvSpPr>
        <p:spPr>
          <a:xfrm>
            <a:off x="1024128" y="4782312"/>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STATIC PAGE CHECKER</a:t>
            </a:r>
          </a:p>
        </p:txBody>
      </p:sp>
      <p:sp>
        <p:nvSpPr>
          <p:cNvPr id="28" name="TextBox 27"/>
          <p:cNvSpPr txBox="1"/>
          <p:nvPr/>
        </p:nvSpPr>
        <p:spPr>
          <a:xfrm>
            <a:off x="1024128" y="5029200"/>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Flags dead links, unknown kit functions, undefined classes and specification text printed on a page.</a:t>
            </a:r>
          </a:p>
        </p:txBody>
      </p:sp>
      <p:sp>
        <p:nvSpPr>
          <p:cNvPr id="29" name="Oval 28"/>
          <p:cNvSpPr/>
          <p:nvPr/>
        </p:nvSpPr>
        <p:spPr>
          <a:xfrm>
            <a:off x="612648" y="5513832"/>
            <a:ext cx="292608" cy="292608"/>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5513832"/>
            <a:ext cx="292608" cy="292608"/>
          </a:xfrm>
          <a:prstGeom prst="rect">
            <a:avLst/>
          </a:prstGeom>
          <a:noFill/>
        </p:spPr>
        <p:txBody>
          <a:bodyPr wrap="square" lIns="0" rIns="0" tIns="0" bIns="0" anchor="ctr"/>
          <a:lstStyle/>
          <a:p>
            <a:pPr algn="ctr"/>
            <a:r>
              <a:rPr sz="1100" b="0" i="0">
                <a:solidFill>
                  <a:srgbClr val="FFFFFF"/>
                </a:solidFill>
                <a:latin typeface="Inter SemiBold"/>
                <a:ea typeface="Inter SemiBold"/>
                <a:cs typeface="Inter SemiBold"/>
              </a:rPr>
              <a:t>6</a:t>
            </a:r>
          </a:p>
        </p:txBody>
      </p:sp>
      <p:sp>
        <p:nvSpPr>
          <p:cNvPr id="31" name="TextBox 30"/>
          <p:cNvSpPr txBox="1"/>
          <p:nvPr/>
        </p:nvSpPr>
        <p:spPr>
          <a:xfrm>
            <a:off x="1024128" y="5532120"/>
            <a:ext cx="466344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VISUAL INSPECTOR</a:t>
            </a:r>
          </a:p>
        </p:txBody>
      </p:sp>
      <p:sp>
        <p:nvSpPr>
          <p:cNvPr id="32" name="TextBox 31"/>
          <p:cNvSpPr txBox="1"/>
          <p:nvPr/>
        </p:nvSpPr>
        <p:spPr>
          <a:xfrm>
            <a:off x="1024128" y="5779008"/>
            <a:ext cx="4709160" cy="457200"/>
          </a:xfrm>
          <a:prstGeom prst="rect">
            <a:avLst/>
          </a:prstGeom>
          <a:noFill/>
        </p:spPr>
        <p:txBody>
          <a:bodyPr wrap="square" lIns="0" rIns="0" tIns="0" bIns="0" anchor="t"/>
          <a:lstStyle/>
          <a:p>
            <a:pPr algn="l">
              <a:lnSpc>
                <a:spcPct val="102000"/>
              </a:lnSpc>
            </a:pPr>
            <a:r>
              <a:rPr sz="1200" b="0" i="0">
                <a:solidFill>
                  <a:srgbClr val="1F2937"/>
                </a:solidFill>
                <a:latin typeface="Inter"/>
                <a:ea typeface="Inter"/>
                <a:cs typeface="Inter"/>
              </a:rPr>
              <a:t>Click any element in the preview to restyle, move, duplicate or delete it, with undo and redo.</a:t>
            </a:r>
          </a:p>
        </p:txBody>
      </p:sp>
      <p:pic>
        <p:nvPicPr>
          <p:cNvPr id="33" name="Picture 32" descr="38.jpeg"/>
          <p:cNvPicPr>
            <a:picLocks noChangeAspect="1"/>
          </p:cNvPicPr>
          <p:nvPr/>
        </p:nvPicPr>
        <p:blipFill>
          <a:blip r:embed="rId4"/>
          <a:stretch>
            <a:fillRect/>
          </a:stretch>
        </p:blipFill>
        <p:spPr>
          <a:xfrm>
            <a:off x="6035040" y="1783080"/>
            <a:ext cx="5550408" cy="2933510"/>
          </a:xfrm>
          <a:prstGeom prst="rect">
            <a:avLst/>
          </a:prstGeom>
        </p:spPr>
      </p:pic>
      <p:sp>
        <p:nvSpPr>
          <p:cNvPr id="34" name="Rectangle 33"/>
          <p:cNvSpPr/>
          <p:nvPr/>
        </p:nvSpPr>
        <p:spPr>
          <a:xfrm>
            <a:off x="6035040" y="1783080"/>
            <a:ext cx="5550408" cy="2933510"/>
          </a:xfrm>
          <a:prstGeom prst="rect">
            <a:avLst/>
          </a:prstGeom>
          <a:noFill/>
          <a:ln w="127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40" y="4818888"/>
            <a:ext cx="5550408" cy="384048"/>
          </a:xfrm>
          <a:prstGeom prst="rect">
            <a:avLst/>
          </a:prstGeom>
          <a:noFill/>
        </p:spPr>
        <p:txBody>
          <a:bodyPr wrap="square" lIns="0" rIns="0" tIns="0" bIns="0" anchor="t"/>
          <a:lstStyle/>
          <a:p>
            <a:pPr algn="l">
              <a:lnSpc>
                <a:spcPct val="103000"/>
              </a:lnSpc>
            </a:pPr>
            <a:r>
              <a:rPr sz="1100" b="0" i="0">
                <a:solidFill>
                  <a:srgbClr val="4B5563"/>
                </a:solidFill>
                <a:latin typeface="Inter"/>
                <a:ea typeface="Inter"/>
                <a:cs typeface="Inter"/>
              </a:rPr>
              <a:t>Captured run: the clickable prototype in the preview pane (right), beside the agent's desktop and mobile layout notes (left).</a:t>
            </a:r>
          </a:p>
        </p:txBody>
      </p:sp>
      <p:sp>
        <p:nvSpPr>
          <p:cNvPr id="36" name="TextBox 35"/>
          <p:cNvSpPr txBox="1"/>
          <p:nvPr/>
        </p:nvSpPr>
        <p:spPr>
          <a:xfrm>
            <a:off x="6035040" y="5358384"/>
            <a:ext cx="5550408" cy="201168"/>
          </a:xfrm>
          <a:prstGeom prst="rect">
            <a:avLst/>
          </a:prstGeom>
          <a:noFill/>
        </p:spPr>
        <p:txBody>
          <a:bodyPr wrap="square" lIns="0" rIns="0" tIns="0" bIns="0" anchor="t"/>
          <a:lstStyle/>
          <a:p>
            <a:pPr algn="l"/>
            <a:r>
              <a:rPr sz="1000" b="0" i="0" spc="200">
                <a:solidFill>
                  <a:srgbClr val="1F6BFF"/>
                </a:solidFill>
                <a:latin typeface="Urbanist SemiBold"/>
                <a:ea typeface="Urbanist SemiBold"/>
                <a:cs typeface="Urbanist SemiBold"/>
              </a:rPr>
              <a:t>A FEW OF THE 71 DESIGN THEMES</a:t>
            </a:r>
          </a:p>
        </p:txBody>
      </p:sp>
      <p:sp>
        <p:nvSpPr>
          <p:cNvPr id="37" name="Rounded Rectangle 36"/>
          <p:cNvSpPr/>
          <p:nvPr/>
        </p:nvSpPr>
        <p:spPr>
          <a:xfrm>
            <a:off x="6035040" y="5614416"/>
            <a:ext cx="803648"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35040" y="5614416"/>
            <a:ext cx="803648" cy="292608"/>
          </a:xfrm>
          <a:prstGeom prst="rect">
            <a:avLst/>
          </a:prstGeom>
          <a:noFill/>
        </p:spPr>
        <p:txBody>
          <a:bodyPr wrap="square" lIns="0" rIns="0" tIns="0" bIns="0" anchor="ctr"/>
          <a:lstStyle/>
          <a:p>
            <a:pPr algn="ctr"/>
            <a:r>
              <a:rPr sz="1100" b="0" i="0">
                <a:solidFill>
                  <a:srgbClr val="111111"/>
                </a:solidFill>
                <a:latin typeface="Inter"/>
                <a:ea typeface="Inter"/>
                <a:cs typeface="Inter"/>
              </a:rPr>
              <a:t>Minimal</a:t>
            </a:r>
          </a:p>
        </p:txBody>
      </p:sp>
      <p:sp>
        <p:nvSpPr>
          <p:cNvPr id="39" name="Rounded Rectangle 38"/>
          <p:cNvSpPr/>
          <p:nvPr/>
        </p:nvSpPr>
        <p:spPr>
          <a:xfrm>
            <a:off x="6920984" y="5614416"/>
            <a:ext cx="676128"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20984" y="5614416"/>
            <a:ext cx="676128" cy="292608"/>
          </a:xfrm>
          <a:prstGeom prst="rect">
            <a:avLst/>
          </a:prstGeom>
          <a:noFill/>
        </p:spPr>
        <p:txBody>
          <a:bodyPr wrap="square" lIns="0" rIns="0" tIns="0" bIns="0" anchor="ctr"/>
          <a:lstStyle/>
          <a:p>
            <a:pPr algn="ctr"/>
            <a:r>
              <a:rPr sz="1100" b="0" i="0">
                <a:solidFill>
                  <a:srgbClr val="111111"/>
                </a:solidFill>
                <a:latin typeface="Inter"/>
                <a:ea typeface="Inter"/>
                <a:cs typeface="Inter"/>
              </a:rPr>
              <a:t>Bento</a:t>
            </a:r>
          </a:p>
        </p:txBody>
      </p:sp>
      <p:sp>
        <p:nvSpPr>
          <p:cNvPr id="41" name="Rounded Rectangle 40"/>
          <p:cNvSpPr/>
          <p:nvPr/>
        </p:nvSpPr>
        <p:spPr>
          <a:xfrm>
            <a:off x="7679408" y="5614416"/>
            <a:ext cx="1315583"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79408" y="5614416"/>
            <a:ext cx="1315583" cy="292608"/>
          </a:xfrm>
          <a:prstGeom prst="rect">
            <a:avLst/>
          </a:prstGeom>
          <a:noFill/>
        </p:spPr>
        <p:txBody>
          <a:bodyPr wrap="square" lIns="0" rIns="0" tIns="0" bIns="0" anchor="ctr"/>
          <a:lstStyle/>
          <a:p>
            <a:pPr algn="ctr"/>
            <a:r>
              <a:rPr sz="1100" b="0" i="0">
                <a:solidFill>
                  <a:srgbClr val="111111"/>
                </a:solidFill>
                <a:latin typeface="Inter"/>
                <a:ea typeface="Inter"/>
                <a:cs typeface="Inter"/>
              </a:rPr>
              <a:t>Glassmorphism</a:t>
            </a:r>
          </a:p>
        </p:txBody>
      </p:sp>
      <p:sp>
        <p:nvSpPr>
          <p:cNvPr id="43" name="Rounded Rectangle 42"/>
          <p:cNvSpPr/>
          <p:nvPr/>
        </p:nvSpPr>
        <p:spPr>
          <a:xfrm>
            <a:off x="9077287" y="5614416"/>
            <a:ext cx="907811"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77287" y="5614416"/>
            <a:ext cx="907811" cy="292608"/>
          </a:xfrm>
          <a:prstGeom prst="rect">
            <a:avLst/>
          </a:prstGeom>
          <a:noFill/>
        </p:spPr>
        <p:txBody>
          <a:bodyPr wrap="square" lIns="0" rIns="0" tIns="0" bIns="0" anchor="ctr"/>
          <a:lstStyle/>
          <a:p>
            <a:pPr algn="ctr"/>
            <a:r>
              <a:rPr sz="1100" b="0" i="0">
                <a:solidFill>
                  <a:srgbClr val="111111"/>
                </a:solidFill>
                <a:latin typeface="Inter"/>
                <a:ea typeface="Inter"/>
                <a:cs typeface="Inter"/>
              </a:rPr>
              <a:t>Brutalism</a:t>
            </a:r>
          </a:p>
        </p:txBody>
      </p:sp>
      <p:sp>
        <p:nvSpPr>
          <p:cNvPr id="45" name="Rounded Rectangle 44"/>
          <p:cNvSpPr/>
          <p:nvPr/>
        </p:nvSpPr>
        <p:spPr>
          <a:xfrm>
            <a:off x="10067395" y="5614416"/>
            <a:ext cx="1220892"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67395" y="5614416"/>
            <a:ext cx="1220892" cy="292608"/>
          </a:xfrm>
          <a:prstGeom prst="rect">
            <a:avLst/>
          </a:prstGeom>
          <a:noFill/>
        </p:spPr>
        <p:txBody>
          <a:bodyPr wrap="square" lIns="0" rIns="0" tIns="0" bIns="0" anchor="ctr"/>
          <a:lstStyle/>
          <a:p>
            <a:pPr algn="ctr"/>
            <a:r>
              <a:rPr sz="1100" b="0" i="0">
                <a:solidFill>
                  <a:srgbClr val="111111"/>
                </a:solidFill>
                <a:latin typeface="Inter"/>
                <a:ea typeface="Inter"/>
                <a:cs typeface="Inter"/>
              </a:rPr>
              <a:t>Neumorphism</a:t>
            </a:r>
          </a:p>
        </p:txBody>
      </p:sp>
      <p:sp>
        <p:nvSpPr>
          <p:cNvPr id="47" name="Rounded Rectangle 46"/>
          <p:cNvSpPr/>
          <p:nvPr/>
        </p:nvSpPr>
        <p:spPr>
          <a:xfrm>
            <a:off x="6035040" y="5989320"/>
            <a:ext cx="823926"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35040" y="5989320"/>
            <a:ext cx="823926" cy="292608"/>
          </a:xfrm>
          <a:prstGeom prst="rect">
            <a:avLst/>
          </a:prstGeom>
          <a:noFill/>
        </p:spPr>
        <p:txBody>
          <a:bodyPr wrap="square" lIns="0" rIns="0" tIns="0" bIns="0" anchor="ctr"/>
          <a:lstStyle/>
          <a:p>
            <a:pPr algn="ctr"/>
            <a:r>
              <a:rPr sz="1100" b="0" i="0">
                <a:solidFill>
                  <a:srgbClr val="111111"/>
                </a:solidFill>
                <a:latin typeface="Inter"/>
                <a:ea typeface="Inter"/>
                <a:cs typeface="Inter"/>
              </a:rPr>
              <a:t>Material</a:t>
            </a:r>
          </a:p>
        </p:txBody>
      </p:sp>
      <p:sp>
        <p:nvSpPr>
          <p:cNvPr id="49" name="Rounded Rectangle 48"/>
          <p:cNvSpPr/>
          <p:nvPr/>
        </p:nvSpPr>
        <p:spPr>
          <a:xfrm>
            <a:off x="6941262" y="5989320"/>
            <a:ext cx="824974"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941262" y="5989320"/>
            <a:ext cx="824974" cy="292608"/>
          </a:xfrm>
          <a:prstGeom prst="rect">
            <a:avLst/>
          </a:prstGeom>
          <a:noFill/>
        </p:spPr>
        <p:txBody>
          <a:bodyPr wrap="square" lIns="0" rIns="0" tIns="0" bIns="0" anchor="ctr"/>
          <a:lstStyle/>
          <a:p>
            <a:pPr algn="ctr"/>
            <a:r>
              <a:rPr sz="1100" b="0" i="0">
                <a:solidFill>
                  <a:srgbClr val="111111"/>
                </a:solidFill>
                <a:latin typeface="Inter"/>
                <a:ea typeface="Inter"/>
                <a:cs typeface="Inter"/>
              </a:rPr>
              <a:t>Editorial</a:t>
            </a:r>
          </a:p>
        </p:txBody>
      </p:sp>
      <p:sp>
        <p:nvSpPr>
          <p:cNvPr id="51" name="Rounded Rectangle 50"/>
          <p:cNvSpPr/>
          <p:nvPr/>
        </p:nvSpPr>
        <p:spPr>
          <a:xfrm>
            <a:off x="7848532" y="5989320"/>
            <a:ext cx="641661"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48532" y="5989320"/>
            <a:ext cx="641661" cy="292608"/>
          </a:xfrm>
          <a:prstGeom prst="rect">
            <a:avLst/>
          </a:prstGeom>
          <a:noFill/>
        </p:spPr>
        <p:txBody>
          <a:bodyPr wrap="square" lIns="0" rIns="0" tIns="0" bIns="0" anchor="ctr"/>
          <a:lstStyle/>
          <a:p>
            <a:pPr algn="ctr"/>
            <a:r>
              <a:rPr sz="1100" b="0" i="0">
                <a:solidFill>
                  <a:srgbClr val="111111"/>
                </a:solidFill>
                <a:latin typeface="Inter"/>
                <a:ea typeface="Inter"/>
                <a:cs typeface="Inter"/>
              </a:rPr>
              <a:t>Retro</a:t>
            </a:r>
          </a:p>
        </p:txBody>
      </p:sp>
      <p:sp>
        <p:nvSpPr>
          <p:cNvPr id="53" name="Rounded Rectangle 52"/>
          <p:cNvSpPr/>
          <p:nvPr/>
        </p:nvSpPr>
        <p:spPr>
          <a:xfrm>
            <a:off x="8572490" y="5989320"/>
            <a:ext cx="959348"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72490" y="5989320"/>
            <a:ext cx="959348" cy="292608"/>
          </a:xfrm>
          <a:prstGeom prst="rect">
            <a:avLst/>
          </a:prstGeom>
          <a:noFill/>
        </p:spPr>
        <p:txBody>
          <a:bodyPr wrap="square" lIns="0" rIns="0" tIns="0" bIns="0" anchor="ctr"/>
          <a:lstStyle/>
          <a:p>
            <a:pPr algn="ctr"/>
            <a:r>
              <a:rPr sz="1100" b="0" i="0">
                <a:solidFill>
                  <a:srgbClr val="111111"/>
                </a:solidFill>
                <a:latin typeface="Inter"/>
                <a:ea typeface="Inter"/>
                <a:cs typeface="Inter"/>
              </a:rPr>
              <a:t>Corporate</a:t>
            </a:r>
          </a:p>
        </p:txBody>
      </p:sp>
      <p:sp>
        <p:nvSpPr>
          <p:cNvPr id="55" name="Rounded Rectangle 54"/>
          <p:cNvSpPr/>
          <p:nvPr/>
        </p:nvSpPr>
        <p:spPr>
          <a:xfrm>
            <a:off x="9614134" y="5989320"/>
            <a:ext cx="902944" cy="292608"/>
          </a:xfrm>
          <a:prstGeom prst="roundRect">
            <a:avLst>
              <a:gd name="adj" fmla="val 30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14134" y="5989320"/>
            <a:ext cx="902944" cy="292608"/>
          </a:xfrm>
          <a:prstGeom prst="rect">
            <a:avLst/>
          </a:prstGeom>
          <a:noFill/>
        </p:spPr>
        <p:txBody>
          <a:bodyPr wrap="square" lIns="0" rIns="0" tIns="0" bIns="0" anchor="ctr"/>
          <a:lstStyle/>
          <a:p>
            <a:pPr algn="ctr"/>
            <a:r>
              <a:rPr sz="1100" b="0" i="0">
                <a:solidFill>
                  <a:srgbClr val="111111"/>
                </a:solidFill>
                <a:latin typeface="Inter"/>
                <a:ea typeface="Inter"/>
                <a:cs typeface="Inter"/>
              </a:rPr>
              <a:t>Futuristic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3 · BUILDER</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Builder agent: scaffold, then one plan</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16</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42.png"/>
          <p:cNvPicPr>
            <a:picLocks noChangeAspect="1"/>
          </p:cNvPicPr>
          <p:nvPr/>
        </p:nvPicPr>
        <p:blipFill>
          <a:blip r:embed="rId3"/>
          <a:stretch>
            <a:fillRect/>
          </a:stretch>
        </p:blipFill>
        <p:spPr>
          <a:xfrm>
            <a:off x="10488168" y="201168"/>
            <a:ext cx="1316736" cy="1316736"/>
          </a:xfrm>
          <a:prstGeom prst="rect">
            <a:avLst/>
          </a:prstGeom>
        </p:spPr>
      </p:pic>
      <p:sp>
        <p:nvSpPr>
          <p:cNvPr id="9" name="Rounded Rectangle 8"/>
          <p:cNvSpPr/>
          <p:nvPr/>
        </p:nvSpPr>
        <p:spPr>
          <a:xfrm>
            <a:off x="612648" y="1783080"/>
            <a:ext cx="5486400" cy="45720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965960"/>
            <a:ext cx="4937760" cy="269875"/>
          </a:xfrm>
          <a:prstGeom prst="rect">
            <a:avLst/>
          </a:prstGeom>
          <a:noFill/>
        </p:spPr>
        <p:txBody>
          <a:bodyPr wrap="square" lIns="0" rIns="0" tIns="0" bIns="0" anchor="t"/>
          <a:lstStyle/>
          <a:p>
            <a:pPr algn="l"/>
            <a:r>
              <a:rPr sz="1700" b="0" i="0" spc="17">
                <a:solidFill>
                  <a:srgbClr val="111111"/>
                </a:solidFill>
                <a:latin typeface="Outfit ExtraBold"/>
                <a:ea typeface="Outfit ExtraBold"/>
                <a:cs typeface="Outfit ExtraBold"/>
              </a:rPr>
              <a:t>ONE SEQUENTIAL PLAN</a:t>
            </a:r>
          </a:p>
        </p:txBody>
      </p:sp>
      <p:sp>
        <p:nvSpPr>
          <p:cNvPr id="11" name="Oval 10"/>
          <p:cNvSpPr/>
          <p:nvPr/>
        </p:nvSpPr>
        <p:spPr>
          <a:xfrm>
            <a:off x="886968" y="2423160"/>
            <a:ext cx="310896" cy="310896"/>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423160"/>
            <a:ext cx="310896" cy="310896"/>
          </a:xfrm>
          <a:prstGeom prst="rect">
            <a:avLst/>
          </a:prstGeom>
          <a:noFill/>
        </p:spPr>
        <p:txBody>
          <a:bodyPr wrap="square" lIns="0" rIns="0" tIns="0" bIns="0" anchor="ctr"/>
          <a:lstStyle/>
          <a:p>
            <a:pPr algn="ctr"/>
            <a:r>
              <a:rPr sz="1200" b="0" i="0">
                <a:solidFill>
                  <a:srgbClr val="FFFFFF"/>
                </a:solidFill>
                <a:latin typeface="Inter SemiBold"/>
                <a:ea typeface="Inter SemiBold"/>
                <a:cs typeface="Inter SemiBold"/>
              </a:rPr>
              <a:t>1</a:t>
            </a:r>
          </a:p>
        </p:txBody>
      </p:sp>
      <p:sp>
        <p:nvSpPr>
          <p:cNvPr id="13" name="TextBox 12"/>
          <p:cNvSpPr txBox="1"/>
          <p:nvPr/>
        </p:nvSpPr>
        <p:spPr>
          <a:xfrm>
            <a:off x="1344168" y="2459736"/>
            <a:ext cx="4389120"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PHASE 1 · COMPLETE THE REAL APP</a:t>
            </a:r>
          </a:p>
        </p:txBody>
      </p:sp>
      <p:sp>
        <p:nvSpPr>
          <p:cNvPr id="14" name="TextBox 13"/>
          <p:cNvSpPr txBox="1"/>
          <p:nvPr/>
        </p:nvSpPr>
        <p:spPr>
          <a:xfrm>
            <a:off x="1344168" y="2770632"/>
            <a:ext cx="4434840" cy="914400"/>
          </a:xfrm>
          <a:prstGeom prst="rect">
            <a:avLst/>
          </a:prstGeom>
          <a:noFill/>
        </p:spPr>
        <p:txBody>
          <a:bodyPr wrap="square" lIns="0" rIns="0" tIns="0" bIns="0" anchor="t"/>
          <a:lstStyle/>
          <a:p>
            <a:pPr algn="l">
              <a:lnSpc>
                <a:spcPct val="103000"/>
              </a:lnSpc>
            </a:pPr>
            <a:r>
              <a:rPr sz="1200" b="0" i="0">
                <a:solidFill>
                  <a:srgbClr val="1F2937"/>
                </a:solidFill>
                <a:latin typeface="Inter"/>
                <a:ea typeface="Inter"/>
                <a:cs typeface="Inter"/>
              </a:rPr>
              <a:t>Every approved page, route, role, business rule, record and workflow — with real validation, persistence and authorisation. Only a minimal compile check.</a:t>
            </a:r>
          </a:p>
        </p:txBody>
      </p:sp>
      <p:sp>
        <p:nvSpPr>
          <p:cNvPr id="15" name="Oval 14"/>
          <p:cNvSpPr/>
          <p:nvPr/>
        </p:nvSpPr>
        <p:spPr>
          <a:xfrm>
            <a:off x="886968" y="3703320"/>
            <a:ext cx="310896" cy="310896"/>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703320"/>
            <a:ext cx="310896" cy="310896"/>
          </a:xfrm>
          <a:prstGeom prst="rect">
            <a:avLst/>
          </a:prstGeom>
          <a:noFill/>
        </p:spPr>
        <p:txBody>
          <a:bodyPr wrap="square" lIns="0" rIns="0" tIns="0" bIns="0" anchor="ctr"/>
          <a:lstStyle/>
          <a:p>
            <a:pPr algn="ctr"/>
            <a:r>
              <a:rPr sz="1200" b="0" i="0">
                <a:solidFill>
                  <a:srgbClr val="FFFFFF"/>
                </a:solidFill>
                <a:latin typeface="Inter SemiBold"/>
                <a:ea typeface="Inter SemiBold"/>
                <a:cs typeface="Inter SemiBold"/>
              </a:rPr>
              <a:t>2</a:t>
            </a:r>
          </a:p>
        </p:txBody>
      </p:sp>
      <p:sp>
        <p:nvSpPr>
          <p:cNvPr id="17" name="TextBox 16"/>
          <p:cNvSpPr txBox="1"/>
          <p:nvPr/>
        </p:nvSpPr>
        <p:spPr>
          <a:xfrm>
            <a:off x="1344168" y="3739896"/>
            <a:ext cx="4389120"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PHASE 2 · FOCUSED UNIT TESTS</a:t>
            </a:r>
          </a:p>
        </p:txBody>
      </p:sp>
      <p:sp>
        <p:nvSpPr>
          <p:cNvPr id="18" name="TextBox 17"/>
          <p:cNvSpPr txBox="1"/>
          <p:nvPr/>
        </p:nvSpPr>
        <p:spPr>
          <a:xfrm>
            <a:off x="1344168" y="4050791"/>
            <a:ext cx="4434840" cy="914400"/>
          </a:xfrm>
          <a:prstGeom prst="rect">
            <a:avLst/>
          </a:prstGeom>
          <a:noFill/>
        </p:spPr>
        <p:txBody>
          <a:bodyPr wrap="square" lIns="0" rIns="0" tIns="0" bIns="0" anchor="t"/>
          <a:lstStyle/>
          <a:p>
            <a:pPr algn="l">
              <a:lnSpc>
                <a:spcPct val="103000"/>
              </a:lnSpc>
            </a:pPr>
            <a:r>
              <a:rPr sz="1200" b="0" i="0">
                <a:solidFill>
                  <a:srgbClr val="1F2937"/>
                </a:solidFill>
                <a:latin typeface="Inter"/>
                <a:ea typeface="Inter"/>
                <a:cs typeface="Inter"/>
              </a:rPr>
              <a:t>Calculations, validation, permissions, state transitions and persistence rules. A real defect is fixed and only that test file is rerun.</a:t>
            </a:r>
          </a:p>
        </p:txBody>
      </p:sp>
      <p:sp>
        <p:nvSpPr>
          <p:cNvPr id="19" name="Oval 18"/>
          <p:cNvSpPr/>
          <p:nvPr/>
        </p:nvSpPr>
        <p:spPr>
          <a:xfrm>
            <a:off x="886968" y="4983479"/>
            <a:ext cx="310896" cy="310896"/>
          </a:xfrm>
          <a:prstGeom prst="ellipse">
            <a:avLst/>
          </a:prstGeom>
          <a:solidFill>
            <a:srgbClr val="1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4983479"/>
            <a:ext cx="310896" cy="310896"/>
          </a:xfrm>
          <a:prstGeom prst="rect">
            <a:avLst/>
          </a:prstGeom>
          <a:noFill/>
        </p:spPr>
        <p:txBody>
          <a:bodyPr wrap="square" lIns="0" rIns="0" tIns="0" bIns="0" anchor="ctr"/>
          <a:lstStyle/>
          <a:p>
            <a:pPr algn="ctr"/>
            <a:r>
              <a:rPr sz="1200" b="0" i="0">
                <a:solidFill>
                  <a:srgbClr val="FFFFFF"/>
                </a:solidFill>
                <a:latin typeface="Inter SemiBold"/>
                <a:ea typeface="Inter SemiBold"/>
                <a:cs typeface="Inter SemiBold"/>
              </a:rPr>
              <a:t>3</a:t>
            </a:r>
          </a:p>
        </p:txBody>
      </p:sp>
      <p:sp>
        <p:nvSpPr>
          <p:cNvPr id="21" name="TextBox 20"/>
          <p:cNvSpPr txBox="1"/>
          <p:nvPr/>
        </p:nvSpPr>
        <p:spPr>
          <a:xfrm>
            <a:off x="1344168" y="5020055"/>
            <a:ext cx="4389120"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PHASE 3 · FINAL PRODUCT CHECKS</a:t>
            </a:r>
          </a:p>
        </p:txBody>
      </p:sp>
      <p:sp>
        <p:nvSpPr>
          <p:cNvPr id="22" name="TextBox 21"/>
          <p:cNvSpPr txBox="1"/>
          <p:nvPr/>
        </p:nvSpPr>
        <p:spPr>
          <a:xfrm>
            <a:off x="1344168" y="5330951"/>
            <a:ext cx="4434840" cy="914400"/>
          </a:xfrm>
          <a:prstGeom prst="rect">
            <a:avLst/>
          </a:prstGeom>
          <a:noFill/>
        </p:spPr>
        <p:txBody>
          <a:bodyPr wrap="square" lIns="0" rIns="0" tIns="0" bIns="0" anchor="t"/>
          <a:lstStyle/>
          <a:p>
            <a:pPr algn="l">
              <a:lnSpc>
                <a:spcPct val="103000"/>
              </a:lnSpc>
            </a:pPr>
            <a:r>
              <a:rPr sz="1200" b="0" i="0">
                <a:solidFill>
                  <a:srgbClr val="1F2937"/>
                </a:solidFill>
                <a:latin typeface="Inter"/>
                <a:ea typeface="Inter"/>
                <a:cs typeface="Inter"/>
              </a:rPr>
              <a:t>E2E journeys derived from the SRS, prototype and actual code, then visual, accessibility, performance, security and dependency checks.</a:t>
            </a:r>
          </a:p>
        </p:txBody>
      </p:sp>
      <p:sp>
        <p:nvSpPr>
          <p:cNvPr id="23" name="TextBox 22"/>
          <p:cNvSpPr txBox="1"/>
          <p:nvPr/>
        </p:nvSpPr>
        <p:spPr>
          <a:xfrm>
            <a:off x="6400800" y="1783080"/>
            <a:ext cx="5184648"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SCAFFOLD FIRST</a:t>
            </a:r>
          </a:p>
        </p:txBody>
      </p:sp>
      <p:sp>
        <p:nvSpPr>
          <p:cNvPr id="24" name="TextBox 23"/>
          <p:cNvSpPr txBox="1"/>
          <p:nvPr/>
        </p:nvSpPr>
        <p:spPr>
          <a:xfrm>
            <a:off x="6400800" y="2078482"/>
            <a:ext cx="5184648"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A tested template is copied into an empty workspace only; existing code is never overwritten, and scaffold.json records what was installed.</a:t>
            </a:r>
          </a:p>
        </p:txBody>
      </p:sp>
      <p:sp>
        <p:nvSpPr>
          <p:cNvPr id="25" name="TextBox 24"/>
          <p:cNvSpPr txBox="1"/>
          <p:nvPr/>
        </p:nvSpPr>
        <p:spPr>
          <a:xfrm>
            <a:off x="6400800" y="2860294"/>
            <a:ext cx="5184648"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100% PROTOTYPE PARITY</a:t>
            </a:r>
          </a:p>
        </p:txBody>
      </p:sp>
      <p:sp>
        <p:nvSpPr>
          <p:cNvPr id="26" name="TextBox 25"/>
          <p:cNvSpPr txBox="1"/>
          <p:nvPr/>
        </p:nvSpPr>
        <p:spPr>
          <a:xfrm>
            <a:off x="6400800" y="3155696"/>
            <a:ext cx="5184648"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Before planning, every prototype page is read and mapped: route → HTML source → app files → images. The page is reopened before each route is coded.</a:t>
            </a:r>
          </a:p>
        </p:txBody>
      </p:sp>
      <p:sp>
        <p:nvSpPr>
          <p:cNvPr id="27" name="TextBox 26"/>
          <p:cNvSpPr txBox="1"/>
          <p:nvPr/>
        </p:nvSpPr>
        <p:spPr>
          <a:xfrm>
            <a:off x="6400800" y="3937508"/>
            <a:ext cx="5184648"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REQUIREMENT RECOVERY</a:t>
            </a:r>
          </a:p>
        </p:txBody>
      </p:sp>
      <p:sp>
        <p:nvSpPr>
          <p:cNvPr id="28" name="TextBox 27"/>
          <p:cNvSpPr txBox="1"/>
          <p:nvPr/>
        </p:nvSpPr>
        <p:spPr>
          <a:xfrm>
            <a:off x="6400800" y="4232910"/>
            <a:ext cx="5184648"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When something is unclear, the builder re-reads the approved plan, the SRS section and the mapped page instead of guessing, then continues.</a:t>
            </a:r>
          </a:p>
        </p:txBody>
      </p:sp>
      <p:sp>
        <p:nvSpPr>
          <p:cNvPr id="29" name="TextBox 28"/>
          <p:cNvSpPr txBox="1"/>
          <p:nvPr/>
        </p:nvSpPr>
        <p:spPr>
          <a:xfrm>
            <a:off x="6400800" y="5014721"/>
            <a:ext cx="5184648"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ISOLATED DATA, MANAGED PREVIEW</a:t>
            </a:r>
          </a:p>
        </p:txBody>
      </p:sp>
      <p:sp>
        <p:nvSpPr>
          <p:cNvPr id="30" name="TextBox 29"/>
          <p:cNvSpPr txBox="1"/>
          <p:nvPr/>
        </p:nvSpPr>
        <p:spPr>
          <a:xfrm>
            <a:off x="6400800" y="5310123"/>
            <a:ext cx="5184648" cy="426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Each app gets its own MongoDB database; the Studio — not the agent — starts the preview on the stack's own port.</a:t>
            </a:r>
          </a:p>
        </p:txBody>
      </p:sp>
      <p:sp>
        <p:nvSpPr>
          <p:cNvPr id="31" name="Rounded Rectangle 30"/>
          <p:cNvSpPr/>
          <p:nvPr/>
        </p:nvSpPr>
        <p:spPr>
          <a:xfrm>
            <a:off x="6400800" y="5989320"/>
            <a:ext cx="5184648" cy="365760"/>
          </a:xfrm>
          <a:prstGeom prst="roundRect">
            <a:avLst>
              <a:gd name="adj" fmla="val 25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5989320"/>
            <a:ext cx="4910328" cy="365760"/>
          </a:xfrm>
          <a:prstGeom prst="rect">
            <a:avLst/>
          </a:prstGeom>
          <a:noFill/>
        </p:spPr>
        <p:txBody>
          <a:bodyPr wrap="square" lIns="0" rIns="0" tIns="0" bIns="0" anchor="ctr"/>
          <a:lstStyle/>
          <a:p>
            <a:pPr algn="l"/>
            <a:r>
              <a:rPr sz="1000" b="0" i="0" spc="220">
                <a:solidFill>
                  <a:srgbClr val="111111"/>
                </a:solidFill>
                <a:latin typeface="Urbanist SemiBold"/>
                <a:ea typeface="Urbanist SemiBold"/>
                <a:cs typeface="Urbanist SemiBold"/>
              </a:rPr>
              <a:t>PROTOTYPE SETS THE LOOK · SRS SETS THE BEHAVIOUR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3 · TOOLKIT</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Builder agent: stacks, tools, integrations</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17</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47.png"/>
          <p:cNvPicPr>
            <a:picLocks noChangeAspect="1"/>
          </p:cNvPicPr>
          <p:nvPr/>
        </p:nvPicPr>
        <p:blipFill>
          <a:blip r:embed="rId3"/>
          <a:stretch>
            <a:fillRect/>
          </a:stretch>
        </p:blipFill>
        <p:spPr>
          <a:xfrm>
            <a:off x="10488168" y="201168"/>
            <a:ext cx="1316736" cy="1316736"/>
          </a:xfrm>
          <a:prstGeom prst="rect">
            <a:avLst/>
          </a:prstGeom>
        </p:spPr>
      </p:pic>
      <p:sp>
        <p:nvSpPr>
          <p:cNvPr id="9" name="TextBox 8"/>
          <p:cNvSpPr txBox="1"/>
          <p:nvPr/>
        </p:nvSpPr>
        <p:spPr>
          <a:xfrm>
            <a:off x="612648" y="1783080"/>
            <a:ext cx="5852160"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THREE BUNDLED APPLICATION STACKS</a:t>
            </a:r>
          </a:p>
        </p:txBody>
      </p:sp>
      <p:graphicFrame>
        <p:nvGraphicFramePr>
          <p:cNvPr id="10" name="Table 9"/>
          <p:cNvGraphicFramePr>
            <a:graphicFrameLocks noGrp="1"/>
          </p:cNvGraphicFramePr>
          <p:nvPr/>
        </p:nvGraphicFramePr>
        <p:xfrm>
          <a:off x="612648" y="2103120"/>
          <a:ext cx="5852160" cy="1481328"/>
        </p:xfrm>
        <a:graphic>
          <a:graphicData uri="http://schemas.openxmlformats.org/drawingml/2006/table">
            <a:tbl>
              <a:tblPr firstRow="0" bandRow="0" firstCol="0" lastRow="0" lastCol="0" bandCol="0">
                <a:tableStyleId>{2D5ABB26-0587-4C30-8999-92F81FD0307C}</a:tableStyleId>
              </a:tblPr>
              <a:tblGrid>
                <a:gridCol w="1783080"/>
                <a:gridCol w="2514600"/>
                <a:gridCol w="1554480"/>
              </a:tblGrid>
              <a:tr h="329184">
                <a:tc>
                  <a:txBody>
                    <a:bodyPr wrap="square"/>
                    <a:lstStyle/>
                    <a:p>
                      <a:pPr algn="l"/>
                      <a:r>
                        <a:rPr sz="1100" b="0" i="0">
                          <a:solidFill>
                            <a:srgbClr val="111111"/>
                          </a:solidFill>
                          <a:latin typeface="Outfit ExtraBold"/>
                          <a:ea typeface="Outfit ExtraBold"/>
                          <a:cs typeface="Outfit ExtraBold"/>
                        </a:rPr>
                        <a:t>Stack</a:t>
                      </a:r>
                    </a:p>
                  </a:txBody>
                  <a:tcPr marL="109728" marR="91440" marT="36576" marB="36576" anchor="ctr">
                    <a:lnL w="0">
                      <a:noFill/>
                    </a:lnL>
                    <a:lnR w="0">
                      <a:noFill/>
                    </a:lnR>
                    <a:lnT w="0">
                      <a:noFill/>
                    </a:lnT>
                    <a:lnB w="9525">
                      <a:solidFill>
                        <a:srgbClr val="D5DEEF"/>
                      </a:solidFill>
                    </a:lnB>
                    <a:solidFill>
                      <a:srgbClr val="CCDDFF"/>
                    </a:solidFill>
                  </a:tcPr>
                </a:tc>
                <a:tc>
                  <a:txBody>
                    <a:bodyPr wrap="square"/>
                    <a:lstStyle/>
                    <a:p>
                      <a:pPr algn="l"/>
                      <a:r>
                        <a:rPr sz="1100" b="0" i="0">
                          <a:solidFill>
                            <a:srgbClr val="111111"/>
                          </a:solidFill>
                          <a:latin typeface="Outfit ExtraBold"/>
                          <a:ea typeface="Outfit ExtraBold"/>
                          <a:cs typeface="Outfit ExtraBold"/>
                        </a:rPr>
                        <a:t>Architecture</a:t>
                      </a:r>
                    </a:p>
                  </a:txBody>
                  <a:tcPr marL="109728" marR="91440" marT="36576" marB="36576" anchor="ctr">
                    <a:lnL w="0">
                      <a:noFill/>
                    </a:lnL>
                    <a:lnR w="0">
                      <a:noFill/>
                    </a:lnR>
                    <a:lnT w="0">
                      <a:noFill/>
                    </a:lnT>
                    <a:lnB w="9525">
                      <a:solidFill>
                        <a:srgbClr val="D5DEEF"/>
                      </a:solidFill>
                    </a:lnB>
                    <a:solidFill>
                      <a:srgbClr val="CCDDFF"/>
                    </a:solidFill>
                  </a:tcPr>
                </a:tc>
                <a:tc>
                  <a:txBody>
                    <a:bodyPr wrap="square"/>
                    <a:lstStyle/>
                    <a:p>
                      <a:pPr algn="l"/>
                      <a:r>
                        <a:rPr sz="1100" b="0" i="0">
                          <a:solidFill>
                            <a:srgbClr val="111111"/>
                          </a:solidFill>
                          <a:latin typeface="Outfit ExtraBold"/>
                          <a:ea typeface="Outfit ExtraBold"/>
                          <a:cs typeface="Outfit ExtraBold"/>
                        </a:rPr>
                        <a:t>Deploys to</a:t>
                      </a:r>
                    </a:p>
                  </a:txBody>
                  <a:tcPr marL="109728" marR="91440" marT="36576" marB="36576" anchor="ctr">
                    <a:lnL w="0">
                      <a:noFill/>
                    </a:lnL>
                    <a:lnR w="0">
                      <a:noFill/>
                    </a:lnR>
                    <a:lnT w="0">
                      <a:noFill/>
                    </a:lnT>
                    <a:lnB w="9525">
                      <a:solidFill>
                        <a:srgbClr val="D5DEEF"/>
                      </a:solidFill>
                    </a:lnB>
                    <a:solidFill>
                      <a:srgbClr val="CCDDFF"/>
                    </a:solidFill>
                  </a:tcPr>
                </a:tc>
              </a:tr>
              <a:tr h="384048">
                <a:tc>
                  <a:txBody>
                    <a:bodyPr wrap="square"/>
                    <a:lstStyle/>
                    <a:p>
                      <a:pPr algn="l"/>
                      <a:r>
                        <a:rPr sz="1150" b="1" i="0">
                          <a:solidFill>
                            <a:srgbClr val="111111"/>
                          </a:solidFill>
                          <a:latin typeface="Inter"/>
                          <a:ea typeface="Inter"/>
                          <a:cs typeface="Inter"/>
                        </a:rPr>
                        <a:t>Next.js + MongoDB</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Full-stack React, server routes</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All 6 targets</a:t>
                      </a:r>
                    </a:p>
                  </a:txBody>
                  <a:tcPr marL="109728" marR="91440" marT="36576" marB="36576" anchor="ctr">
                    <a:lnL w="0">
                      <a:noFill/>
                    </a:lnL>
                    <a:lnR w="0">
                      <a:noFill/>
                    </a:lnR>
                    <a:lnT w="0">
                      <a:noFill/>
                    </a:lnT>
                    <a:lnB w="9525">
                      <a:solidFill>
                        <a:srgbClr val="D5DEEF"/>
                      </a:solidFill>
                    </a:lnB>
                    <a:noFill/>
                  </a:tcPr>
                </a:tc>
              </a:tr>
              <a:tr h="384048">
                <a:tc>
                  <a:txBody>
                    <a:bodyPr wrap="square"/>
                    <a:lstStyle/>
                    <a:p>
                      <a:pPr algn="l"/>
                      <a:r>
                        <a:rPr sz="1150" b="1" i="0">
                          <a:solidFill>
                            <a:srgbClr val="111111"/>
                          </a:solidFill>
                          <a:latin typeface="Inter"/>
                          <a:ea typeface="Inter"/>
                          <a:cs typeface="Inter"/>
                        </a:rPr>
                        <a:t>Remix + MongoDB</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Server-rendered React</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All 6 targets</a:t>
                      </a:r>
                    </a:p>
                  </a:txBody>
                  <a:tcPr marL="109728" marR="91440" marT="36576" marB="36576" anchor="ctr">
                    <a:lnL w="0">
                      <a:noFill/>
                    </a:lnL>
                    <a:lnR w="0">
                      <a:noFill/>
                    </a:lnR>
                    <a:lnT w="0">
                      <a:noFill/>
                    </a:lnT>
                    <a:lnB w="9525">
                      <a:solidFill>
                        <a:srgbClr val="D5DEEF"/>
                      </a:solidFill>
                    </a:lnB>
                    <a:noFill/>
                  </a:tcPr>
                </a:tc>
              </a:tr>
              <a:tr h="384048">
                <a:tc>
                  <a:txBody>
                    <a:bodyPr wrap="square"/>
                    <a:lstStyle/>
                    <a:p>
                      <a:pPr algn="l"/>
                      <a:r>
                        <a:rPr sz="1150" b="1" i="0">
                          <a:solidFill>
                            <a:srgbClr val="111111"/>
                          </a:solidFill>
                          <a:latin typeface="Inter"/>
                          <a:ea typeface="Inter"/>
                          <a:cs typeface="Inter"/>
                        </a:rPr>
                        <a:t>MERN microservices</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React client, API gateway, Express services</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AWS EC2/ECS, Azure</a:t>
                      </a:r>
                    </a:p>
                  </a:txBody>
                  <a:tcPr marL="109728" marR="91440" marT="36576" marB="36576" anchor="ctr">
                    <a:lnL w="0">
                      <a:noFill/>
                    </a:lnL>
                    <a:lnR w="0">
                      <a:noFill/>
                    </a:lnR>
                    <a:lnT w="0">
                      <a:noFill/>
                    </a:lnT>
                    <a:lnB w="9525">
                      <a:solidFill>
                        <a:srgbClr val="D5DEEF"/>
                      </a:solidFill>
                    </a:lnB>
                    <a:noFill/>
                  </a:tcPr>
                </a:tc>
              </a:tr>
            </a:tbl>
          </a:graphicData>
        </a:graphic>
      </p:graphicFrame>
      <p:sp>
        <p:nvSpPr>
          <p:cNvPr id="11" name="TextBox 10"/>
          <p:cNvSpPr txBox="1"/>
          <p:nvPr/>
        </p:nvSpPr>
        <p:spPr>
          <a:xfrm>
            <a:off x="612648" y="3794760"/>
            <a:ext cx="5852160" cy="198437"/>
          </a:xfrm>
          <a:prstGeom prst="rect">
            <a:avLst/>
          </a:prstGeom>
          <a:noFill/>
        </p:spPr>
        <p:txBody>
          <a:bodyPr wrap="square" lIns="0" rIns="0" tIns="0" bIns="0" anchor="t"/>
          <a:lstStyle/>
          <a:p>
            <a:pPr algn="l"/>
            <a:r>
              <a:rPr sz="1250" b="0" i="0" spc="12">
                <a:solidFill>
                  <a:srgbClr val="111111"/>
                </a:solidFill>
                <a:latin typeface="Outfit ExtraBold"/>
                <a:ea typeface="Outfit ExtraBold"/>
                <a:cs typeface="Outfit ExtraBold"/>
              </a:rPr>
              <a:t>SCAFFOLD INSTALLER</a:t>
            </a:r>
          </a:p>
        </p:txBody>
      </p:sp>
      <p:sp>
        <p:nvSpPr>
          <p:cNvPr id="12" name="TextBox 11"/>
          <p:cNvSpPr txBox="1"/>
          <p:nvPr/>
        </p:nvSpPr>
        <p:spPr>
          <a:xfrm>
            <a:off x="612648" y="4023360"/>
            <a:ext cx="5852160" cy="365760"/>
          </a:xfrm>
          <a:prstGeom prst="rect">
            <a:avLst/>
          </a:prstGeom>
          <a:noFill/>
        </p:spPr>
        <p:txBody>
          <a:bodyPr wrap="square" lIns="0" rIns="0" tIns="0" bIns="0" anchor="t"/>
          <a:lstStyle/>
          <a:p>
            <a:pPr algn="l"/>
            <a:r>
              <a:rPr sz="1150" b="0" i="0">
                <a:solidFill>
                  <a:srgbClr val="1F2937"/>
                </a:solidFill>
                <a:latin typeface="Inter"/>
                <a:ea typeface="Inter"/>
                <a:cs typeface="Inter"/>
              </a:rPr>
              <a:t>Copies the template, names package and database; never overwrites files.</a:t>
            </a:r>
          </a:p>
        </p:txBody>
      </p:sp>
      <p:sp>
        <p:nvSpPr>
          <p:cNvPr id="13" name="TextBox 12"/>
          <p:cNvSpPr txBox="1"/>
          <p:nvPr/>
        </p:nvSpPr>
        <p:spPr>
          <a:xfrm>
            <a:off x="612648" y="4434840"/>
            <a:ext cx="5852160" cy="198437"/>
          </a:xfrm>
          <a:prstGeom prst="rect">
            <a:avLst/>
          </a:prstGeom>
          <a:noFill/>
        </p:spPr>
        <p:txBody>
          <a:bodyPr wrap="square" lIns="0" rIns="0" tIns="0" bIns="0" anchor="t"/>
          <a:lstStyle/>
          <a:p>
            <a:pPr algn="l"/>
            <a:r>
              <a:rPr sz="1250" b="0" i="0" spc="12">
                <a:solidFill>
                  <a:srgbClr val="111111"/>
                </a:solidFill>
                <a:latin typeface="Outfit ExtraBold"/>
                <a:ea typeface="Outfit ExtraBold"/>
                <a:cs typeface="Outfit ExtraBold"/>
              </a:rPr>
              <a:t>STACK AND PITFALL GUIDES</a:t>
            </a:r>
          </a:p>
        </p:txBody>
      </p:sp>
      <p:sp>
        <p:nvSpPr>
          <p:cNvPr id="14" name="TextBox 13"/>
          <p:cNvSpPr txBox="1"/>
          <p:nvPr/>
        </p:nvSpPr>
        <p:spPr>
          <a:xfrm>
            <a:off x="612648" y="4663440"/>
            <a:ext cx="5852160" cy="365760"/>
          </a:xfrm>
          <a:prstGeom prst="rect">
            <a:avLst/>
          </a:prstGeom>
          <a:noFill/>
        </p:spPr>
        <p:txBody>
          <a:bodyPr wrap="square" lIns="0" rIns="0" tIns="0" bIns="0" anchor="t"/>
          <a:lstStyle/>
          <a:p>
            <a:pPr algn="l"/>
            <a:r>
              <a:rPr sz="1150" b="0" i="0">
                <a:solidFill>
                  <a:srgbClr val="1F2937"/>
                </a:solidFill>
                <a:latin typeface="Inter"/>
                <a:ea typeface="Inter"/>
                <a:cs typeface="Inter"/>
              </a:rPr>
              <a:t>Per-stack guides plus known build mistakes, fed into the plan.</a:t>
            </a:r>
          </a:p>
        </p:txBody>
      </p:sp>
      <p:sp>
        <p:nvSpPr>
          <p:cNvPr id="15" name="TextBox 14"/>
          <p:cNvSpPr txBox="1"/>
          <p:nvPr/>
        </p:nvSpPr>
        <p:spPr>
          <a:xfrm>
            <a:off x="612648" y="5074920"/>
            <a:ext cx="5852160" cy="198437"/>
          </a:xfrm>
          <a:prstGeom prst="rect">
            <a:avLst/>
          </a:prstGeom>
          <a:noFill/>
        </p:spPr>
        <p:txBody>
          <a:bodyPr wrap="square" lIns="0" rIns="0" tIns="0" bIns="0" anchor="t"/>
          <a:lstStyle/>
          <a:p>
            <a:pPr algn="l"/>
            <a:r>
              <a:rPr sz="1250" b="0" i="0" spc="12">
                <a:solidFill>
                  <a:srgbClr val="111111"/>
                </a:solidFill>
                <a:latin typeface="Outfit ExtraBold"/>
                <a:ea typeface="Outfit ExtraBold"/>
                <a:cs typeface="Outfit ExtraBold"/>
              </a:rPr>
              <a:t>NODE TOOLCHAIN AND SCRIPTS</a:t>
            </a:r>
          </a:p>
        </p:txBody>
      </p:sp>
      <p:sp>
        <p:nvSpPr>
          <p:cNvPr id="16" name="TextBox 15"/>
          <p:cNvSpPr txBox="1"/>
          <p:nvPr/>
        </p:nvSpPr>
        <p:spPr>
          <a:xfrm>
            <a:off x="612648" y="5303520"/>
            <a:ext cx="5852160" cy="365760"/>
          </a:xfrm>
          <a:prstGeom prst="rect">
            <a:avLst/>
          </a:prstGeom>
          <a:noFill/>
        </p:spPr>
        <p:txBody>
          <a:bodyPr wrap="square" lIns="0" rIns="0" tIns="0" bIns="0" anchor="t"/>
          <a:lstStyle/>
          <a:p>
            <a:pPr algn="l"/>
            <a:r>
              <a:rPr sz="1150" b="0" i="0">
                <a:solidFill>
                  <a:srgbClr val="1F2937"/>
                </a:solidFill>
                <a:latin typeface="Inter"/>
                <a:ea typeface="Inter"/>
                <a:cs typeface="Inter"/>
              </a:rPr>
              <a:t>npm install and build, seed data, port guard, managed preview.</a:t>
            </a:r>
          </a:p>
        </p:txBody>
      </p:sp>
      <p:sp>
        <p:nvSpPr>
          <p:cNvPr id="17" name="TextBox 16"/>
          <p:cNvSpPr txBox="1"/>
          <p:nvPr/>
        </p:nvSpPr>
        <p:spPr>
          <a:xfrm>
            <a:off x="612648" y="5715000"/>
            <a:ext cx="5852160" cy="198437"/>
          </a:xfrm>
          <a:prstGeom prst="rect">
            <a:avLst/>
          </a:prstGeom>
          <a:noFill/>
        </p:spPr>
        <p:txBody>
          <a:bodyPr wrap="square" lIns="0" rIns="0" tIns="0" bIns="0" anchor="t"/>
          <a:lstStyle/>
          <a:p>
            <a:pPr algn="l"/>
            <a:r>
              <a:rPr sz="1250" b="0" i="0" spc="12">
                <a:solidFill>
                  <a:srgbClr val="111111"/>
                </a:solidFill>
                <a:latin typeface="Outfit ExtraBold"/>
                <a:ea typeface="Outfit ExtraBold"/>
                <a:cs typeface="Outfit ExtraBold"/>
              </a:rPr>
              <a:t>MONGODB CONNECTION CHECK</a:t>
            </a:r>
          </a:p>
        </p:txBody>
      </p:sp>
      <p:sp>
        <p:nvSpPr>
          <p:cNvPr id="18" name="TextBox 17"/>
          <p:cNvSpPr txBox="1"/>
          <p:nvPr/>
        </p:nvSpPr>
        <p:spPr>
          <a:xfrm>
            <a:off x="612648" y="5943600"/>
            <a:ext cx="5852160" cy="365760"/>
          </a:xfrm>
          <a:prstGeom prst="rect">
            <a:avLst/>
          </a:prstGeom>
          <a:noFill/>
        </p:spPr>
        <p:txBody>
          <a:bodyPr wrap="square" lIns="0" rIns="0" tIns="0" bIns="0" anchor="t"/>
          <a:lstStyle/>
          <a:p>
            <a:pPr algn="l"/>
            <a:r>
              <a:rPr sz="1150" b="0" i="0">
                <a:solidFill>
                  <a:srgbClr val="1F2937"/>
                </a:solidFill>
                <a:latin typeface="Inter"/>
                <a:ea typeface="Inter"/>
                <a:cs typeface="Inter"/>
              </a:rPr>
              <a:t>Tests address, network, credentials and ping — never exposes the string.</a:t>
            </a:r>
          </a:p>
        </p:txBody>
      </p:sp>
      <p:sp>
        <p:nvSpPr>
          <p:cNvPr id="19" name="Rounded Rectangle 18"/>
          <p:cNvSpPr/>
          <p:nvPr/>
        </p:nvSpPr>
        <p:spPr>
          <a:xfrm>
            <a:off x="6812280" y="1783080"/>
            <a:ext cx="4773168" cy="45720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0" y="1947672"/>
            <a:ext cx="4389120"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INTEGRATION CATALOGUE · 21 PROVIDERS</a:t>
            </a:r>
          </a:p>
        </p:txBody>
      </p:sp>
      <p:sp>
        <p:nvSpPr>
          <p:cNvPr id="21" name="TextBox 20"/>
          <p:cNvSpPr txBox="1"/>
          <p:nvPr/>
        </p:nvSpPr>
        <p:spPr>
          <a:xfrm>
            <a:off x="7040880" y="2331720"/>
            <a:ext cx="4389120" cy="201168"/>
          </a:xfrm>
          <a:prstGeom prst="rect">
            <a:avLst/>
          </a:prstGeom>
          <a:noFill/>
        </p:spPr>
        <p:txBody>
          <a:bodyPr wrap="square" lIns="0" rIns="0" tIns="0" bIns="0" anchor="t"/>
          <a:lstStyle/>
          <a:p>
            <a:pPr algn="l"/>
            <a:r>
              <a:rPr sz="1000" b="0" i="0" spc="200">
                <a:solidFill>
                  <a:srgbClr val="1F6BFF"/>
                </a:solidFill>
                <a:latin typeface="Urbanist SemiBold"/>
                <a:ea typeface="Urbanist SemiBold"/>
                <a:cs typeface="Urbanist SemiBold"/>
              </a:rPr>
              <a:t>PAYMENTS</a:t>
            </a:r>
          </a:p>
        </p:txBody>
      </p:sp>
      <p:sp>
        <p:nvSpPr>
          <p:cNvPr id="22" name="TextBox 21"/>
          <p:cNvSpPr txBox="1"/>
          <p:nvPr/>
        </p:nvSpPr>
        <p:spPr>
          <a:xfrm>
            <a:off x="7040880" y="2532888"/>
            <a:ext cx="4389120" cy="228600"/>
          </a:xfrm>
          <a:prstGeom prst="rect">
            <a:avLst/>
          </a:prstGeom>
          <a:noFill/>
        </p:spPr>
        <p:txBody>
          <a:bodyPr wrap="square" lIns="0" rIns="0" tIns="0" bIns="0" anchor="t"/>
          <a:lstStyle/>
          <a:p>
            <a:pPr algn="l"/>
            <a:r>
              <a:rPr sz="1200" b="0" i="0">
                <a:solidFill>
                  <a:srgbClr val="111111"/>
                </a:solidFill>
                <a:latin typeface="Inter"/>
                <a:ea typeface="Inter"/>
                <a:cs typeface="Inter"/>
              </a:rPr>
              <a:t>Stripe · PayHere · PayPal · Razorpay</a:t>
            </a:r>
          </a:p>
        </p:txBody>
      </p:sp>
      <p:sp>
        <p:nvSpPr>
          <p:cNvPr id="23" name="TextBox 22"/>
          <p:cNvSpPr txBox="1"/>
          <p:nvPr/>
        </p:nvSpPr>
        <p:spPr>
          <a:xfrm>
            <a:off x="7040880" y="2843784"/>
            <a:ext cx="4389120" cy="201168"/>
          </a:xfrm>
          <a:prstGeom prst="rect">
            <a:avLst/>
          </a:prstGeom>
          <a:noFill/>
        </p:spPr>
        <p:txBody>
          <a:bodyPr wrap="square" lIns="0" rIns="0" tIns="0" bIns="0" anchor="t"/>
          <a:lstStyle/>
          <a:p>
            <a:pPr algn="l"/>
            <a:r>
              <a:rPr sz="1000" b="0" i="0" spc="200">
                <a:solidFill>
                  <a:srgbClr val="1F6BFF"/>
                </a:solidFill>
                <a:latin typeface="Urbanist SemiBold"/>
                <a:ea typeface="Urbanist SemiBold"/>
                <a:cs typeface="Urbanist SemiBold"/>
              </a:rPr>
              <a:t>EMAIL AND SMS</a:t>
            </a:r>
          </a:p>
        </p:txBody>
      </p:sp>
      <p:sp>
        <p:nvSpPr>
          <p:cNvPr id="24" name="TextBox 23"/>
          <p:cNvSpPr txBox="1"/>
          <p:nvPr/>
        </p:nvSpPr>
        <p:spPr>
          <a:xfrm>
            <a:off x="7040880" y="3044952"/>
            <a:ext cx="4389120" cy="228600"/>
          </a:xfrm>
          <a:prstGeom prst="rect">
            <a:avLst/>
          </a:prstGeom>
          <a:noFill/>
        </p:spPr>
        <p:txBody>
          <a:bodyPr wrap="square" lIns="0" rIns="0" tIns="0" bIns="0" anchor="t"/>
          <a:lstStyle/>
          <a:p>
            <a:pPr algn="l"/>
            <a:r>
              <a:rPr sz="1200" b="0" i="0">
                <a:solidFill>
                  <a:srgbClr val="111111"/>
                </a:solidFill>
                <a:latin typeface="Inter"/>
                <a:ea typeface="Inter"/>
                <a:cs typeface="Inter"/>
              </a:rPr>
              <a:t>Resend · SendGrid · Mailgun · Twilio</a:t>
            </a:r>
          </a:p>
        </p:txBody>
      </p:sp>
      <p:sp>
        <p:nvSpPr>
          <p:cNvPr id="25" name="TextBox 24"/>
          <p:cNvSpPr txBox="1"/>
          <p:nvPr/>
        </p:nvSpPr>
        <p:spPr>
          <a:xfrm>
            <a:off x="7040880" y="3355848"/>
            <a:ext cx="4389120" cy="201168"/>
          </a:xfrm>
          <a:prstGeom prst="rect">
            <a:avLst/>
          </a:prstGeom>
          <a:noFill/>
        </p:spPr>
        <p:txBody>
          <a:bodyPr wrap="square" lIns="0" rIns="0" tIns="0" bIns="0" anchor="t"/>
          <a:lstStyle/>
          <a:p>
            <a:pPr algn="l"/>
            <a:r>
              <a:rPr sz="1000" b="0" i="0" spc="200">
                <a:solidFill>
                  <a:srgbClr val="1F6BFF"/>
                </a:solidFill>
                <a:latin typeface="Urbanist SemiBold"/>
                <a:ea typeface="Urbanist SemiBold"/>
                <a:cs typeface="Urbanist SemiBold"/>
              </a:rPr>
              <a:t>PICTURES AND FILES</a:t>
            </a:r>
          </a:p>
        </p:txBody>
      </p:sp>
      <p:sp>
        <p:nvSpPr>
          <p:cNvPr id="26" name="TextBox 25"/>
          <p:cNvSpPr txBox="1"/>
          <p:nvPr/>
        </p:nvSpPr>
        <p:spPr>
          <a:xfrm>
            <a:off x="7040880" y="3557016"/>
            <a:ext cx="4389120" cy="228600"/>
          </a:xfrm>
          <a:prstGeom prst="rect">
            <a:avLst/>
          </a:prstGeom>
          <a:noFill/>
        </p:spPr>
        <p:txBody>
          <a:bodyPr wrap="square" lIns="0" rIns="0" tIns="0" bIns="0" anchor="t"/>
          <a:lstStyle/>
          <a:p>
            <a:pPr algn="l"/>
            <a:r>
              <a:rPr sz="1200" b="0" i="0">
                <a:solidFill>
                  <a:srgbClr val="111111"/>
                </a:solidFill>
                <a:latin typeface="Inter"/>
                <a:ea typeface="Inter"/>
                <a:cs typeface="Inter"/>
              </a:rPr>
              <a:t>Cloudinary · ImageBoss · Amazon S3 · Supabase</a:t>
            </a:r>
          </a:p>
        </p:txBody>
      </p:sp>
      <p:sp>
        <p:nvSpPr>
          <p:cNvPr id="27" name="TextBox 26"/>
          <p:cNvSpPr txBox="1"/>
          <p:nvPr/>
        </p:nvSpPr>
        <p:spPr>
          <a:xfrm>
            <a:off x="7040880" y="3867912"/>
            <a:ext cx="4389120" cy="201168"/>
          </a:xfrm>
          <a:prstGeom prst="rect">
            <a:avLst/>
          </a:prstGeom>
          <a:noFill/>
        </p:spPr>
        <p:txBody>
          <a:bodyPr wrap="square" lIns="0" rIns="0" tIns="0" bIns="0" anchor="t"/>
          <a:lstStyle/>
          <a:p>
            <a:pPr algn="l"/>
            <a:r>
              <a:rPr sz="1000" b="0" i="0" spc="200">
                <a:solidFill>
                  <a:srgbClr val="1F6BFF"/>
                </a:solidFill>
                <a:latin typeface="Urbanist SemiBold"/>
                <a:ea typeface="Urbanist SemiBold"/>
                <a:cs typeface="Urbanist SemiBold"/>
              </a:rPr>
              <a:t>SIGN-IN</a:t>
            </a:r>
          </a:p>
        </p:txBody>
      </p:sp>
      <p:sp>
        <p:nvSpPr>
          <p:cNvPr id="28" name="TextBox 27"/>
          <p:cNvSpPr txBox="1"/>
          <p:nvPr/>
        </p:nvSpPr>
        <p:spPr>
          <a:xfrm>
            <a:off x="7040880" y="4069080"/>
            <a:ext cx="4389120" cy="228600"/>
          </a:xfrm>
          <a:prstGeom prst="rect">
            <a:avLst/>
          </a:prstGeom>
          <a:noFill/>
        </p:spPr>
        <p:txBody>
          <a:bodyPr wrap="square" lIns="0" rIns="0" tIns="0" bIns="0" anchor="t"/>
          <a:lstStyle/>
          <a:p>
            <a:pPr algn="l"/>
            <a:r>
              <a:rPr sz="1200" b="0" i="0">
                <a:solidFill>
                  <a:srgbClr val="111111"/>
                </a:solidFill>
                <a:latin typeface="Inter"/>
                <a:ea typeface="Inter"/>
                <a:cs typeface="Inter"/>
              </a:rPr>
              <a:t>Google · GitHub · Facebook · Microsoft</a:t>
            </a:r>
          </a:p>
        </p:txBody>
      </p:sp>
      <p:sp>
        <p:nvSpPr>
          <p:cNvPr id="29" name="TextBox 28"/>
          <p:cNvSpPr txBox="1"/>
          <p:nvPr/>
        </p:nvSpPr>
        <p:spPr>
          <a:xfrm>
            <a:off x="7040880" y="4379976"/>
            <a:ext cx="4389120" cy="201168"/>
          </a:xfrm>
          <a:prstGeom prst="rect">
            <a:avLst/>
          </a:prstGeom>
          <a:noFill/>
        </p:spPr>
        <p:txBody>
          <a:bodyPr wrap="square" lIns="0" rIns="0" tIns="0" bIns="0" anchor="t"/>
          <a:lstStyle/>
          <a:p>
            <a:pPr algn="l"/>
            <a:r>
              <a:rPr sz="1000" b="0" i="0" spc="200">
                <a:solidFill>
                  <a:srgbClr val="1F6BFF"/>
                </a:solidFill>
                <a:latin typeface="Urbanist SemiBold"/>
                <a:ea typeface="Urbanist SemiBold"/>
                <a:cs typeface="Urbanist SemiBold"/>
              </a:rPr>
              <a:t>MAPS</a:t>
            </a:r>
          </a:p>
        </p:txBody>
      </p:sp>
      <p:sp>
        <p:nvSpPr>
          <p:cNvPr id="30" name="TextBox 29"/>
          <p:cNvSpPr txBox="1"/>
          <p:nvPr/>
        </p:nvSpPr>
        <p:spPr>
          <a:xfrm>
            <a:off x="7040880" y="4581144"/>
            <a:ext cx="4389120" cy="228600"/>
          </a:xfrm>
          <a:prstGeom prst="rect">
            <a:avLst/>
          </a:prstGeom>
          <a:noFill/>
        </p:spPr>
        <p:txBody>
          <a:bodyPr wrap="square" lIns="0" rIns="0" tIns="0" bIns="0" anchor="t"/>
          <a:lstStyle/>
          <a:p>
            <a:pPr algn="l"/>
            <a:r>
              <a:rPr sz="1200" b="0" i="0">
                <a:solidFill>
                  <a:srgbClr val="111111"/>
                </a:solidFill>
                <a:latin typeface="Inter"/>
                <a:ea typeface="Inter"/>
                <a:cs typeface="Inter"/>
              </a:rPr>
              <a:t>Google Maps · Mapbox</a:t>
            </a:r>
          </a:p>
        </p:txBody>
      </p:sp>
      <p:sp>
        <p:nvSpPr>
          <p:cNvPr id="31" name="TextBox 30"/>
          <p:cNvSpPr txBox="1"/>
          <p:nvPr/>
        </p:nvSpPr>
        <p:spPr>
          <a:xfrm>
            <a:off x="7040880" y="4892040"/>
            <a:ext cx="4389120" cy="201168"/>
          </a:xfrm>
          <a:prstGeom prst="rect">
            <a:avLst/>
          </a:prstGeom>
          <a:noFill/>
        </p:spPr>
        <p:txBody>
          <a:bodyPr wrap="square" lIns="0" rIns="0" tIns="0" bIns="0" anchor="t"/>
          <a:lstStyle/>
          <a:p>
            <a:pPr algn="l"/>
            <a:r>
              <a:rPr sz="1000" b="0" i="0" spc="200">
                <a:solidFill>
                  <a:srgbClr val="1F6BFF"/>
                </a:solidFill>
                <a:latin typeface="Urbanist SemiBold"/>
                <a:ea typeface="Urbanist SemiBold"/>
                <a:cs typeface="Urbanist SemiBold"/>
              </a:rPr>
              <a:t>ANALYTICS</a:t>
            </a:r>
          </a:p>
        </p:txBody>
      </p:sp>
      <p:sp>
        <p:nvSpPr>
          <p:cNvPr id="32" name="TextBox 31"/>
          <p:cNvSpPr txBox="1"/>
          <p:nvPr/>
        </p:nvSpPr>
        <p:spPr>
          <a:xfrm>
            <a:off x="7040880" y="5093208"/>
            <a:ext cx="4389120" cy="228600"/>
          </a:xfrm>
          <a:prstGeom prst="rect">
            <a:avLst/>
          </a:prstGeom>
          <a:noFill/>
        </p:spPr>
        <p:txBody>
          <a:bodyPr wrap="square" lIns="0" rIns="0" tIns="0" bIns="0" anchor="t"/>
          <a:lstStyle/>
          <a:p>
            <a:pPr algn="l"/>
            <a:r>
              <a:rPr sz="1200" b="0" i="0">
                <a:solidFill>
                  <a:srgbClr val="111111"/>
                </a:solidFill>
                <a:latin typeface="Inter"/>
                <a:ea typeface="Inter"/>
                <a:cs typeface="Inter"/>
              </a:rPr>
              <a:t>Google Analytics · PostHog · Plausible</a:t>
            </a:r>
          </a:p>
        </p:txBody>
      </p:sp>
      <p:sp>
        <p:nvSpPr>
          <p:cNvPr id="33" name="TextBox 32"/>
          <p:cNvSpPr txBox="1"/>
          <p:nvPr/>
        </p:nvSpPr>
        <p:spPr>
          <a:xfrm>
            <a:off x="7040880" y="5440680"/>
            <a:ext cx="4343400" cy="822960"/>
          </a:xfrm>
          <a:prstGeom prst="rect">
            <a:avLst/>
          </a:prstGeom>
          <a:noFill/>
        </p:spPr>
        <p:txBody>
          <a:bodyPr wrap="square" lIns="0" rIns="0" tIns="0" bIns="0" anchor="t"/>
          <a:lstStyle/>
          <a:p>
            <a:pPr algn="l">
              <a:lnSpc>
                <a:spcPct val="103000"/>
              </a:lnSpc>
            </a:pPr>
            <a:r>
              <a:rPr sz="1100" b="0" i="0">
                <a:solidFill>
                  <a:srgbClr val="4B5563"/>
                </a:solidFill>
                <a:latin typeface="Inter"/>
                <a:ea typeface="Inter"/>
                <a:cs typeface="Inter"/>
              </a:rPr>
              <a:t>Keys are encrypted per user. The builder only receives a secret-free contract (PLUGIN.md), consumed once the integration succeeds.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4 · QA</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QA agent: evidence, not claims</a:t>
            </a:r>
          </a:p>
        </p:txBody>
      </p:sp>
      <p:sp>
        <p:nvSpPr>
          <p:cNvPr id="6" name="TextBox 5"/>
          <p:cNvSpPr txBox="1"/>
          <p:nvPr/>
        </p:nvSpPr>
        <p:spPr>
          <a:xfrm>
            <a:off x="612648" y="1554480"/>
            <a:ext cx="9692640" cy="310896"/>
          </a:xfrm>
          <a:prstGeom prst="rect">
            <a:avLst/>
          </a:prstGeom>
          <a:noFill/>
        </p:spPr>
        <p:txBody>
          <a:bodyPr wrap="square" lIns="0" rIns="0" tIns="0" bIns="0" anchor="t"/>
          <a:lstStyle/>
          <a:p>
            <a:pPr algn="l"/>
            <a:r>
              <a:rPr sz="1600" b="0" i="0">
                <a:solidFill>
                  <a:srgbClr val="1F2937"/>
                </a:solidFill>
                <a:latin typeface="Inter"/>
                <a:ea typeface="Inter"/>
                <a:cs typeface="Inter"/>
              </a:rPr>
              <a:t>The running app is verified layer by layer, and the report is saved after every layer.</a:t>
            </a:r>
          </a:p>
        </p:txBody>
      </p:sp>
      <p:sp>
        <p:nvSpPr>
          <p:cNvPr id="7" name="TextBox 6"/>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18</a:t>
            </a:r>
          </a:p>
        </p:txBody>
      </p:sp>
      <p:sp>
        <p:nvSpPr>
          <p:cNvPr id="8" name="TextBox 7"/>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9" name="Picture 8" descr="53.png"/>
          <p:cNvPicPr>
            <a:picLocks noChangeAspect="1"/>
          </p:cNvPicPr>
          <p:nvPr/>
        </p:nvPicPr>
        <p:blipFill>
          <a:blip r:embed="rId3"/>
          <a:stretch>
            <a:fillRect/>
          </a:stretch>
        </p:blipFill>
        <p:spPr>
          <a:xfrm>
            <a:off x="10488168" y="201168"/>
            <a:ext cx="1316736" cy="1316736"/>
          </a:xfrm>
          <a:prstGeom prst="rect">
            <a:avLst/>
          </a:prstGeom>
        </p:spPr>
      </p:pic>
      <p:sp>
        <p:nvSpPr>
          <p:cNvPr id="10" name="TextBox 9"/>
          <p:cNvSpPr txBox="1"/>
          <p:nvPr/>
        </p:nvSpPr>
        <p:spPr>
          <a:xfrm>
            <a:off x="612648" y="210312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01</a:t>
            </a:r>
          </a:p>
        </p:txBody>
      </p:sp>
      <p:sp>
        <p:nvSpPr>
          <p:cNvPr id="11" name="TextBox 10"/>
          <p:cNvSpPr txBox="1"/>
          <p:nvPr/>
        </p:nvSpPr>
        <p:spPr>
          <a:xfrm>
            <a:off x="612648" y="2359152"/>
            <a:ext cx="2033625"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BUILD &amp; START</a:t>
            </a:r>
          </a:p>
        </p:txBody>
      </p:sp>
      <p:sp>
        <p:nvSpPr>
          <p:cNvPr id="12" name="TextBox 11"/>
          <p:cNvSpPr txBox="1"/>
          <p:nvPr/>
        </p:nvSpPr>
        <p:spPr>
          <a:xfrm>
            <a:off x="612648" y="2654554"/>
            <a:ext cx="2033625"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Production build, then an isolated local server; key routes are probed for server errors.</a:t>
            </a:r>
          </a:p>
        </p:txBody>
      </p:sp>
      <p:sp>
        <p:nvSpPr>
          <p:cNvPr id="13" name="TextBox 12"/>
          <p:cNvSpPr txBox="1"/>
          <p:nvPr/>
        </p:nvSpPr>
        <p:spPr>
          <a:xfrm>
            <a:off x="2847441" y="210312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02</a:t>
            </a:r>
          </a:p>
        </p:txBody>
      </p:sp>
      <p:sp>
        <p:nvSpPr>
          <p:cNvPr id="14" name="TextBox 13"/>
          <p:cNvSpPr txBox="1"/>
          <p:nvPr/>
        </p:nvSpPr>
        <p:spPr>
          <a:xfrm>
            <a:off x="2847441" y="2359152"/>
            <a:ext cx="2033625"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UNIT</a:t>
            </a:r>
          </a:p>
        </p:txBody>
      </p:sp>
      <p:sp>
        <p:nvSpPr>
          <p:cNvPr id="15" name="TextBox 14"/>
          <p:cNvSpPr txBox="1"/>
          <p:nvPr/>
        </p:nvSpPr>
        <p:spPr>
          <a:xfrm>
            <a:off x="2847441" y="2654554"/>
            <a:ext cx="2033625"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Vitest on business logic and critical paths; API routes are matched to unit evidence.</a:t>
            </a:r>
          </a:p>
        </p:txBody>
      </p:sp>
      <p:sp>
        <p:nvSpPr>
          <p:cNvPr id="16" name="TextBox 15"/>
          <p:cNvSpPr txBox="1"/>
          <p:nvPr/>
        </p:nvSpPr>
        <p:spPr>
          <a:xfrm>
            <a:off x="5082235" y="210312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03</a:t>
            </a:r>
          </a:p>
        </p:txBody>
      </p:sp>
      <p:sp>
        <p:nvSpPr>
          <p:cNvPr id="17" name="TextBox 16"/>
          <p:cNvSpPr txBox="1"/>
          <p:nvPr/>
        </p:nvSpPr>
        <p:spPr>
          <a:xfrm>
            <a:off x="5082235" y="2359152"/>
            <a:ext cx="2033625"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E2E JOURNEYS</a:t>
            </a:r>
          </a:p>
        </p:txBody>
      </p:sp>
      <p:sp>
        <p:nvSpPr>
          <p:cNvPr id="18" name="TextBox 17"/>
          <p:cNvSpPr txBox="1"/>
          <p:nvPr/>
        </p:nvSpPr>
        <p:spPr>
          <a:xfrm>
            <a:off x="5082235" y="2654554"/>
            <a:ext cx="2033625" cy="998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Playwright walks every SRS journey as the right role, on desktop and mobile, keeping screenshots.</a:t>
            </a:r>
          </a:p>
        </p:txBody>
      </p:sp>
      <p:sp>
        <p:nvSpPr>
          <p:cNvPr id="19" name="TextBox 18"/>
          <p:cNvSpPr txBox="1"/>
          <p:nvPr/>
        </p:nvSpPr>
        <p:spPr>
          <a:xfrm>
            <a:off x="7317028" y="210312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04</a:t>
            </a:r>
          </a:p>
        </p:txBody>
      </p:sp>
      <p:sp>
        <p:nvSpPr>
          <p:cNvPr id="20" name="TextBox 19"/>
          <p:cNvSpPr txBox="1"/>
          <p:nvPr/>
        </p:nvSpPr>
        <p:spPr>
          <a:xfrm>
            <a:off x="7317028" y="2359152"/>
            <a:ext cx="2033625"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UI &amp; ACCESSIBILITY</a:t>
            </a:r>
          </a:p>
        </p:txBody>
      </p:sp>
      <p:sp>
        <p:nvSpPr>
          <p:cNvPr id="21" name="TextBox 20"/>
          <p:cNvSpPr txBox="1"/>
          <p:nvPr/>
        </p:nvSpPr>
        <p:spPr>
          <a:xfrm>
            <a:off x="7317028" y="2654554"/>
            <a:ext cx="2033625" cy="998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Visual checks of routes; axe-core WCAG checks on public and signed-in screens, plus keyboard focus.</a:t>
            </a:r>
          </a:p>
        </p:txBody>
      </p:sp>
      <p:sp>
        <p:nvSpPr>
          <p:cNvPr id="22" name="TextBox 21"/>
          <p:cNvSpPr txBox="1"/>
          <p:nvPr/>
        </p:nvSpPr>
        <p:spPr>
          <a:xfrm>
            <a:off x="9551822" y="210312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05</a:t>
            </a:r>
          </a:p>
        </p:txBody>
      </p:sp>
      <p:sp>
        <p:nvSpPr>
          <p:cNvPr id="23" name="TextBox 22"/>
          <p:cNvSpPr txBox="1"/>
          <p:nvPr/>
        </p:nvSpPr>
        <p:spPr>
          <a:xfrm>
            <a:off x="9551822" y="2359152"/>
            <a:ext cx="2033625" cy="222250"/>
          </a:xfrm>
          <a:prstGeom prst="rect">
            <a:avLst/>
          </a:prstGeom>
          <a:noFill/>
        </p:spPr>
        <p:txBody>
          <a:bodyPr wrap="square" lIns="0" rIns="0" tIns="0" bIns="0" anchor="t"/>
          <a:lstStyle/>
          <a:p>
            <a:pPr algn="l"/>
            <a:r>
              <a:rPr sz="1400" b="0" i="0" spc="14">
                <a:solidFill>
                  <a:srgbClr val="111111"/>
                </a:solidFill>
                <a:latin typeface="Outfit ExtraBold"/>
                <a:ea typeface="Outfit ExtraBold"/>
                <a:cs typeface="Outfit ExtraBold"/>
              </a:rPr>
              <a:t>SPEED &amp; SECURITY</a:t>
            </a:r>
          </a:p>
        </p:txBody>
      </p:sp>
      <p:sp>
        <p:nvSpPr>
          <p:cNvPr id="24" name="TextBox 23"/>
          <p:cNvSpPr txBox="1"/>
          <p:nvPr/>
        </p:nvSpPr>
        <p:spPr>
          <a:xfrm>
            <a:off x="9551822" y="2654554"/>
            <a:ext cx="2033625"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Lighthouse per public route; OWASP ZAP passive baseline on the local server; npm audit.</a:t>
            </a:r>
          </a:p>
        </p:txBody>
      </p:sp>
      <p:sp>
        <p:nvSpPr>
          <p:cNvPr id="25" name="Rounded Rectangle 24"/>
          <p:cNvSpPr/>
          <p:nvPr/>
        </p:nvSpPr>
        <p:spPr>
          <a:xfrm>
            <a:off x="612648" y="4343400"/>
            <a:ext cx="2606040" cy="2011680"/>
          </a:xfrm>
          <a:prstGeom prst="roundRect">
            <a:avLst>
              <a:gd name="adj" fmla="val 3500"/>
            </a:avLst>
          </a:prstGeom>
          <a:solidFill>
            <a:srgbClr val="EEF3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 y="4507992"/>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NO INVENTED PASSES</a:t>
            </a:r>
          </a:p>
        </p:txBody>
      </p:sp>
      <p:sp>
        <p:nvSpPr>
          <p:cNvPr id="27" name="TextBox 26"/>
          <p:cNvSpPr txBox="1"/>
          <p:nvPr/>
        </p:nvSpPr>
        <p:spPr>
          <a:xfrm>
            <a:off x="813816" y="4795456"/>
            <a:ext cx="2203704" cy="998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A missing artifact is never a pass. Unavailable tools are recorded with the exact reason; a ZAP fallback is labelled 'partial'.</a:t>
            </a:r>
          </a:p>
        </p:txBody>
      </p:sp>
      <p:sp>
        <p:nvSpPr>
          <p:cNvPr id="28" name="Rounded Rectangle 27"/>
          <p:cNvSpPr/>
          <p:nvPr/>
        </p:nvSpPr>
        <p:spPr>
          <a:xfrm>
            <a:off x="3401568" y="4343400"/>
            <a:ext cx="2606040" cy="2011680"/>
          </a:xfrm>
          <a:prstGeom prst="roundRect">
            <a:avLst>
              <a:gd name="adj" fmla="val 3500"/>
            </a:avLst>
          </a:prstGeom>
          <a:solidFill>
            <a:srgbClr val="EEF3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02736" y="4507992"/>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REPAIR WHAT FAILED</a:t>
            </a:r>
          </a:p>
        </p:txBody>
      </p:sp>
      <p:sp>
        <p:nvSpPr>
          <p:cNvPr id="30" name="TextBox 29"/>
          <p:cNvSpPr txBox="1"/>
          <p:nvPr/>
        </p:nvSpPr>
        <p:spPr>
          <a:xfrm>
            <a:off x="3602736" y="4795456"/>
            <a:ext cx="2203704" cy="998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A real defect is fixed in product code and only the affected check reruns. Assertions are never weakened.</a:t>
            </a:r>
          </a:p>
        </p:txBody>
      </p:sp>
      <p:sp>
        <p:nvSpPr>
          <p:cNvPr id="31" name="Rounded Rectangle 30"/>
          <p:cNvSpPr/>
          <p:nvPr/>
        </p:nvSpPr>
        <p:spPr>
          <a:xfrm>
            <a:off x="6190488" y="4343400"/>
            <a:ext cx="2606040" cy="2011680"/>
          </a:xfrm>
          <a:prstGeom prst="roundRect">
            <a:avLst>
              <a:gd name="adj" fmla="val 3500"/>
            </a:avLst>
          </a:prstGeom>
          <a:solidFill>
            <a:srgbClr val="EEF3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91656" y="4507992"/>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SELECTIVE RERUNS</a:t>
            </a:r>
          </a:p>
        </p:txBody>
      </p:sp>
      <p:sp>
        <p:nvSpPr>
          <p:cNvPr id="33" name="TextBox 32"/>
          <p:cNvSpPr txBox="1"/>
          <p:nvPr/>
        </p:nvSpPr>
        <p:spPr>
          <a:xfrm>
            <a:off x="6391656" y="4795456"/>
            <a:ext cx="2203704" cy="998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Fresh passing evidence is reused. A UI-only change does not trigger E2E, accessibility, performance or security runs.</a:t>
            </a:r>
          </a:p>
        </p:txBody>
      </p:sp>
      <p:sp>
        <p:nvSpPr>
          <p:cNvPr id="34" name="Rounded Rectangle 33"/>
          <p:cNvSpPr/>
          <p:nvPr/>
        </p:nvSpPr>
        <p:spPr>
          <a:xfrm>
            <a:off x="8979408" y="4343400"/>
            <a:ext cx="2606040" cy="2011680"/>
          </a:xfrm>
          <a:prstGeom prst="roundRect">
            <a:avLst>
              <a:gd name="adj" fmla="val 3500"/>
            </a:avLst>
          </a:prstGeom>
          <a:solidFill>
            <a:srgbClr val="EEF3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80576" y="4507992"/>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LIVE TEST VIEW</a:t>
            </a:r>
          </a:p>
        </p:txBody>
      </p:sp>
      <p:sp>
        <p:nvSpPr>
          <p:cNvPr id="36" name="TextBox 35"/>
          <p:cNvSpPr txBox="1"/>
          <p:nvPr/>
        </p:nvSpPr>
        <p:spPr>
          <a:xfrm>
            <a:off x="9180576" y="4795456"/>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While Playwright runs, the Studio preview shows the test browser and its pointer moving in real time.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4 · TOOLKIT</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QA agent: tools and their evidence</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19</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55.png"/>
          <p:cNvPicPr>
            <a:picLocks noChangeAspect="1"/>
          </p:cNvPicPr>
          <p:nvPr/>
        </p:nvPicPr>
        <p:blipFill>
          <a:blip r:embed="rId3"/>
          <a:stretch>
            <a:fillRect/>
          </a:stretch>
        </p:blipFill>
        <p:spPr>
          <a:xfrm>
            <a:off x="10488168" y="201168"/>
            <a:ext cx="1316736" cy="1316736"/>
          </a:xfrm>
          <a:prstGeom prst="rect">
            <a:avLst/>
          </a:prstGeom>
        </p:spPr>
      </p:pic>
      <p:graphicFrame>
        <p:nvGraphicFramePr>
          <p:cNvPr id="9" name="Table 8"/>
          <p:cNvGraphicFramePr>
            <a:graphicFrameLocks noGrp="1"/>
          </p:cNvGraphicFramePr>
          <p:nvPr/>
        </p:nvGraphicFramePr>
        <p:xfrm>
          <a:off x="612648" y="1783080"/>
          <a:ext cx="5394960" cy="3950208"/>
        </p:xfrm>
        <a:graphic>
          <a:graphicData uri="http://schemas.openxmlformats.org/drawingml/2006/table">
            <a:tbl>
              <a:tblPr firstRow="0" bandRow="0" firstCol="0" lastRow="0" lastCol="0" bandCol="0">
                <a:tableStyleId>{2D5ABB26-0587-4C30-8999-92F81FD0307C}</a:tableStyleId>
              </a:tblPr>
              <a:tblGrid>
                <a:gridCol w="1783080"/>
                <a:gridCol w="3611880"/>
              </a:tblGrid>
              <a:tr h="329184">
                <a:tc>
                  <a:txBody>
                    <a:bodyPr wrap="square"/>
                    <a:lstStyle/>
                    <a:p>
                      <a:pPr algn="l"/>
                      <a:r>
                        <a:rPr sz="1100" b="0" i="0">
                          <a:solidFill>
                            <a:srgbClr val="111111"/>
                          </a:solidFill>
                          <a:latin typeface="Outfit ExtraBold"/>
                          <a:ea typeface="Outfit ExtraBold"/>
                          <a:cs typeface="Outfit ExtraBold"/>
                        </a:rPr>
                        <a:t>Tool</a:t>
                      </a:r>
                    </a:p>
                  </a:txBody>
                  <a:tcPr marL="109728" marR="91440" marT="36576" marB="36576" anchor="ctr">
                    <a:lnL w="0">
                      <a:noFill/>
                    </a:lnL>
                    <a:lnR w="0">
                      <a:noFill/>
                    </a:lnR>
                    <a:lnT w="0">
                      <a:noFill/>
                    </a:lnT>
                    <a:lnB w="9525">
                      <a:solidFill>
                        <a:srgbClr val="D5DEEF"/>
                      </a:solidFill>
                    </a:lnB>
                    <a:solidFill>
                      <a:srgbClr val="CCDDFF"/>
                    </a:solidFill>
                  </a:tcPr>
                </a:tc>
                <a:tc>
                  <a:txBody>
                    <a:bodyPr wrap="square"/>
                    <a:lstStyle/>
                    <a:p>
                      <a:pPr algn="l"/>
                      <a:r>
                        <a:rPr sz="1100" b="0" i="0">
                          <a:solidFill>
                            <a:srgbClr val="111111"/>
                          </a:solidFill>
                          <a:latin typeface="Outfit ExtraBold"/>
                          <a:ea typeface="Outfit ExtraBold"/>
                          <a:cs typeface="Outfit ExtraBold"/>
                        </a:rPr>
                        <a:t>What it does → evidence file</a:t>
                      </a:r>
                    </a:p>
                  </a:txBody>
                  <a:tcPr marL="109728" marR="91440" marT="36576" marB="36576" anchor="ctr">
                    <a:lnL w="0">
                      <a:noFill/>
                    </a:lnL>
                    <a:lnR w="0">
                      <a:noFill/>
                    </a:lnR>
                    <a:lnT w="0">
                      <a:noFill/>
                    </a:lnT>
                    <a:lnB w="9525">
                      <a:solidFill>
                        <a:srgbClr val="D5DEEF"/>
                      </a:solidFill>
                    </a:lnB>
                    <a:solidFill>
                      <a:srgbClr val="CCDDFF"/>
                    </a:solidFill>
                  </a:tcPr>
                </a:tc>
              </a:tr>
              <a:tr h="603504">
                <a:tc>
                  <a:txBody>
                    <a:bodyPr wrap="square"/>
                    <a:lstStyle/>
                    <a:p>
                      <a:pPr algn="l"/>
                      <a:r>
                        <a:rPr sz="1150" b="1" i="0">
                          <a:solidFill>
                            <a:srgbClr val="111111"/>
                          </a:solidFill>
                          <a:latin typeface="Inter"/>
                          <a:ea typeface="Inter"/>
                          <a:cs typeface="Inter"/>
                        </a:rPr>
                        <a:t>Vitest</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Runs focused unit tests on business rules</a:t>
                      </a:r>
                    </a:p>
                    <a:p>
                      <a:pPr algn="l"/>
                      <a:r>
                        <a:rPr sz="1000" b="0" i="0">
                          <a:solidFill>
                            <a:srgbClr val="4B5563"/>
                          </a:solidFill>
                          <a:latin typeface="Inter"/>
                          <a:ea typeface="Inter"/>
                          <a:cs typeface="Inter"/>
                        </a:rPr>
                        <a:t>→ .agentforge/qa/vitest.json</a:t>
                      </a:r>
                    </a:p>
                  </a:txBody>
                  <a:tcPr marL="109728" marR="91440" marT="36576" marB="36576" anchor="ctr">
                    <a:lnL w="0">
                      <a:noFill/>
                    </a:lnL>
                    <a:lnR w="0">
                      <a:noFill/>
                    </a:lnR>
                    <a:lnT w="0">
                      <a:noFill/>
                    </a:lnT>
                    <a:lnB w="9525">
                      <a:solidFill>
                        <a:srgbClr val="D5DEEF"/>
                      </a:solidFill>
                    </a:lnB>
                    <a:noFill/>
                  </a:tcPr>
                </a:tc>
              </a:tr>
              <a:tr h="603504">
                <a:tc>
                  <a:txBody>
                    <a:bodyPr wrap="square"/>
                    <a:lstStyle/>
                    <a:p>
                      <a:pPr algn="l"/>
                      <a:r>
                        <a:rPr sz="1150" b="1" i="0">
                          <a:solidFill>
                            <a:srgbClr val="111111"/>
                          </a:solidFill>
                          <a:latin typeface="Inter"/>
                          <a:ea typeface="Inter"/>
                          <a:cs typeface="Inter"/>
                        </a:rPr>
                        <a:t>Playwright</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Drives a real browser through SRS journeys; streams it live</a:t>
                      </a:r>
                    </a:p>
                    <a:p>
                      <a:pPr algn="l"/>
                      <a:r>
                        <a:rPr sz="1000" b="0" i="0">
                          <a:solidFill>
                            <a:srgbClr val="4B5563"/>
                          </a:solidFill>
                          <a:latin typeface="Inter"/>
                          <a:ea typeface="Inter"/>
                          <a:cs typeface="Inter"/>
                        </a:rPr>
                        <a:t>→ test-results/results.json · screenshots</a:t>
                      </a:r>
                    </a:p>
                  </a:txBody>
                  <a:tcPr marL="109728" marR="91440" marT="36576" marB="36576" anchor="ctr">
                    <a:lnL w="0">
                      <a:noFill/>
                    </a:lnL>
                    <a:lnR w="0">
                      <a:noFill/>
                    </a:lnR>
                    <a:lnT w="0">
                      <a:noFill/>
                    </a:lnT>
                    <a:lnB w="9525">
                      <a:solidFill>
                        <a:srgbClr val="D5DEEF"/>
                      </a:solidFill>
                    </a:lnB>
                    <a:noFill/>
                  </a:tcPr>
                </a:tc>
              </a:tr>
              <a:tr h="603504">
                <a:tc>
                  <a:txBody>
                    <a:bodyPr wrap="square"/>
                    <a:lstStyle/>
                    <a:p>
                      <a:pPr algn="l"/>
                      <a:r>
                        <a:rPr sz="1150" b="1" i="0">
                          <a:solidFill>
                            <a:srgbClr val="111111"/>
                          </a:solidFill>
                          <a:latin typeface="Inter"/>
                          <a:ea typeface="Inter"/>
                          <a:cs typeface="Inter"/>
                        </a:rPr>
                        <a:t>axe-core</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Finds WCAG violations by rule, impact and element</a:t>
                      </a:r>
                    </a:p>
                    <a:p>
                      <a:pPr algn="l"/>
                      <a:r>
                        <a:rPr sz="1000" b="0" i="0">
                          <a:solidFill>
                            <a:srgbClr val="4B5563"/>
                          </a:solidFill>
                          <a:latin typeface="Inter"/>
                          <a:ea typeface="Inter"/>
                          <a:cs typeface="Inter"/>
                        </a:rPr>
                        <a:t>→ accessibility section of qa/report.json</a:t>
                      </a:r>
                    </a:p>
                  </a:txBody>
                  <a:tcPr marL="109728" marR="91440" marT="36576" marB="36576" anchor="ctr">
                    <a:lnL w="0">
                      <a:noFill/>
                    </a:lnL>
                    <a:lnR w="0">
                      <a:noFill/>
                    </a:lnR>
                    <a:lnT w="0">
                      <a:noFill/>
                    </a:lnT>
                    <a:lnB w="9525">
                      <a:solidFill>
                        <a:srgbClr val="D5DEEF"/>
                      </a:solidFill>
                    </a:lnB>
                    <a:noFill/>
                  </a:tcPr>
                </a:tc>
              </a:tr>
              <a:tr h="603504">
                <a:tc>
                  <a:txBody>
                    <a:bodyPr wrap="square"/>
                    <a:lstStyle/>
                    <a:p>
                      <a:pPr algn="l"/>
                      <a:r>
                        <a:rPr sz="1150" b="1" i="0">
                          <a:solidFill>
                            <a:srgbClr val="111111"/>
                          </a:solidFill>
                          <a:latin typeface="Inter"/>
                          <a:ea typeface="Inter"/>
                          <a:cs typeface="Inter"/>
                        </a:rPr>
                        <a:t>Lighthouse CI</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Scores performance and page quality per route</a:t>
                      </a:r>
                    </a:p>
                    <a:p>
                      <a:pPr algn="l"/>
                      <a:r>
                        <a:rPr sz="1000" b="0" i="0">
                          <a:solidFill>
                            <a:srgbClr val="4B5563"/>
                          </a:solidFill>
                          <a:latin typeface="Inter"/>
                          <a:ea typeface="Inter"/>
                          <a:cs typeface="Inter"/>
                        </a:rPr>
                        <a:t>→ .lighthouseci/summary.json</a:t>
                      </a:r>
                    </a:p>
                  </a:txBody>
                  <a:tcPr marL="109728" marR="91440" marT="36576" marB="36576" anchor="ctr">
                    <a:lnL w="0">
                      <a:noFill/>
                    </a:lnL>
                    <a:lnR w="0">
                      <a:noFill/>
                    </a:lnR>
                    <a:lnT w="0">
                      <a:noFill/>
                    </a:lnT>
                    <a:lnB w="9525">
                      <a:solidFill>
                        <a:srgbClr val="D5DEEF"/>
                      </a:solidFill>
                    </a:lnB>
                    <a:noFill/>
                  </a:tcPr>
                </a:tc>
              </a:tr>
              <a:tr h="603504">
                <a:tc>
                  <a:txBody>
                    <a:bodyPr wrap="square"/>
                    <a:lstStyle/>
                    <a:p>
                      <a:pPr algn="l"/>
                      <a:r>
                        <a:rPr sz="1150" b="1" i="0">
                          <a:solidFill>
                            <a:srgbClr val="111111"/>
                          </a:solidFill>
                          <a:latin typeface="Inter"/>
                          <a:ea typeface="Inter"/>
                          <a:cs typeface="Inter"/>
                        </a:rPr>
                        <a:t>OWASP ZAP</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Spider + passive scan of the isolated local app</a:t>
                      </a:r>
                    </a:p>
                    <a:p>
                      <a:pPr algn="l"/>
                      <a:r>
                        <a:rPr sz="1000" b="0" i="0">
                          <a:solidFill>
                            <a:srgbClr val="4B5563"/>
                          </a:solidFill>
                          <a:latin typeface="Inter"/>
                          <a:ea typeface="Inter"/>
                          <a:cs typeface="Inter"/>
                        </a:rPr>
                        <a:t>→ .agentforge/qa/zap/summary.json</a:t>
                      </a:r>
                    </a:p>
                  </a:txBody>
                  <a:tcPr marL="109728" marR="91440" marT="36576" marB="36576" anchor="ctr">
                    <a:lnL w="0">
                      <a:noFill/>
                    </a:lnL>
                    <a:lnR w="0">
                      <a:noFill/>
                    </a:lnR>
                    <a:lnT w="0">
                      <a:noFill/>
                    </a:lnT>
                    <a:lnB w="9525">
                      <a:solidFill>
                        <a:srgbClr val="D5DEEF"/>
                      </a:solidFill>
                    </a:lnB>
                    <a:noFill/>
                  </a:tcPr>
                </a:tc>
              </a:tr>
              <a:tr h="603504">
                <a:tc>
                  <a:txBody>
                    <a:bodyPr wrap="square"/>
                    <a:lstStyle/>
                    <a:p>
                      <a:pPr algn="l"/>
                      <a:r>
                        <a:rPr sz="1150" b="1" i="0">
                          <a:solidFill>
                            <a:srgbClr val="111111"/>
                          </a:solidFill>
                          <a:latin typeface="Inter"/>
                          <a:ea typeface="Inter"/>
                          <a:cs typeface="Inter"/>
                        </a:rPr>
                        <a:t>npm audit + probe</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Dependency advisories; status of every route</a:t>
                      </a:r>
                    </a:p>
                    <a:p>
                      <a:pPr algn="l"/>
                      <a:r>
                        <a:rPr sz="1000" b="0" i="0">
                          <a:solidFill>
                            <a:srgbClr val="4B5563"/>
                          </a:solidFill>
                          <a:latin typeface="Inter"/>
                          <a:ea typeface="Inter"/>
                          <a:cs typeface="Inter"/>
                        </a:rPr>
                        <a:t>→ .agentforge/qa/routes.json</a:t>
                      </a:r>
                    </a:p>
                  </a:txBody>
                  <a:tcPr marL="109728" marR="91440" marT="36576" marB="36576" anchor="ctr">
                    <a:lnL w="0">
                      <a:noFill/>
                    </a:lnL>
                    <a:lnR w="0">
                      <a:noFill/>
                    </a:lnR>
                    <a:lnT w="0">
                      <a:noFill/>
                    </a:lnT>
                    <a:lnB w="9525">
                      <a:solidFill>
                        <a:srgbClr val="D5DEEF"/>
                      </a:solidFill>
                    </a:lnB>
                    <a:noFill/>
                  </a:tcPr>
                </a:tc>
              </a:tr>
            </a:tbl>
          </a:graphicData>
        </a:graphic>
      </p:graphicFrame>
      <p:pic>
        <p:nvPicPr>
          <p:cNvPr id="10" name="Picture 9" descr="57.jpeg"/>
          <p:cNvPicPr>
            <a:picLocks noChangeAspect="1"/>
          </p:cNvPicPr>
          <p:nvPr/>
        </p:nvPicPr>
        <p:blipFill>
          <a:blip r:embed="rId4"/>
          <a:stretch>
            <a:fillRect/>
          </a:stretch>
        </p:blipFill>
        <p:spPr>
          <a:xfrm>
            <a:off x="6263640" y="1783080"/>
            <a:ext cx="5321808" cy="2720834"/>
          </a:xfrm>
          <a:prstGeom prst="rect">
            <a:avLst/>
          </a:prstGeom>
        </p:spPr>
      </p:pic>
      <p:sp>
        <p:nvSpPr>
          <p:cNvPr id="11" name="Rectangle 10"/>
          <p:cNvSpPr/>
          <p:nvPr/>
        </p:nvSpPr>
        <p:spPr>
          <a:xfrm>
            <a:off x="6263640" y="1783080"/>
            <a:ext cx="5321808" cy="2720834"/>
          </a:xfrm>
          <a:prstGeom prst="rect">
            <a:avLst/>
          </a:prstGeom>
          <a:noFill/>
          <a:ln w="127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4572000"/>
            <a:ext cx="5321808" cy="566928"/>
          </a:xfrm>
          <a:prstGeom prst="rect">
            <a:avLst/>
          </a:prstGeom>
          <a:noFill/>
        </p:spPr>
        <p:txBody>
          <a:bodyPr wrap="square" lIns="0" rIns="0" tIns="0" bIns="0" anchor="t"/>
          <a:lstStyle/>
          <a:p>
            <a:pPr algn="l">
              <a:lnSpc>
                <a:spcPct val="103000"/>
              </a:lnSpc>
            </a:pPr>
            <a:r>
              <a:rPr sz="1100" b="0" i="0">
                <a:solidFill>
                  <a:srgbClr val="4B5563"/>
                </a:solidFill>
                <a:latin typeface="Inter"/>
                <a:ea typeface="Inter"/>
                <a:cs typeface="Inter"/>
              </a:rPr>
              <a:t>Captured run: the Scaffold QA view — one of the Studio's 14 testing views — lists test totals beside unmet requirements and open gaps.</a:t>
            </a:r>
          </a:p>
        </p:txBody>
      </p:sp>
      <p:pic>
        <p:nvPicPr>
          <p:cNvPr id="13" name="Picture 12" descr="16.png"/>
          <p:cNvPicPr>
            <a:picLocks noChangeAspect="1"/>
          </p:cNvPicPr>
          <p:nvPr/>
        </p:nvPicPr>
        <p:blipFill>
          <a:blip r:embed="rId5"/>
          <a:stretch>
            <a:fillRect/>
          </a:stretch>
        </p:blipFill>
        <p:spPr>
          <a:xfrm>
            <a:off x="6629400" y="5440680"/>
            <a:ext cx="502920" cy="502920"/>
          </a:xfrm>
          <a:prstGeom prst="rect">
            <a:avLst/>
          </a:prstGeom>
        </p:spPr>
      </p:pic>
      <p:sp>
        <p:nvSpPr>
          <p:cNvPr id="14" name="TextBox 13"/>
          <p:cNvSpPr txBox="1"/>
          <p:nvPr/>
        </p:nvSpPr>
        <p:spPr>
          <a:xfrm>
            <a:off x="6263640" y="5989320"/>
            <a:ext cx="1234440" cy="201168"/>
          </a:xfrm>
          <a:prstGeom prst="rect">
            <a:avLst/>
          </a:prstGeom>
          <a:noFill/>
        </p:spPr>
        <p:txBody>
          <a:bodyPr wrap="square" lIns="0" rIns="0" tIns="0" bIns="0" anchor="t"/>
          <a:lstStyle/>
          <a:p>
            <a:pPr algn="ctr"/>
            <a:r>
              <a:rPr sz="1050" b="0" i="0">
                <a:solidFill>
                  <a:srgbClr val="1F2937"/>
                </a:solidFill>
                <a:latin typeface="Inter"/>
                <a:ea typeface="Inter"/>
                <a:cs typeface="Inter"/>
              </a:rPr>
              <a:t>Vitest</a:t>
            </a:r>
          </a:p>
        </p:txBody>
      </p:sp>
      <p:pic>
        <p:nvPicPr>
          <p:cNvPr id="15" name="Picture 14" descr="17.png"/>
          <p:cNvPicPr>
            <a:picLocks noChangeAspect="1"/>
          </p:cNvPicPr>
          <p:nvPr/>
        </p:nvPicPr>
        <p:blipFill>
          <a:blip r:embed="rId6"/>
          <a:stretch>
            <a:fillRect/>
          </a:stretch>
        </p:blipFill>
        <p:spPr>
          <a:xfrm>
            <a:off x="7955279" y="5440680"/>
            <a:ext cx="502920" cy="502920"/>
          </a:xfrm>
          <a:prstGeom prst="rect">
            <a:avLst/>
          </a:prstGeom>
        </p:spPr>
      </p:pic>
      <p:sp>
        <p:nvSpPr>
          <p:cNvPr id="16" name="TextBox 15"/>
          <p:cNvSpPr txBox="1"/>
          <p:nvPr/>
        </p:nvSpPr>
        <p:spPr>
          <a:xfrm>
            <a:off x="7589519" y="5989320"/>
            <a:ext cx="1234440" cy="201168"/>
          </a:xfrm>
          <a:prstGeom prst="rect">
            <a:avLst/>
          </a:prstGeom>
          <a:noFill/>
        </p:spPr>
        <p:txBody>
          <a:bodyPr wrap="square" lIns="0" rIns="0" tIns="0" bIns="0" anchor="t"/>
          <a:lstStyle/>
          <a:p>
            <a:pPr algn="ctr"/>
            <a:r>
              <a:rPr sz="1050" b="0" i="0">
                <a:solidFill>
                  <a:srgbClr val="1F2937"/>
                </a:solidFill>
                <a:latin typeface="Inter"/>
                <a:ea typeface="Inter"/>
                <a:cs typeface="Inter"/>
              </a:rPr>
              <a:t>Playwright</a:t>
            </a:r>
          </a:p>
        </p:txBody>
      </p:sp>
      <p:pic>
        <p:nvPicPr>
          <p:cNvPr id="17" name="Picture 16" descr="18.png"/>
          <p:cNvPicPr>
            <a:picLocks noChangeAspect="1"/>
          </p:cNvPicPr>
          <p:nvPr/>
        </p:nvPicPr>
        <p:blipFill>
          <a:blip r:embed="rId7"/>
          <a:stretch>
            <a:fillRect/>
          </a:stretch>
        </p:blipFill>
        <p:spPr>
          <a:xfrm>
            <a:off x="9281160" y="5440680"/>
            <a:ext cx="502920" cy="502920"/>
          </a:xfrm>
          <a:prstGeom prst="rect">
            <a:avLst/>
          </a:prstGeom>
        </p:spPr>
      </p:pic>
      <p:sp>
        <p:nvSpPr>
          <p:cNvPr id="18" name="TextBox 17"/>
          <p:cNvSpPr txBox="1"/>
          <p:nvPr/>
        </p:nvSpPr>
        <p:spPr>
          <a:xfrm>
            <a:off x="8915400" y="5989320"/>
            <a:ext cx="1234440" cy="201168"/>
          </a:xfrm>
          <a:prstGeom prst="rect">
            <a:avLst/>
          </a:prstGeom>
          <a:noFill/>
        </p:spPr>
        <p:txBody>
          <a:bodyPr wrap="square" lIns="0" rIns="0" tIns="0" bIns="0" anchor="t"/>
          <a:lstStyle/>
          <a:p>
            <a:pPr algn="ctr"/>
            <a:r>
              <a:rPr sz="1050" b="0" i="0">
                <a:solidFill>
                  <a:srgbClr val="1F2937"/>
                </a:solidFill>
                <a:latin typeface="Inter"/>
                <a:ea typeface="Inter"/>
                <a:cs typeface="Inter"/>
              </a:rPr>
              <a:t>Lighthouse</a:t>
            </a:r>
          </a:p>
        </p:txBody>
      </p:sp>
      <p:pic>
        <p:nvPicPr>
          <p:cNvPr id="19" name="Picture 18" descr="19.png"/>
          <p:cNvPicPr>
            <a:picLocks noChangeAspect="1"/>
          </p:cNvPicPr>
          <p:nvPr/>
        </p:nvPicPr>
        <p:blipFill>
          <a:blip r:embed="rId8"/>
          <a:stretch>
            <a:fillRect/>
          </a:stretch>
        </p:blipFill>
        <p:spPr>
          <a:xfrm>
            <a:off x="10607040" y="5440680"/>
            <a:ext cx="502920" cy="502920"/>
          </a:xfrm>
          <a:prstGeom prst="rect">
            <a:avLst/>
          </a:prstGeom>
        </p:spPr>
      </p:pic>
      <p:sp>
        <p:nvSpPr>
          <p:cNvPr id="20" name="TextBox 19"/>
          <p:cNvSpPr txBox="1"/>
          <p:nvPr/>
        </p:nvSpPr>
        <p:spPr>
          <a:xfrm>
            <a:off x="10241280" y="5989320"/>
            <a:ext cx="1234440" cy="201168"/>
          </a:xfrm>
          <a:prstGeom prst="rect">
            <a:avLst/>
          </a:prstGeom>
          <a:noFill/>
        </p:spPr>
        <p:txBody>
          <a:bodyPr wrap="square" lIns="0" rIns="0" tIns="0" bIns="0" anchor="t"/>
          <a:lstStyle/>
          <a:p>
            <a:pPr algn="ctr"/>
            <a:r>
              <a:rPr sz="1050" b="0" i="0">
                <a:solidFill>
                  <a:srgbClr val="1F2937"/>
                </a:solidFill>
                <a:latin typeface="Inter"/>
                <a:ea typeface="Inter"/>
                <a:cs typeface="Inter"/>
              </a:rPr>
              <a:t>OWASP ZAP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5 · DEPLOY</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Deploy agent: plan, release, prove</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20</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60.png"/>
          <p:cNvPicPr>
            <a:picLocks noChangeAspect="1"/>
          </p:cNvPicPr>
          <p:nvPr/>
        </p:nvPicPr>
        <p:blipFill>
          <a:blip r:embed="rId3"/>
          <a:stretch>
            <a:fillRect/>
          </a:stretch>
        </p:blipFill>
        <p:spPr>
          <a:xfrm>
            <a:off x="10488168" y="201168"/>
            <a:ext cx="1316736" cy="1316736"/>
          </a:xfrm>
          <a:prstGeom prst="rect">
            <a:avLst/>
          </a:prstGeom>
        </p:spPr>
      </p:pic>
      <p:sp>
        <p:nvSpPr>
          <p:cNvPr id="9" name="TextBox 8"/>
          <p:cNvSpPr txBox="1"/>
          <p:nvPr/>
        </p:nvSpPr>
        <p:spPr>
          <a:xfrm>
            <a:off x="612648" y="181051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01</a:t>
            </a:r>
          </a:p>
        </p:txBody>
      </p:sp>
      <p:sp>
        <p:nvSpPr>
          <p:cNvPr id="10" name="TextBox 9"/>
          <p:cNvSpPr txBox="1"/>
          <p:nvPr/>
        </p:nvSpPr>
        <p:spPr>
          <a:xfrm>
            <a:off x="612648" y="2066543"/>
            <a:ext cx="2033625"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PLAN</a:t>
            </a:r>
          </a:p>
        </p:txBody>
      </p:sp>
      <p:sp>
        <p:nvSpPr>
          <p:cNvPr id="11" name="TextBox 10"/>
          <p:cNvSpPr txBox="1"/>
          <p:nvPr/>
        </p:nvSpPr>
        <p:spPr>
          <a:xfrm>
            <a:off x="612648" y="2377820"/>
            <a:ext cx="2033625" cy="1188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Reads the SRS handoff, build and QA records, app config and skill pages; measures the installed CLIs. No writes, no commands.</a:t>
            </a:r>
          </a:p>
        </p:txBody>
      </p:sp>
      <p:sp>
        <p:nvSpPr>
          <p:cNvPr id="12" name="Rounded Rectangle 11"/>
          <p:cNvSpPr/>
          <p:nvPr/>
        </p:nvSpPr>
        <p:spPr>
          <a:xfrm>
            <a:off x="2737713" y="1673352"/>
            <a:ext cx="2253081" cy="1874519"/>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47441" y="181051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02</a:t>
            </a:r>
          </a:p>
        </p:txBody>
      </p:sp>
      <p:sp>
        <p:nvSpPr>
          <p:cNvPr id="14" name="TextBox 13"/>
          <p:cNvSpPr txBox="1"/>
          <p:nvPr/>
        </p:nvSpPr>
        <p:spPr>
          <a:xfrm>
            <a:off x="2847441" y="2066543"/>
            <a:ext cx="2033625"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APPROVE</a:t>
            </a:r>
          </a:p>
        </p:txBody>
      </p:sp>
      <p:sp>
        <p:nvSpPr>
          <p:cNvPr id="15" name="TextBox 14"/>
          <p:cNvSpPr txBox="1"/>
          <p:nvPr/>
        </p:nvSpPr>
        <p:spPr>
          <a:xfrm>
            <a:off x="2847441" y="2377820"/>
            <a:ext cx="2033625"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The customer reads the plan in chat and approves, revises it in their own words, or cancels.</a:t>
            </a:r>
          </a:p>
        </p:txBody>
      </p:sp>
      <p:sp>
        <p:nvSpPr>
          <p:cNvPr id="16" name="TextBox 15"/>
          <p:cNvSpPr txBox="1"/>
          <p:nvPr/>
        </p:nvSpPr>
        <p:spPr>
          <a:xfrm>
            <a:off x="5082235" y="181051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03</a:t>
            </a:r>
          </a:p>
        </p:txBody>
      </p:sp>
      <p:sp>
        <p:nvSpPr>
          <p:cNvPr id="17" name="TextBox 16"/>
          <p:cNvSpPr txBox="1"/>
          <p:nvPr/>
        </p:nvSpPr>
        <p:spPr>
          <a:xfrm>
            <a:off x="5082235" y="2066543"/>
            <a:ext cx="2033625"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EXECUTE</a:t>
            </a:r>
          </a:p>
        </p:txBody>
      </p:sp>
      <p:sp>
        <p:nvSpPr>
          <p:cNvPr id="18" name="TextBox 17"/>
          <p:cNvSpPr txBox="1"/>
          <p:nvPr/>
        </p:nvSpPr>
        <p:spPr>
          <a:xfrm>
            <a:off x="5082235" y="2377820"/>
            <a:ext cx="2033625" cy="998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Carried out with git, GitHub CLI and the target's own CLI; every command and exit code is recorded.</a:t>
            </a:r>
          </a:p>
        </p:txBody>
      </p:sp>
      <p:sp>
        <p:nvSpPr>
          <p:cNvPr id="19" name="TextBox 18"/>
          <p:cNvSpPr txBox="1"/>
          <p:nvPr/>
        </p:nvSpPr>
        <p:spPr>
          <a:xfrm>
            <a:off x="7317028" y="181051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04</a:t>
            </a:r>
          </a:p>
        </p:txBody>
      </p:sp>
      <p:sp>
        <p:nvSpPr>
          <p:cNvPr id="20" name="TextBox 19"/>
          <p:cNvSpPr txBox="1"/>
          <p:nvPr/>
        </p:nvSpPr>
        <p:spPr>
          <a:xfrm>
            <a:off x="7317028" y="2066543"/>
            <a:ext cx="2033625"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PROBE</a:t>
            </a:r>
          </a:p>
        </p:txBody>
      </p:sp>
      <p:sp>
        <p:nvSpPr>
          <p:cNvPr id="21" name="TextBox 20"/>
          <p:cNvSpPr txBox="1"/>
          <p:nvPr/>
        </p:nvSpPr>
        <p:spPr>
          <a:xfrm>
            <a:off x="7317028" y="2377820"/>
            <a:ext cx="2033625"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The Studio itself calls the public HTTPS address and every recorded check — not the agent's word.</a:t>
            </a:r>
          </a:p>
        </p:txBody>
      </p:sp>
      <p:sp>
        <p:nvSpPr>
          <p:cNvPr id="22" name="TextBox 21"/>
          <p:cNvSpPr txBox="1"/>
          <p:nvPr/>
        </p:nvSpPr>
        <p:spPr>
          <a:xfrm>
            <a:off x="9551822" y="1810512"/>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05</a:t>
            </a:r>
          </a:p>
        </p:txBody>
      </p:sp>
      <p:sp>
        <p:nvSpPr>
          <p:cNvPr id="23" name="TextBox 22"/>
          <p:cNvSpPr txBox="1"/>
          <p:nvPr/>
        </p:nvSpPr>
        <p:spPr>
          <a:xfrm>
            <a:off x="9551822" y="2066543"/>
            <a:ext cx="2033625"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REPAIR</a:t>
            </a:r>
          </a:p>
        </p:txBody>
      </p:sp>
      <p:sp>
        <p:nvSpPr>
          <p:cNvPr id="24" name="TextBox 23"/>
          <p:cNvSpPr txBox="1"/>
          <p:nvPr/>
        </p:nvSpPr>
        <p:spPr>
          <a:xfrm>
            <a:off x="9551822" y="2377820"/>
            <a:ext cx="2033625" cy="998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A failed check returns with the repair skill: collect evidence, fix the root cause once, redeploy, re-verify.</a:t>
            </a:r>
          </a:p>
        </p:txBody>
      </p:sp>
      <p:sp>
        <p:nvSpPr>
          <p:cNvPr id="25" name="TextBox 24"/>
          <p:cNvSpPr txBox="1"/>
          <p:nvPr/>
        </p:nvSpPr>
        <p:spPr>
          <a:xfrm>
            <a:off x="612648" y="4069080"/>
            <a:ext cx="10972800" cy="228600"/>
          </a:xfrm>
          <a:prstGeom prst="rect">
            <a:avLst/>
          </a:prstGeom>
          <a:noFill/>
        </p:spPr>
        <p:txBody>
          <a:bodyPr wrap="square" lIns="0" rIns="0" tIns="0" bIns="0" anchor="t"/>
          <a:lstStyle/>
          <a:p>
            <a:pPr algn="l"/>
            <a:r>
              <a:rPr sz="1100" b="0" i="0" spc="250">
                <a:solidFill>
                  <a:srgbClr val="1F6BFF"/>
                </a:solidFill>
                <a:latin typeface="Urbanist SemiBold"/>
                <a:ea typeface="Urbanist SemiBold"/>
                <a:cs typeface="Urbanist SemiBold"/>
              </a:rPr>
              <a:t>RULES EVERY DEPLOYMENT FOLLOWS</a:t>
            </a:r>
          </a:p>
        </p:txBody>
      </p:sp>
      <p:sp>
        <p:nvSpPr>
          <p:cNvPr id="26" name="TextBox 25"/>
          <p:cNvSpPr txBox="1"/>
          <p:nvPr/>
        </p:nvSpPr>
        <p:spPr>
          <a:xfrm>
            <a:off x="612648" y="4389120"/>
            <a:ext cx="347472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REPOSITORY</a:t>
            </a:r>
          </a:p>
        </p:txBody>
      </p:sp>
      <p:sp>
        <p:nvSpPr>
          <p:cNvPr id="27" name="TextBox 26"/>
          <p:cNvSpPr txBox="1"/>
          <p:nvPr/>
        </p:nvSpPr>
        <p:spPr>
          <a:xfrm>
            <a:off x="612648" y="4632071"/>
            <a:ext cx="3474720" cy="593407"/>
          </a:xfrm>
          <a:prstGeom prst="rect">
            <a:avLst/>
          </a:prstGeom>
          <a:noFill/>
        </p:spPr>
        <p:txBody>
          <a:bodyPr wrap="square" lIns="0" rIns="0" tIns="0" bIns="0" anchor="t"/>
          <a:lstStyle/>
          <a:p>
            <a:pPr algn="l">
              <a:lnSpc>
                <a:spcPct val="105000"/>
              </a:lnSpc>
            </a:pPr>
            <a:r>
              <a:rPr sz="1150" b="0" i="0">
                <a:solidFill>
                  <a:srgbClr val="1F2937"/>
                </a:solidFill>
                <a:latin typeface="Inter"/>
                <a:ea typeface="Inter"/>
                <a:cs typeface="Inter"/>
              </a:rPr>
              <a:t>Own GitHub repo under the customer's name: safe .gitignore, .env.example, meaningful commits, README on request.</a:t>
            </a:r>
          </a:p>
        </p:txBody>
      </p:sp>
      <p:sp>
        <p:nvSpPr>
          <p:cNvPr id="28" name="TextBox 27"/>
          <p:cNvSpPr txBox="1"/>
          <p:nvPr/>
        </p:nvSpPr>
        <p:spPr>
          <a:xfrm>
            <a:off x="4361688" y="4389120"/>
            <a:ext cx="347472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SECRETS</a:t>
            </a:r>
          </a:p>
        </p:txBody>
      </p:sp>
      <p:sp>
        <p:nvSpPr>
          <p:cNvPr id="29" name="TextBox 28"/>
          <p:cNvSpPr txBox="1"/>
          <p:nvPr/>
        </p:nvSpPr>
        <p:spPr>
          <a:xfrm>
            <a:off x="4361688" y="4632071"/>
            <a:ext cx="3474720" cy="593407"/>
          </a:xfrm>
          <a:prstGeom prst="rect">
            <a:avLst/>
          </a:prstGeom>
          <a:noFill/>
        </p:spPr>
        <p:txBody>
          <a:bodyPr wrap="square" lIns="0" rIns="0" tIns="0" bIns="0" anchor="t"/>
          <a:lstStyle/>
          <a:p>
            <a:pPr algn="l">
              <a:lnSpc>
                <a:spcPct val="105000"/>
              </a:lnSpc>
            </a:pPr>
            <a:r>
              <a:rPr sz="1150" b="0" i="0">
                <a:solidFill>
                  <a:srgbClr val="1F2937"/>
                </a:solidFill>
                <a:latin typeface="Inter"/>
                <a:ea typeface="Inter"/>
                <a:cs typeface="Inter"/>
              </a:rPr>
              <a:t>Saved once in Settings and injected only into the deploy run's commands — never in chat, plans, logs or command lines.</a:t>
            </a:r>
          </a:p>
        </p:txBody>
      </p:sp>
      <p:sp>
        <p:nvSpPr>
          <p:cNvPr id="30" name="TextBox 29"/>
          <p:cNvSpPr txBox="1"/>
          <p:nvPr/>
        </p:nvSpPr>
        <p:spPr>
          <a:xfrm>
            <a:off x="8110728" y="4389120"/>
            <a:ext cx="347472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DATABASE</a:t>
            </a:r>
          </a:p>
        </p:txBody>
      </p:sp>
      <p:sp>
        <p:nvSpPr>
          <p:cNvPr id="31" name="TextBox 30"/>
          <p:cNvSpPr txBox="1"/>
          <p:nvPr/>
        </p:nvSpPr>
        <p:spPr>
          <a:xfrm>
            <a:off x="8110728" y="4632071"/>
            <a:ext cx="3474720" cy="593407"/>
          </a:xfrm>
          <a:prstGeom prst="rect">
            <a:avLst/>
          </a:prstGeom>
          <a:noFill/>
        </p:spPr>
        <p:txBody>
          <a:bodyPr wrap="square" lIns="0" rIns="0" tIns="0" bIns="0" anchor="t"/>
          <a:lstStyle/>
          <a:p>
            <a:pPr algn="l">
              <a:lnSpc>
                <a:spcPct val="105000"/>
              </a:lnSpc>
            </a:pPr>
            <a:r>
              <a:rPr sz="1150" b="0" i="0">
                <a:solidFill>
                  <a:srgbClr val="1F2937"/>
                </a:solidFill>
                <a:latin typeface="Inter"/>
                <a:ea typeface="Inter"/>
                <a:cs typeface="Inter"/>
              </a:rPr>
              <a:t>Production data must be reachable from the host; a connection string pointing at this computer is refused.</a:t>
            </a:r>
          </a:p>
        </p:txBody>
      </p:sp>
      <p:sp>
        <p:nvSpPr>
          <p:cNvPr id="32" name="TextBox 31"/>
          <p:cNvSpPr txBox="1"/>
          <p:nvPr/>
        </p:nvSpPr>
        <p:spPr>
          <a:xfrm>
            <a:off x="612648" y="5394960"/>
            <a:ext cx="347472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DOMAIN AND HTTPS</a:t>
            </a:r>
          </a:p>
        </p:txBody>
      </p:sp>
      <p:sp>
        <p:nvSpPr>
          <p:cNvPr id="33" name="TextBox 32"/>
          <p:cNvSpPr txBox="1"/>
          <p:nvPr/>
        </p:nvSpPr>
        <p:spPr>
          <a:xfrm>
            <a:off x="612648" y="5637911"/>
            <a:ext cx="3474720" cy="593407"/>
          </a:xfrm>
          <a:prstGeom prst="rect">
            <a:avLst/>
          </a:prstGeom>
          <a:noFill/>
        </p:spPr>
        <p:txBody>
          <a:bodyPr wrap="square" lIns="0" rIns="0" tIns="0" bIns="0" anchor="t"/>
          <a:lstStyle/>
          <a:p>
            <a:pPr algn="l">
              <a:lnSpc>
                <a:spcPct val="105000"/>
              </a:lnSpc>
            </a:pPr>
            <a:r>
              <a:rPr sz="1150" b="0" i="0">
                <a:solidFill>
                  <a:srgbClr val="1F2937"/>
                </a:solidFill>
                <a:latin typeface="Inter"/>
                <a:ea typeface="Inter"/>
                <a:cs typeface="Inter"/>
              </a:rPr>
              <a:t>Public HTTPS address verified; custom domains, DNS and certificates follow the target's skill page.</a:t>
            </a:r>
          </a:p>
        </p:txBody>
      </p:sp>
      <p:sp>
        <p:nvSpPr>
          <p:cNvPr id="34" name="TextBox 33"/>
          <p:cNvSpPr txBox="1"/>
          <p:nvPr/>
        </p:nvSpPr>
        <p:spPr>
          <a:xfrm>
            <a:off x="4361688" y="5394960"/>
            <a:ext cx="347472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SCALE, COST, ROLLBACK</a:t>
            </a:r>
          </a:p>
        </p:txBody>
      </p:sp>
      <p:sp>
        <p:nvSpPr>
          <p:cNvPr id="35" name="TextBox 34"/>
          <p:cNvSpPr txBox="1"/>
          <p:nvPr/>
        </p:nvSpPr>
        <p:spPr>
          <a:xfrm>
            <a:off x="4361688" y="5637911"/>
            <a:ext cx="3474720" cy="410845"/>
          </a:xfrm>
          <a:prstGeom prst="rect">
            <a:avLst/>
          </a:prstGeom>
          <a:noFill/>
        </p:spPr>
        <p:txBody>
          <a:bodyPr wrap="square" lIns="0" rIns="0" tIns="0" bIns="0" anchor="t"/>
          <a:lstStyle/>
          <a:p>
            <a:pPr algn="l">
              <a:lnSpc>
                <a:spcPct val="105000"/>
              </a:lnSpc>
            </a:pPr>
            <a:r>
              <a:rPr sz="1150" b="0" i="0">
                <a:solidFill>
                  <a:srgbClr val="1F2937"/>
                </a:solidFill>
                <a:latin typeface="Inter"/>
                <a:ea typeface="Inter"/>
                <a:cs typeface="Inter"/>
              </a:rPr>
              <a:t>Capacity, paid choices and the way back are written into the plan before anything runs.</a:t>
            </a:r>
          </a:p>
        </p:txBody>
      </p:sp>
      <p:sp>
        <p:nvSpPr>
          <p:cNvPr id="36" name="TextBox 35"/>
          <p:cNvSpPr txBox="1"/>
          <p:nvPr/>
        </p:nvSpPr>
        <p:spPr>
          <a:xfrm>
            <a:off x="8110728" y="5394960"/>
            <a:ext cx="347472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DURABLE RECORD</a:t>
            </a:r>
          </a:p>
        </p:txBody>
      </p:sp>
      <p:sp>
        <p:nvSpPr>
          <p:cNvPr id="37" name="TextBox 36"/>
          <p:cNvSpPr txBox="1"/>
          <p:nvPr/>
        </p:nvSpPr>
        <p:spPr>
          <a:xfrm>
            <a:off x="8110728" y="5637911"/>
            <a:ext cx="3474720" cy="593407"/>
          </a:xfrm>
          <a:prstGeom prst="rect">
            <a:avLst/>
          </a:prstGeom>
          <a:noFill/>
        </p:spPr>
        <p:txBody>
          <a:bodyPr wrap="square" lIns="0" rIns="0" tIns="0" bIns="0" anchor="t"/>
          <a:lstStyle/>
          <a:p>
            <a:pPr algn="l">
              <a:lnSpc>
                <a:spcPct val="105000"/>
              </a:lnSpc>
            </a:pPr>
            <a:r>
              <a:rPr sz="1150" b="0" i="0">
                <a:solidFill>
                  <a:srgbClr val="1F2937"/>
                </a:solidFill>
                <a:latin typeface="Inter"/>
                <a:ea typeface="Inter"/>
                <a:cs typeface="Inter"/>
              </a:rPr>
              <a:t>run.json and events: a reconnecting browser sees the live run; a stopped run can be resumed.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 5 · TOOLKIT</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Deploy agent: targets, sign-in, monitors</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21</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70.png"/>
          <p:cNvPicPr>
            <a:picLocks noChangeAspect="1"/>
          </p:cNvPicPr>
          <p:nvPr/>
        </p:nvPicPr>
        <p:blipFill>
          <a:blip r:embed="rId3"/>
          <a:stretch>
            <a:fillRect/>
          </a:stretch>
        </p:blipFill>
        <p:spPr>
          <a:xfrm>
            <a:off x="10488168" y="201168"/>
            <a:ext cx="1316736" cy="1316736"/>
          </a:xfrm>
          <a:prstGeom prst="rect">
            <a:avLst/>
          </a:prstGeom>
        </p:spPr>
      </p:pic>
      <p:pic>
        <p:nvPicPr>
          <p:cNvPr id="9" name="Picture 8" descr="62.png"/>
          <p:cNvPicPr>
            <a:picLocks noChangeAspect="1"/>
          </p:cNvPicPr>
          <p:nvPr/>
        </p:nvPicPr>
        <p:blipFill>
          <a:blip r:embed="rId4"/>
          <a:stretch>
            <a:fillRect/>
          </a:stretch>
        </p:blipFill>
        <p:spPr>
          <a:xfrm>
            <a:off x="1248155" y="1737360"/>
            <a:ext cx="777240" cy="777240"/>
          </a:xfrm>
          <a:prstGeom prst="rect">
            <a:avLst/>
          </a:prstGeom>
        </p:spPr>
      </p:pic>
      <p:sp>
        <p:nvSpPr>
          <p:cNvPr id="10" name="TextBox 9"/>
          <p:cNvSpPr txBox="1"/>
          <p:nvPr/>
        </p:nvSpPr>
        <p:spPr>
          <a:xfrm>
            <a:off x="612648" y="2633472"/>
            <a:ext cx="2048255" cy="237744"/>
          </a:xfrm>
          <a:prstGeom prst="rect">
            <a:avLst/>
          </a:prstGeom>
          <a:noFill/>
        </p:spPr>
        <p:txBody>
          <a:bodyPr wrap="square" lIns="0" rIns="0" tIns="0" bIns="0" anchor="t"/>
          <a:lstStyle/>
          <a:p>
            <a:pPr algn="ctr"/>
            <a:r>
              <a:rPr sz="1400" b="0" i="0" spc="14">
                <a:solidFill>
                  <a:srgbClr val="111111"/>
                </a:solidFill>
                <a:latin typeface="Outfit ExtraBold"/>
                <a:ea typeface="Outfit ExtraBold"/>
                <a:cs typeface="Outfit ExtraBold"/>
              </a:rPr>
              <a:t>VERCEL</a:t>
            </a:r>
          </a:p>
        </p:txBody>
      </p:sp>
      <p:sp>
        <p:nvSpPr>
          <p:cNvPr id="11" name="TextBox 10"/>
          <p:cNvSpPr txBox="1"/>
          <p:nvPr/>
        </p:nvSpPr>
        <p:spPr>
          <a:xfrm>
            <a:off x="704088" y="2907792"/>
            <a:ext cx="1865375" cy="411480"/>
          </a:xfrm>
          <a:prstGeom prst="rect">
            <a:avLst/>
          </a:prstGeom>
          <a:noFill/>
        </p:spPr>
        <p:txBody>
          <a:bodyPr wrap="square" lIns="0" rIns="0" tIns="0" bIns="0" anchor="t"/>
          <a:lstStyle/>
          <a:p>
            <a:pPr algn="ctr">
              <a:lnSpc>
                <a:spcPct val="102000"/>
              </a:lnSpc>
            </a:pPr>
            <a:r>
              <a:rPr sz="1150" b="0" i="0">
                <a:solidFill>
                  <a:srgbClr val="1F2937"/>
                </a:solidFill>
                <a:latin typeface="Inter"/>
                <a:ea typeface="Inter"/>
                <a:cs typeface="Inter"/>
              </a:rPr>
              <a:t>Next.js / Remix hosting via the vercel CLI</a:t>
            </a:r>
          </a:p>
        </p:txBody>
      </p:sp>
      <p:pic>
        <p:nvPicPr>
          <p:cNvPr id="12" name="Picture 11" descr="63.png"/>
          <p:cNvPicPr>
            <a:picLocks noChangeAspect="1"/>
          </p:cNvPicPr>
          <p:nvPr/>
        </p:nvPicPr>
        <p:blipFill>
          <a:blip r:embed="rId5"/>
          <a:stretch>
            <a:fillRect/>
          </a:stretch>
        </p:blipFill>
        <p:spPr>
          <a:xfrm>
            <a:off x="3479291" y="1737360"/>
            <a:ext cx="777240" cy="777240"/>
          </a:xfrm>
          <a:prstGeom prst="rect">
            <a:avLst/>
          </a:prstGeom>
        </p:spPr>
      </p:pic>
      <p:sp>
        <p:nvSpPr>
          <p:cNvPr id="13" name="TextBox 12"/>
          <p:cNvSpPr txBox="1"/>
          <p:nvPr/>
        </p:nvSpPr>
        <p:spPr>
          <a:xfrm>
            <a:off x="2843784" y="2633472"/>
            <a:ext cx="2048255" cy="237744"/>
          </a:xfrm>
          <a:prstGeom prst="rect">
            <a:avLst/>
          </a:prstGeom>
          <a:noFill/>
        </p:spPr>
        <p:txBody>
          <a:bodyPr wrap="square" lIns="0" rIns="0" tIns="0" bIns="0" anchor="t"/>
          <a:lstStyle/>
          <a:p>
            <a:pPr algn="ctr"/>
            <a:r>
              <a:rPr sz="1400" b="0" i="0" spc="14">
                <a:solidFill>
                  <a:srgbClr val="111111"/>
                </a:solidFill>
                <a:latin typeface="Outfit ExtraBold"/>
                <a:ea typeface="Outfit ExtraBold"/>
                <a:cs typeface="Outfit ExtraBold"/>
              </a:rPr>
              <a:t>NETLIFY</a:t>
            </a:r>
          </a:p>
        </p:txBody>
      </p:sp>
      <p:sp>
        <p:nvSpPr>
          <p:cNvPr id="14" name="TextBox 13"/>
          <p:cNvSpPr txBox="1"/>
          <p:nvPr/>
        </p:nvSpPr>
        <p:spPr>
          <a:xfrm>
            <a:off x="2935224" y="2907792"/>
            <a:ext cx="1865375" cy="411480"/>
          </a:xfrm>
          <a:prstGeom prst="rect">
            <a:avLst/>
          </a:prstGeom>
          <a:noFill/>
        </p:spPr>
        <p:txBody>
          <a:bodyPr wrap="square" lIns="0" rIns="0" tIns="0" bIns="0" anchor="t"/>
          <a:lstStyle/>
          <a:p>
            <a:pPr algn="ctr">
              <a:lnSpc>
                <a:spcPct val="102000"/>
              </a:lnSpc>
            </a:pPr>
            <a:r>
              <a:rPr sz="1150" b="0" i="0">
                <a:solidFill>
                  <a:srgbClr val="1F2937"/>
                </a:solidFill>
                <a:latin typeface="Inter"/>
                <a:ea typeface="Inter"/>
                <a:cs typeface="Inter"/>
              </a:rPr>
              <a:t>Web hosting via the netlify CLI</a:t>
            </a:r>
          </a:p>
        </p:txBody>
      </p:sp>
      <p:pic>
        <p:nvPicPr>
          <p:cNvPr id="15" name="Picture 14" descr="64.png"/>
          <p:cNvPicPr>
            <a:picLocks noChangeAspect="1"/>
          </p:cNvPicPr>
          <p:nvPr/>
        </p:nvPicPr>
        <p:blipFill>
          <a:blip r:embed="rId6"/>
          <a:stretch>
            <a:fillRect/>
          </a:stretch>
        </p:blipFill>
        <p:spPr>
          <a:xfrm>
            <a:off x="5710427" y="1737360"/>
            <a:ext cx="777240" cy="777240"/>
          </a:xfrm>
          <a:prstGeom prst="rect">
            <a:avLst/>
          </a:prstGeom>
        </p:spPr>
      </p:pic>
      <p:sp>
        <p:nvSpPr>
          <p:cNvPr id="16" name="TextBox 15"/>
          <p:cNvSpPr txBox="1"/>
          <p:nvPr/>
        </p:nvSpPr>
        <p:spPr>
          <a:xfrm>
            <a:off x="5074920" y="2633472"/>
            <a:ext cx="2048255" cy="237744"/>
          </a:xfrm>
          <a:prstGeom prst="rect">
            <a:avLst/>
          </a:prstGeom>
          <a:noFill/>
        </p:spPr>
        <p:txBody>
          <a:bodyPr wrap="square" lIns="0" rIns="0" tIns="0" bIns="0" anchor="t"/>
          <a:lstStyle/>
          <a:p>
            <a:pPr algn="ctr"/>
            <a:r>
              <a:rPr sz="1400" b="0" i="0" spc="14">
                <a:solidFill>
                  <a:srgbClr val="111111"/>
                </a:solidFill>
                <a:latin typeface="Outfit ExtraBold"/>
                <a:ea typeface="Outfit ExtraBold"/>
                <a:cs typeface="Outfit ExtraBold"/>
              </a:rPr>
              <a:t>AZURE</a:t>
            </a:r>
          </a:p>
        </p:txBody>
      </p:sp>
      <p:sp>
        <p:nvSpPr>
          <p:cNvPr id="17" name="TextBox 16"/>
          <p:cNvSpPr txBox="1"/>
          <p:nvPr/>
        </p:nvSpPr>
        <p:spPr>
          <a:xfrm>
            <a:off x="5166359" y="2907792"/>
            <a:ext cx="1865375" cy="411480"/>
          </a:xfrm>
          <a:prstGeom prst="rect">
            <a:avLst/>
          </a:prstGeom>
          <a:noFill/>
        </p:spPr>
        <p:txBody>
          <a:bodyPr wrap="square" lIns="0" rIns="0" tIns="0" bIns="0" anchor="t"/>
          <a:lstStyle/>
          <a:p>
            <a:pPr algn="ctr">
              <a:lnSpc>
                <a:spcPct val="102000"/>
              </a:lnSpc>
            </a:pPr>
            <a:r>
              <a:rPr sz="1150" b="0" i="0">
                <a:solidFill>
                  <a:srgbClr val="1F2937"/>
                </a:solidFill>
                <a:latin typeface="Inter"/>
                <a:ea typeface="Inter"/>
                <a:cs typeface="Inter"/>
              </a:rPr>
              <a:t>App Service via the az CLI</a:t>
            </a:r>
          </a:p>
        </p:txBody>
      </p:sp>
      <p:pic>
        <p:nvPicPr>
          <p:cNvPr id="18" name="Picture 17" descr="65.png"/>
          <p:cNvPicPr>
            <a:picLocks noChangeAspect="1"/>
          </p:cNvPicPr>
          <p:nvPr/>
        </p:nvPicPr>
        <p:blipFill>
          <a:blip r:embed="rId7"/>
          <a:stretch>
            <a:fillRect/>
          </a:stretch>
        </p:blipFill>
        <p:spPr>
          <a:xfrm>
            <a:off x="7941564" y="1737360"/>
            <a:ext cx="777240" cy="777240"/>
          </a:xfrm>
          <a:prstGeom prst="rect">
            <a:avLst/>
          </a:prstGeom>
        </p:spPr>
      </p:pic>
      <p:sp>
        <p:nvSpPr>
          <p:cNvPr id="19" name="TextBox 18"/>
          <p:cNvSpPr txBox="1"/>
          <p:nvPr/>
        </p:nvSpPr>
        <p:spPr>
          <a:xfrm>
            <a:off x="7306056" y="2633472"/>
            <a:ext cx="2048255" cy="237744"/>
          </a:xfrm>
          <a:prstGeom prst="rect">
            <a:avLst/>
          </a:prstGeom>
          <a:noFill/>
        </p:spPr>
        <p:txBody>
          <a:bodyPr wrap="square" lIns="0" rIns="0" tIns="0" bIns="0" anchor="t"/>
          <a:lstStyle/>
          <a:p>
            <a:pPr algn="ctr"/>
            <a:r>
              <a:rPr sz="1400" b="0" i="0" spc="14">
                <a:solidFill>
                  <a:srgbClr val="111111"/>
                </a:solidFill>
                <a:latin typeface="Outfit ExtraBold"/>
                <a:ea typeface="Outfit ExtraBold"/>
                <a:cs typeface="Outfit ExtraBold"/>
              </a:rPr>
              <a:t>AWS EC2 / ECS</a:t>
            </a:r>
          </a:p>
        </p:txBody>
      </p:sp>
      <p:sp>
        <p:nvSpPr>
          <p:cNvPr id="20" name="TextBox 19"/>
          <p:cNvSpPr txBox="1"/>
          <p:nvPr/>
        </p:nvSpPr>
        <p:spPr>
          <a:xfrm>
            <a:off x="7397496" y="2907792"/>
            <a:ext cx="1865375" cy="411480"/>
          </a:xfrm>
          <a:prstGeom prst="rect">
            <a:avLst/>
          </a:prstGeom>
          <a:noFill/>
        </p:spPr>
        <p:txBody>
          <a:bodyPr wrap="square" lIns="0" rIns="0" tIns="0" bIns="0" anchor="t"/>
          <a:lstStyle/>
          <a:p>
            <a:pPr algn="ctr">
              <a:lnSpc>
                <a:spcPct val="102000"/>
              </a:lnSpc>
            </a:pPr>
            <a:r>
              <a:rPr sz="1150" b="0" i="0">
                <a:solidFill>
                  <a:srgbClr val="1F2937"/>
                </a:solidFill>
                <a:latin typeface="Inter"/>
                <a:ea typeface="Inter"/>
                <a:cs typeface="Inter"/>
              </a:rPr>
              <a:t>Virtual machines or containers via the aws CLI</a:t>
            </a:r>
          </a:p>
        </p:txBody>
      </p:sp>
      <p:pic>
        <p:nvPicPr>
          <p:cNvPr id="21" name="Picture 20" descr="66.png"/>
          <p:cNvPicPr>
            <a:picLocks noChangeAspect="1"/>
          </p:cNvPicPr>
          <p:nvPr/>
        </p:nvPicPr>
        <p:blipFill>
          <a:blip r:embed="rId8"/>
          <a:stretch>
            <a:fillRect/>
          </a:stretch>
        </p:blipFill>
        <p:spPr>
          <a:xfrm>
            <a:off x="10172700" y="1737360"/>
            <a:ext cx="777240" cy="777240"/>
          </a:xfrm>
          <a:prstGeom prst="rect">
            <a:avLst/>
          </a:prstGeom>
        </p:spPr>
      </p:pic>
      <p:sp>
        <p:nvSpPr>
          <p:cNvPr id="22" name="TextBox 21"/>
          <p:cNvSpPr txBox="1"/>
          <p:nvPr/>
        </p:nvSpPr>
        <p:spPr>
          <a:xfrm>
            <a:off x="9537192" y="2633472"/>
            <a:ext cx="2048255" cy="237744"/>
          </a:xfrm>
          <a:prstGeom prst="rect">
            <a:avLst/>
          </a:prstGeom>
          <a:noFill/>
        </p:spPr>
        <p:txBody>
          <a:bodyPr wrap="square" lIns="0" rIns="0" tIns="0" bIns="0" anchor="t"/>
          <a:lstStyle/>
          <a:p>
            <a:pPr algn="ctr"/>
            <a:r>
              <a:rPr sz="1400" b="0" i="0" spc="14">
                <a:solidFill>
                  <a:srgbClr val="111111"/>
                </a:solidFill>
                <a:latin typeface="Outfit ExtraBold"/>
                <a:ea typeface="Outfit ExtraBold"/>
                <a:cs typeface="Outfit ExtraBold"/>
              </a:rPr>
              <a:t>GITHUB</a:t>
            </a:r>
          </a:p>
        </p:txBody>
      </p:sp>
      <p:sp>
        <p:nvSpPr>
          <p:cNvPr id="23" name="TextBox 22"/>
          <p:cNvSpPr txBox="1"/>
          <p:nvPr/>
        </p:nvSpPr>
        <p:spPr>
          <a:xfrm>
            <a:off x="9628632" y="2907792"/>
            <a:ext cx="1865375" cy="411480"/>
          </a:xfrm>
          <a:prstGeom prst="rect">
            <a:avLst/>
          </a:prstGeom>
          <a:noFill/>
        </p:spPr>
        <p:txBody>
          <a:bodyPr wrap="square" lIns="0" rIns="0" tIns="0" bIns="0" anchor="t"/>
          <a:lstStyle/>
          <a:p>
            <a:pPr algn="ctr">
              <a:lnSpc>
                <a:spcPct val="102000"/>
              </a:lnSpc>
            </a:pPr>
            <a:r>
              <a:rPr sz="1150" b="0" i="0">
                <a:solidFill>
                  <a:srgbClr val="1F2937"/>
                </a:solidFill>
                <a:latin typeface="Inter"/>
                <a:ea typeface="Inter"/>
                <a:cs typeface="Inter"/>
              </a:rPr>
              <a:t>Repository, Actions and releases via gh</a:t>
            </a:r>
          </a:p>
        </p:txBody>
      </p:sp>
      <p:sp>
        <p:nvSpPr>
          <p:cNvPr id="24" name="Rounded Rectangle 23"/>
          <p:cNvSpPr/>
          <p:nvPr/>
        </p:nvSpPr>
        <p:spPr>
          <a:xfrm>
            <a:off x="612648" y="3520440"/>
            <a:ext cx="10972800" cy="329184"/>
          </a:xfrm>
          <a:prstGeom prst="roundRect">
            <a:avLst>
              <a:gd name="adj" fmla="val 25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520440"/>
            <a:ext cx="10698480" cy="329184"/>
          </a:xfrm>
          <a:prstGeom prst="rect">
            <a:avLst/>
          </a:prstGeom>
          <a:noFill/>
        </p:spPr>
        <p:txBody>
          <a:bodyPr wrap="square" lIns="0" rIns="0" tIns="0" bIns="0" anchor="ctr"/>
          <a:lstStyle/>
          <a:p>
            <a:pPr algn="l"/>
            <a:r>
              <a:rPr sz="1050" b="0" i="0" spc="220">
                <a:solidFill>
                  <a:srgbClr val="111111"/>
                </a:solidFill>
                <a:latin typeface="Urbanist SemiBold"/>
                <a:ea typeface="Urbanist SemiBold"/>
                <a:cs typeface="Urbanist SemiBold"/>
              </a:rPr>
              <a:t>MERN MICROSERVICES DEPLOY ONLY TO AWS EC2 / ECS OR AZURE — THEY RUN AS SEVERAL COOPERATING SERVICES</a:t>
            </a:r>
          </a:p>
        </p:txBody>
      </p:sp>
      <p:sp>
        <p:nvSpPr>
          <p:cNvPr id="26" name="Rounded Rectangle 25"/>
          <p:cNvSpPr/>
          <p:nvPr/>
        </p:nvSpPr>
        <p:spPr>
          <a:xfrm>
            <a:off x="612648" y="4069080"/>
            <a:ext cx="5349240" cy="22860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715000"/>
            <a:ext cx="4837175" cy="502920"/>
          </a:xfrm>
          <a:prstGeom prst="rect">
            <a:avLst/>
          </a:prstGeom>
          <a:noFill/>
        </p:spPr>
        <p:txBody>
          <a:bodyPr wrap="square" lIns="0" rIns="0" tIns="0" bIns="0" anchor="t"/>
          <a:lstStyle/>
          <a:p>
            <a:pPr algn="l">
              <a:lnSpc>
                <a:spcPct val="102000"/>
              </a:lnSpc>
            </a:pPr>
            <a:r>
              <a:rPr sz="1100" b="1" i="0">
                <a:solidFill>
                  <a:srgbClr val="4B5563"/>
                </a:solidFill>
                <a:latin typeface="Inter"/>
                <a:ea typeface="Inter"/>
                <a:cs typeface="Inter"/>
              </a:rPr>
              <a:t>Azure: </a:t>
            </a:r>
            <a:r>
              <a:rPr sz="1100" b="0" i="0">
                <a:solidFill>
                  <a:srgbClr val="4B5563"/>
                </a:solidFill>
                <a:latin typeface="Inter"/>
                <a:ea typeface="Inter"/>
                <a:cs typeface="Inter"/>
              </a:rPr>
              <a:t>no service principal is created automatically — it changes the customer's tenant, so it stays their deliberate step.</a:t>
            </a:r>
          </a:p>
        </p:txBody>
      </p:sp>
      <p:sp>
        <p:nvSpPr>
          <p:cNvPr id="28" name="TextBox 27"/>
          <p:cNvSpPr txBox="1"/>
          <p:nvPr/>
        </p:nvSpPr>
        <p:spPr>
          <a:xfrm>
            <a:off x="868680" y="4251960"/>
            <a:ext cx="4837175"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ONE-CLICK CLI SIGN-IN</a:t>
            </a:r>
          </a:p>
        </p:txBody>
      </p:sp>
      <p:sp>
        <p:nvSpPr>
          <p:cNvPr id="29" name="TextBox 28"/>
          <p:cNvSpPr txBox="1"/>
          <p:nvPr/>
        </p:nvSpPr>
        <p:spPr>
          <a:xfrm>
            <a:off x="868680" y="4563237"/>
            <a:ext cx="4837175" cy="1037907"/>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GitHub, AWS, Vercel, Netlify and Azure sign in through their own login in the browser (GitHub also by device code). Nobody pastes a token. The Studio shows which account a deployment will really use; a missing tool comes with its install command.</a:t>
            </a:r>
          </a:p>
        </p:txBody>
      </p:sp>
      <p:sp>
        <p:nvSpPr>
          <p:cNvPr id="30" name="Rounded Rectangle 29"/>
          <p:cNvSpPr/>
          <p:nvPr/>
        </p:nvSpPr>
        <p:spPr>
          <a:xfrm>
            <a:off x="6236207" y="4069080"/>
            <a:ext cx="5349240" cy="22860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5715000"/>
            <a:ext cx="4837175" cy="502920"/>
          </a:xfrm>
          <a:prstGeom prst="rect">
            <a:avLst/>
          </a:prstGeom>
          <a:noFill/>
        </p:spPr>
        <p:txBody>
          <a:bodyPr wrap="square" lIns="0" rIns="0" tIns="0" bIns="0" anchor="t"/>
          <a:lstStyle/>
          <a:p>
            <a:pPr algn="l">
              <a:lnSpc>
                <a:spcPct val="102000"/>
              </a:lnSpc>
            </a:pPr>
            <a:r>
              <a:rPr sz="1100" b="0" i="0">
                <a:solidFill>
                  <a:srgbClr val="4B5563"/>
                </a:solidFill>
                <a:latin typeface="Inter"/>
                <a:ea typeface="Inter"/>
                <a:cs typeface="Inter"/>
              </a:rPr>
              <a:t>GitHub 15 · Vercel 15 · Azure 12 · AWS ECS 11 · AWS EC2 9 · Netlify 8 · AWS account 6</a:t>
            </a:r>
          </a:p>
        </p:txBody>
      </p:sp>
      <p:sp>
        <p:nvSpPr>
          <p:cNvPr id="32" name="TextBox 31"/>
          <p:cNvSpPr txBox="1"/>
          <p:nvPr/>
        </p:nvSpPr>
        <p:spPr>
          <a:xfrm>
            <a:off x="6492240" y="4251960"/>
            <a:ext cx="4837175"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LIVE READ-ONLY MONITORS</a:t>
            </a:r>
          </a:p>
        </p:txBody>
      </p:sp>
      <p:sp>
        <p:nvSpPr>
          <p:cNvPr id="33" name="TextBox 32"/>
          <p:cNvSpPr txBox="1"/>
          <p:nvPr/>
        </p:nvSpPr>
        <p:spPr>
          <a:xfrm>
            <a:off x="6492240" y="4563237"/>
            <a:ext cx="4837175"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76 one-click, read-only commands — logs, health checks, scaling, deployments, CI runs, secret names — filled in from the deployment's own record. Output streams live with colour codes and secrets masked.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AGENTS 3 &amp; 5 · IN ACTION</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Build and deployment in action</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22</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72.png"/>
          <p:cNvPicPr>
            <a:picLocks noChangeAspect="1"/>
          </p:cNvPicPr>
          <p:nvPr/>
        </p:nvPicPr>
        <p:blipFill>
          <a:blip r:embed="rId3"/>
          <a:stretch>
            <a:fillRect/>
          </a:stretch>
        </p:blipFill>
        <p:spPr>
          <a:xfrm>
            <a:off x="10488168" y="201168"/>
            <a:ext cx="1316736" cy="1316736"/>
          </a:xfrm>
          <a:prstGeom prst="rect">
            <a:avLst/>
          </a:prstGeom>
        </p:spPr>
      </p:pic>
      <p:pic>
        <p:nvPicPr>
          <p:cNvPr id="9" name="Picture 8" descr="48.jpeg"/>
          <p:cNvPicPr>
            <a:picLocks noChangeAspect="1"/>
          </p:cNvPicPr>
          <p:nvPr/>
        </p:nvPicPr>
        <p:blipFill>
          <a:blip r:embed="rId4"/>
          <a:stretch>
            <a:fillRect/>
          </a:stretch>
        </p:blipFill>
        <p:spPr>
          <a:xfrm>
            <a:off x="612648" y="1783080"/>
            <a:ext cx="5326380" cy="2726242"/>
          </a:xfrm>
          <a:prstGeom prst="rect">
            <a:avLst/>
          </a:prstGeom>
        </p:spPr>
      </p:pic>
      <p:sp>
        <p:nvSpPr>
          <p:cNvPr id="10" name="Rectangle 9"/>
          <p:cNvSpPr/>
          <p:nvPr/>
        </p:nvSpPr>
        <p:spPr>
          <a:xfrm>
            <a:off x="612648" y="1783080"/>
            <a:ext cx="5326380" cy="2726241"/>
          </a:xfrm>
          <a:prstGeom prst="rect">
            <a:avLst/>
          </a:prstGeom>
          <a:noFill/>
          <a:ln w="127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4846320"/>
            <a:ext cx="532638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BUILD IN PROGRESS</a:t>
            </a:r>
          </a:p>
        </p:txBody>
      </p:sp>
      <p:sp>
        <p:nvSpPr>
          <p:cNvPr id="12" name="TextBox 11"/>
          <p:cNvSpPr txBox="1"/>
          <p:nvPr/>
        </p:nvSpPr>
        <p:spPr>
          <a:xfrm>
            <a:off x="612648" y="5157597"/>
            <a:ext cx="5326380" cy="641032"/>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The builder re-reads each approved prototype page before coding it, then writes the matching components; the managed preview starts beside the stream.</a:t>
            </a:r>
          </a:p>
        </p:txBody>
      </p:sp>
      <p:pic>
        <p:nvPicPr>
          <p:cNvPr id="13" name="Picture 12" descr="71.jpeg"/>
          <p:cNvPicPr>
            <a:picLocks noChangeAspect="1"/>
          </p:cNvPicPr>
          <p:nvPr/>
        </p:nvPicPr>
        <p:blipFill>
          <a:blip r:embed="rId5"/>
          <a:stretch>
            <a:fillRect/>
          </a:stretch>
        </p:blipFill>
        <p:spPr>
          <a:xfrm>
            <a:off x="6259068" y="1783080"/>
            <a:ext cx="5326380" cy="2729319"/>
          </a:xfrm>
          <a:prstGeom prst="rect">
            <a:avLst/>
          </a:prstGeom>
        </p:spPr>
      </p:pic>
      <p:sp>
        <p:nvSpPr>
          <p:cNvPr id="14" name="Rectangle 13"/>
          <p:cNvSpPr/>
          <p:nvPr/>
        </p:nvSpPr>
        <p:spPr>
          <a:xfrm>
            <a:off x="6259068" y="1783080"/>
            <a:ext cx="5326380" cy="2729318"/>
          </a:xfrm>
          <a:prstGeom prst="rect">
            <a:avLst/>
          </a:prstGeom>
          <a:noFill/>
          <a:ln w="127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9068" y="4846320"/>
            <a:ext cx="532638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DEPLOYMENT RUN</a:t>
            </a:r>
          </a:p>
        </p:txBody>
      </p:sp>
      <p:sp>
        <p:nvSpPr>
          <p:cNvPr id="16" name="TextBox 15"/>
          <p:cNvSpPr txBox="1"/>
          <p:nvPr/>
        </p:nvSpPr>
        <p:spPr>
          <a:xfrm>
            <a:off x="6259068" y="5157597"/>
            <a:ext cx="5326380" cy="641032"/>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Left: the deploy agent reads the project and runs commands, each with its exit code. Right: the approved AWS EC2 plan, step by step, as the run starts.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PLATFORM FEATURES</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One studio for the whole lifecycle</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23</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37.png"/>
          <p:cNvPicPr>
            <a:picLocks noChangeAspect="1"/>
          </p:cNvPicPr>
          <p:nvPr/>
        </p:nvPicPr>
        <p:blipFill>
          <a:blip r:embed="rId3"/>
          <a:stretch>
            <a:fillRect/>
          </a:stretch>
        </p:blipFill>
        <p:spPr>
          <a:xfrm>
            <a:off x="10488168" y="201168"/>
            <a:ext cx="1316736" cy="1316736"/>
          </a:xfrm>
          <a:prstGeom prst="rect">
            <a:avLst/>
          </a:prstGeom>
        </p:spPr>
      </p:pic>
      <p:sp>
        <p:nvSpPr>
          <p:cNvPr id="9" name="Rounded Rectangle 8"/>
          <p:cNvSpPr/>
          <p:nvPr/>
        </p:nvSpPr>
        <p:spPr>
          <a:xfrm>
            <a:off x="612648" y="1755648"/>
            <a:ext cx="3505200" cy="14173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1911095"/>
            <a:ext cx="310286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LIVE AGENT STREAM</a:t>
            </a:r>
          </a:p>
        </p:txBody>
      </p:sp>
      <p:sp>
        <p:nvSpPr>
          <p:cNvPr id="11" name="TextBox 10"/>
          <p:cNvSpPr txBox="1"/>
          <p:nvPr/>
        </p:nvSpPr>
        <p:spPr>
          <a:xfrm>
            <a:off x="813816" y="2198560"/>
            <a:ext cx="310286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Narration, file reads, a diff of every write and terminal output, as they happen — replayed after a reload.</a:t>
            </a:r>
          </a:p>
        </p:txBody>
      </p:sp>
      <p:sp>
        <p:nvSpPr>
          <p:cNvPr id="12" name="Rounded Rectangle 11"/>
          <p:cNvSpPr/>
          <p:nvPr/>
        </p:nvSpPr>
        <p:spPr>
          <a:xfrm>
            <a:off x="4346448" y="1755648"/>
            <a:ext cx="3505200" cy="14173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7616" y="1911095"/>
            <a:ext cx="310286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PROJECTS AND IMPORT</a:t>
            </a:r>
          </a:p>
        </p:txBody>
      </p:sp>
      <p:sp>
        <p:nvSpPr>
          <p:cNvPr id="14" name="TextBox 13"/>
          <p:cNvSpPr txBox="1"/>
          <p:nvPr/>
        </p:nvSpPr>
        <p:spPr>
          <a:xfrm>
            <a:off x="4547616" y="2198560"/>
            <a:ext cx="310286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Start from an idea or upload an existing codebase; every project resumes after a restart.</a:t>
            </a:r>
          </a:p>
        </p:txBody>
      </p:sp>
      <p:sp>
        <p:nvSpPr>
          <p:cNvPr id="15" name="Rounded Rectangle 14"/>
          <p:cNvSpPr/>
          <p:nvPr/>
        </p:nvSpPr>
        <p:spPr>
          <a:xfrm>
            <a:off x="8080248" y="1755648"/>
            <a:ext cx="3505200" cy="14173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1416" y="1911095"/>
            <a:ext cx="310286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MODEL CHOICE</a:t>
            </a:r>
          </a:p>
        </p:txBody>
      </p:sp>
      <p:sp>
        <p:nvSpPr>
          <p:cNvPr id="17" name="TextBox 16"/>
          <p:cNvSpPr txBox="1"/>
          <p:nvPr/>
        </p:nvSpPr>
        <p:spPr>
          <a:xfrm>
            <a:off x="8281416" y="2198560"/>
            <a:ext cx="310286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Any local Ollama model or Ollama Cloud, context size and thinking mode; switching models keeps the context.</a:t>
            </a:r>
          </a:p>
        </p:txBody>
      </p:sp>
      <p:sp>
        <p:nvSpPr>
          <p:cNvPr id="18" name="Rounded Rectangle 17"/>
          <p:cNvSpPr/>
          <p:nvPr/>
        </p:nvSpPr>
        <p:spPr>
          <a:xfrm>
            <a:off x="612648" y="3310128"/>
            <a:ext cx="3505200" cy="14173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 y="3465576"/>
            <a:ext cx="310286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SRS REVIEW SUITE</a:t>
            </a:r>
          </a:p>
        </p:txBody>
      </p:sp>
      <p:sp>
        <p:nvSpPr>
          <p:cNvPr id="20" name="TextBox 19"/>
          <p:cNvSpPr txBox="1"/>
          <p:nvPr/>
        </p:nvSpPr>
        <p:spPr>
          <a:xfrm>
            <a:off x="813816" y="3753040"/>
            <a:ext cx="310286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Overview counts, diagram viewer, wireframe grid, user-journey view, revisions and the approval dialog.</a:t>
            </a:r>
          </a:p>
        </p:txBody>
      </p:sp>
      <p:sp>
        <p:nvSpPr>
          <p:cNvPr id="21" name="Rounded Rectangle 20"/>
          <p:cNvSpPr/>
          <p:nvPr/>
        </p:nvSpPr>
        <p:spPr>
          <a:xfrm>
            <a:off x="4346448" y="3310128"/>
            <a:ext cx="3505200" cy="14173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47616" y="3465576"/>
            <a:ext cx="310286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LIVE PREVIEW</a:t>
            </a:r>
          </a:p>
        </p:txBody>
      </p:sp>
      <p:sp>
        <p:nvSpPr>
          <p:cNvPr id="23" name="TextBox 22"/>
          <p:cNvSpPr txBox="1"/>
          <p:nvPr/>
        </p:nvSpPr>
        <p:spPr>
          <a:xfrm>
            <a:off x="4547616" y="3753040"/>
            <a:ext cx="310286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A managed server per stack, the prototype in an iframe, and the E2E browser streamed while tests run.</a:t>
            </a:r>
          </a:p>
        </p:txBody>
      </p:sp>
      <p:sp>
        <p:nvSpPr>
          <p:cNvPr id="24" name="Rounded Rectangle 23"/>
          <p:cNvSpPr/>
          <p:nvPr/>
        </p:nvSpPr>
        <p:spPr>
          <a:xfrm>
            <a:off x="8080248" y="3310128"/>
            <a:ext cx="3505200" cy="14173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81416" y="3465576"/>
            <a:ext cx="310286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CODE PANE</a:t>
            </a:r>
          </a:p>
        </p:txBody>
      </p:sp>
      <p:sp>
        <p:nvSpPr>
          <p:cNvPr id="26" name="TextBox 25"/>
          <p:cNvSpPr txBox="1"/>
          <p:nvPr/>
        </p:nvSpPr>
        <p:spPr>
          <a:xfrm>
            <a:off x="8281416" y="3753040"/>
            <a:ext cx="310286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File tree and editor; a manual edit is recorded as a diff in the stream, like the agent's own.</a:t>
            </a:r>
          </a:p>
        </p:txBody>
      </p:sp>
      <p:sp>
        <p:nvSpPr>
          <p:cNvPr id="27" name="Rounded Rectangle 26"/>
          <p:cNvSpPr/>
          <p:nvPr/>
        </p:nvSpPr>
        <p:spPr>
          <a:xfrm>
            <a:off x="612648" y="4864608"/>
            <a:ext cx="3505200" cy="14173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6" y="5020056"/>
            <a:ext cx="310286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VISUAL INSPECTOR</a:t>
            </a:r>
          </a:p>
        </p:txBody>
      </p:sp>
      <p:sp>
        <p:nvSpPr>
          <p:cNvPr id="29" name="TextBox 28"/>
          <p:cNvSpPr txBox="1"/>
          <p:nvPr/>
        </p:nvSpPr>
        <p:spPr>
          <a:xfrm>
            <a:off x="813816" y="5307520"/>
            <a:ext cx="310286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Point at an element to restyle, move, duplicate or delete it — breakpoints, states, undo and redo.</a:t>
            </a:r>
          </a:p>
        </p:txBody>
      </p:sp>
      <p:sp>
        <p:nvSpPr>
          <p:cNvPr id="30" name="Rounded Rectangle 29"/>
          <p:cNvSpPr/>
          <p:nvPr/>
        </p:nvSpPr>
        <p:spPr>
          <a:xfrm>
            <a:off x="4346448" y="4864608"/>
            <a:ext cx="3505200" cy="14173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47616" y="5020056"/>
            <a:ext cx="310286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SITE PICTURES AND LOGO</a:t>
            </a:r>
          </a:p>
        </p:txBody>
      </p:sp>
      <p:sp>
        <p:nvSpPr>
          <p:cNvPr id="32" name="TextBox 31"/>
          <p:cNvSpPr txBox="1"/>
          <p:nvPr/>
        </p:nvSpPr>
        <p:spPr>
          <a:xfrm>
            <a:off x="4547616" y="5307520"/>
            <a:ext cx="310286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Upload brand images with usage notes; agents place them instead of placeholders.</a:t>
            </a:r>
          </a:p>
        </p:txBody>
      </p:sp>
      <p:sp>
        <p:nvSpPr>
          <p:cNvPr id="33" name="Rounded Rectangle 32"/>
          <p:cNvSpPr/>
          <p:nvPr/>
        </p:nvSpPr>
        <p:spPr>
          <a:xfrm>
            <a:off x="8080248" y="4864608"/>
            <a:ext cx="3505200" cy="14173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81416" y="5020056"/>
            <a:ext cx="310286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TEST &amp; DEPLOY DASHBOARDS</a:t>
            </a:r>
          </a:p>
        </p:txBody>
      </p:sp>
      <p:sp>
        <p:nvSpPr>
          <p:cNvPr id="35" name="TextBox 34"/>
          <p:cNvSpPr txBox="1"/>
          <p:nvPr/>
        </p:nvSpPr>
        <p:spPr>
          <a:xfrm>
            <a:off x="8281416" y="5307520"/>
            <a:ext cx="310286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14 testing views (unit, E2E, contracts, accessibility, performance, security, bugs, repairs…) and the Deploy panel.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ITERATION</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Every change is planned and versioned</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24</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23.png"/>
          <p:cNvPicPr>
            <a:picLocks noChangeAspect="1"/>
          </p:cNvPicPr>
          <p:nvPr/>
        </p:nvPicPr>
        <p:blipFill>
          <a:blip r:embed="rId3"/>
          <a:stretch>
            <a:fillRect/>
          </a:stretch>
        </p:blipFill>
        <p:spPr>
          <a:xfrm>
            <a:off x="10488168" y="201168"/>
            <a:ext cx="1316736" cy="1316736"/>
          </a:xfrm>
          <a:prstGeom prst="rect">
            <a:avLst/>
          </a:prstGeom>
        </p:spPr>
      </p:pic>
      <p:sp>
        <p:nvSpPr>
          <p:cNvPr id="9" name="TextBox 8"/>
          <p:cNvSpPr txBox="1"/>
          <p:nvPr/>
        </p:nvSpPr>
        <p:spPr>
          <a:xfrm>
            <a:off x="612648" y="182880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01</a:t>
            </a:r>
          </a:p>
        </p:txBody>
      </p:sp>
      <p:sp>
        <p:nvSpPr>
          <p:cNvPr id="10" name="TextBox 9"/>
          <p:cNvSpPr txBox="1"/>
          <p:nvPr/>
        </p:nvSpPr>
        <p:spPr>
          <a:xfrm>
            <a:off x="612648" y="2084832"/>
            <a:ext cx="1828800"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REQUEST</a:t>
            </a:r>
          </a:p>
        </p:txBody>
      </p:sp>
      <p:sp>
        <p:nvSpPr>
          <p:cNvPr id="11" name="TextBox 10"/>
          <p:cNvSpPr txBox="1"/>
          <p:nvPr/>
        </p:nvSpPr>
        <p:spPr>
          <a:xfrm>
            <a:off x="612648" y="2404046"/>
            <a:ext cx="182880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Type it in chat, ask for a new feature, or point at an element on screen.</a:t>
            </a:r>
          </a:p>
        </p:txBody>
      </p:sp>
      <p:sp>
        <p:nvSpPr>
          <p:cNvPr id="12" name="TextBox 11"/>
          <p:cNvSpPr txBox="1"/>
          <p:nvPr/>
        </p:nvSpPr>
        <p:spPr>
          <a:xfrm>
            <a:off x="2715768" y="182880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02</a:t>
            </a:r>
          </a:p>
        </p:txBody>
      </p:sp>
      <p:sp>
        <p:nvSpPr>
          <p:cNvPr id="13" name="TextBox 12"/>
          <p:cNvSpPr txBox="1"/>
          <p:nvPr/>
        </p:nvSpPr>
        <p:spPr>
          <a:xfrm>
            <a:off x="2715768" y="2084832"/>
            <a:ext cx="1828800"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PLAN</a:t>
            </a:r>
          </a:p>
        </p:txBody>
      </p:sp>
      <p:sp>
        <p:nvSpPr>
          <p:cNvPr id="14" name="TextBox 13"/>
          <p:cNvSpPr txBox="1"/>
          <p:nvPr/>
        </p:nvSpPr>
        <p:spPr>
          <a:xfrm>
            <a:off x="2715768" y="2404046"/>
            <a:ext cx="182880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Read-only: the agent maps the project, may ask a question, and shows a plan card.</a:t>
            </a:r>
          </a:p>
        </p:txBody>
      </p:sp>
      <p:sp>
        <p:nvSpPr>
          <p:cNvPr id="15" name="TextBox 14"/>
          <p:cNvSpPr txBox="1"/>
          <p:nvPr/>
        </p:nvSpPr>
        <p:spPr>
          <a:xfrm>
            <a:off x="4818888" y="182880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03</a:t>
            </a:r>
          </a:p>
        </p:txBody>
      </p:sp>
      <p:sp>
        <p:nvSpPr>
          <p:cNvPr id="16" name="TextBox 15"/>
          <p:cNvSpPr txBox="1"/>
          <p:nvPr/>
        </p:nvSpPr>
        <p:spPr>
          <a:xfrm>
            <a:off x="4818888" y="2084832"/>
            <a:ext cx="1828800"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DECIDE</a:t>
            </a:r>
          </a:p>
        </p:txBody>
      </p:sp>
      <p:sp>
        <p:nvSpPr>
          <p:cNvPr id="17" name="TextBox 16"/>
          <p:cNvSpPr txBox="1"/>
          <p:nvPr/>
        </p:nvSpPr>
        <p:spPr>
          <a:xfrm>
            <a:off x="4818888" y="2404046"/>
            <a:ext cx="182880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Approve, revise in your own words, or cancel. Nothing changes before approval.</a:t>
            </a:r>
          </a:p>
        </p:txBody>
      </p:sp>
      <p:sp>
        <p:nvSpPr>
          <p:cNvPr id="18" name="TextBox 17"/>
          <p:cNvSpPr txBox="1"/>
          <p:nvPr/>
        </p:nvSpPr>
        <p:spPr>
          <a:xfrm>
            <a:off x="6922007" y="1828800"/>
            <a:ext cx="822960" cy="219456"/>
          </a:xfrm>
          <a:prstGeom prst="rect">
            <a:avLst/>
          </a:prstGeom>
          <a:noFill/>
        </p:spPr>
        <p:txBody>
          <a:bodyPr wrap="square" lIns="0" rIns="0" tIns="0" bIns="0" anchor="t"/>
          <a:lstStyle/>
          <a:p>
            <a:pPr algn="l"/>
            <a:r>
              <a:rPr sz="1400" b="0" i="0">
                <a:solidFill>
                  <a:srgbClr val="1F6BFF"/>
                </a:solidFill>
                <a:latin typeface="Inter SemiBold"/>
                <a:ea typeface="Inter SemiBold"/>
                <a:cs typeface="Inter SemiBold"/>
              </a:rPr>
              <a:t>04</a:t>
            </a:r>
          </a:p>
        </p:txBody>
      </p:sp>
      <p:sp>
        <p:nvSpPr>
          <p:cNvPr id="19" name="TextBox 18"/>
          <p:cNvSpPr txBox="1"/>
          <p:nvPr/>
        </p:nvSpPr>
        <p:spPr>
          <a:xfrm>
            <a:off x="6922007" y="2084832"/>
            <a:ext cx="1828800" cy="246062"/>
          </a:xfrm>
          <a:prstGeom prst="rect">
            <a:avLst/>
          </a:prstGeom>
          <a:noFill/>
        </p:spPr>
        <p:txBody>
          <a:bodyPr wrap="square" lIns="0" rIns="0" tIns="0" bIns="0" anchor="t"/>
          <a:lstStyle/>
          <a:p>
            <a:pPr algn="l"/>
            <a:r>
              <a:rPr sz="1550" b="0" i="0" spc="15">
                <a:solidFill>
                  <a:srgbClr val="111111"/>
                </a:solidFill>
                <a:latin typeface="Outfit ExtraBold"/>
                <a:ea typeface="Outfit ExtraBold"/>
                <a:cs typeface="Outfit ExtraBold"/>
              </a:rPr>
              <a:t>EXECUTE</a:t>
            </a:r>
          </a:p>
        </p:txBody>
      </p:sp>
      <p:sp>
        <p:nvSpPr>
          <p:cNvPr id="20" name="TextBox 19"/>
          <p:cNvSpPr txBox="1"/>
          <p:nvPr/>
        </p:nvSpPr>
        <p:spPr>
          <a:xfrm>
            <a:off x="6922007" y="2404046"/>
            <a:ext cx="1828800" cy="1037907"/>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SRS, wireframes, prototype and code are updated where the request reaches them; focused tests run.</a:t>
            </a:r>
          </a:p>
        </p:txBody>
      </p:sp>
      <p:pic>
        <p:nvPicPr>
          <p:cNvPr id="21" name="Picture 20" descr="73.png"/>
          <p:cNvPicPr>
            <a:picLocks noChangeAspect="1"/>
          </p:cNvPicPr>
          <p:nvPr/>
        </p:nvPicPr>
        <p:blipFill>
          <a:blip r:embed="rId4"/>
          <a:stretch>
            <a:fillRect/>
          </a:stretch>
        </p:blipFill>
        <p:spPr>
          <a:xfrm>
            <a:off x="9326880" y="1691640"/>
            <a:ext cx="1920240" cy="2560320"/>
          </a:xfrm>
          <a:prstGeom prst="rect">
            <a:avLst/>
          </a:prstGeom>
        </p:spPr>
      </p:pic>
      <p:sp>
        <p:nvSpPr>
          <p:cNvPr id="22" name="Rounded Rectangle 21"/>
          <p:cNvSpPr/>
          <p:nvPr/>
        </p:nvSpPr>
        <p:spPr>
          <a:xfrm>
            <a:off x="612648" y="4434840"/>
            <a:ext cx="3474720" cy="192024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4617720"/>
            <a:ext cx="3017520" cy="230187"/>
          </a:xfrm>
          <a:prstGeom prst="rect">
            <a:avLst/>
          </a:prstGeom>
          <a:noFill/>
        </p:spPr>
        <p:txBody>
          <a:bodyPr wrap="square" lIns="0" rIns="0" tIns="0" bIns="0" anchor="t"/>
          <a:lstStyle/>
          <a:p>
            <a:pPr algn="l"/>
            <a:r>
              <a:rPr sz="1450" b="0" i="0" spc="14">
                <a:solidFill>
                  <a:srgbClr val="111111"/>
                </a:solidFill>
                <a:latin typeface="Outfit ExtraBold"/>
                <a:ea typeface="Outfit ExtraBold"/>
                <a:cs typeface="Outfit ExtraBold"/>
              </a:rPr>
              <a:t>VERSION HISTORY</a:t>
            </a:r>
          </a:p>
        </p:txBody>
      </p:sp>
      <p:sp>
        <p:nvSpPr>
          <p:cNvPr id="24" name="TextBox 23"/>
          <p:cNvSpPr txBox="1"/>
          <p:nvPr/>
        </p:nvSpPr>
        <p:spPr>
          <a:xfrm>
            <a:off x="841248" y="4921059"/>
            <a:ext cx="3017520" cy="1037907"/>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Each approved update becomes v1, v2… in JSON and Markdown: what was asked, the plan, files added, changed or removed, and test counts before and after.</a:t>
            </a:r>
          </a:p>
        </p:txBody>
      </p:sp>
      <p:sp>
        <p:nvSpPr>
          <p:cNvPr id="25" name="Rounded Rectangle 24"/>
          <p:cNvSpPr/>
          <p:nvPr/>
        </p:nvSpPr>
        <p:spPr>
          <a:xfrm>
            <a:off x="4361688" y="4434840"/>
            <a:ext cx="3474720" cy="192024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0288" y="4617720"/>
            <a:ext cx="3017520" cy="230187"/>
          </a:xfrm>
          <a:prstGeom prst="rect">
            <a:avLst/>
          </a:prstGeom>
          <a:noFill/>
        </p:spPr>
        <p:txBody>
          <a:bodyPr wrap="square" lIns="0" rIns="0" tIns="0" bIns="0" anchor="t"/>
          <a:lstStyle/>
          <a:p>
            <a:pPr algn="l"/>
            <a:r>
              <a:rPr sz="1450" b="0" i="0" spc="14">
                <a:solidFill>
                  <a:srgbClr val="111111"/>
                </a:solidFill>
                <a:latin typeface="Outfit ExtraBold"/>
                <a:ea typeface="Outfit ExtraBold"/>
                <a:cs typeface="Outfit ExtraBold"/>
              </a:rPr>
              <a:t>RESULTS PRESERVED</a:t>
            </a:r>
          </a:p>
        </p:txBody>
      </p:sp>
      <p:sp>
        <p:nvSpPr>
          <p:cNvPr id="27" name="TextBox 26"/>
          <p:cNvSpPr txBox="1"/>
          <p:nvPr/>
        </p:nvSpPr>
        <p:spPr>
          <a:xfrm>
            <a:off x="4590288" y="4921059"/>
            <a:ext cx="301752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Test records are copied before an update runs, so a change can never cost the project the results it already had.</a:t>
            </a:r>
          </a:p>
        </p:txBody>
      </p:sp>
      <p:sp>
        <p:nvSpPr>
          <p:cNvPr id="28" name="Rounded Rectangle 27"/>
          <p:cNvSpPr/>
          <p:nvPr/>
        </p:nvSpPr>
        <p:spPr>
          <a:xfrm>
            <a:off x="8110728" y="4434840"/>
            <a:ext cx="3474720" cy="192024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9328" y="4617720"/>
            <a:ext cx="3017520" cy="230187"/>
          </a:xfrm>
          <a:prstGeom prst="rect">
            <a:avLst/>
          </a:prstGeom>
          <a:noFill/>
        </p:spPr>
        <p:txBody>
          <a:bodyPr wrap="square" lIns="0" rIns="0" tIns="0" bIns="0" anchor="t"/>
          <a:lstStyle/>
          <a:p>
            <a:pPr algn="l"/>
            <a:r>
              <a:rPr sz="1450" b="0" i="0" spc="14">
                <a:solidFill>
                  <a:srgbClr val="111111"/>
                </a:solidFill>
                <a:latin typeface="Outfit ExtraBold"/>
                <a:ea typeface="Outfit ExtraBold"/>
                <a:cs typeface="Outfit ExtraBold"/>
              </a:rPr>
              <a:t>RESUME &amp; SAFE CHAT</a:t>
            </a:r>
          </a:p>
        </p:txBody>
      </p:sp>
      <p:sp>
        <p:nvSpPr>
          <p:cNvPr id="30" name="TextBox 29"/>
          <p:cNvSpPr txBox="1"/>
          <p:nvPr/>
        </p:nvSpPr>
        <p:spPr>
          <a:xfrm>
            <a:off x="8339328" y="4921059"/>
            <a:ext cx="3017520" cy="839470"/>
          </a:xfrm>
          <a:prstGeom prst="rect">
            <a:avLst/>
          </a:prstGeom>
          <a:noFill/>
        </p:spPr>
        <p:txBody>
          <a:bodyPr wrap="square" lIns="0" rIns="0" tIns="0" bIns="0" anchor="t"/>
          <a:lstStyle/>
          <a:p>
            <a:pPr algn="l">
              <a:lnSpc>
                <a:spcPct val="105000"/>
              </a:lnSpc>
            </a:pPr>
            <a:r>
              <a:rPr sz="1250" b="0" i="0">
                <a:solidFill>
                  <a:srgbClr val="1F2937"/>
                </a:solidFill>
                <a:latin typeface="Inter"/>
                <a:ea typeface="Inter"/>
                <a:cs typeface="Inter"/>
              </a:rPr>
              <a:t>Plans and questions survive restarts, and resume continues from where the project stopped. A pasted key or connection string is refused.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TRUST AND SAFETY</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Security by design</a:t>
            </a:r>
          </a:p>
        </p:txBody>
      </p:sp>
      <p:sp>
        <p:nvSpPr>
          <p:cNvPr id="6" name="TextBox 5"/>
          <p:cNvSpPr txBox="1"/>
          <p:nvPr/>
        </p:nvSpPr>
        <p:spPr>
          <a:xfrm>
            <a:off x="612648" y="1554480"/>
            <a:ext cx="9692640" cy="310896"/>
          </a:xfrm>
          <a:prstGeom prst="rect">
            <a:avLst/>
          </a:prstGeom>
          <a:noFill/>
        </p:spPr>
        <p:txBody>
          <a:bodyPr wrap="square" lIns="0" rIns="0" tIns="0" bIns="0" anchor="t"/>
          <a:lstStyle/>
          <a:p>
            <a:pPr algn="l"/>
            <a:r>
              <a:rPr sz="1600" b="0" i="0">
                <a:solidFill>
                  <a:srgbClr val="1F2937"/>
                </a:solidFill>
                <a:latin typeface="Inter"/>
                <a:ea typeface="Inter"/>
                <a:cs typeface="Inter"/>
              </a:rPr>
              <a:t>Guardrails are enforced in code, not only requested in prompts.</a:t>
            </a:r>
          </a:p>
        </p:txBody>
      </p:sp>
      <p:sp>
        <p:nvSpPr>
          <p:cNvPr id="7" name="TextBox 6"/>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25</a:t>
            </a:r>
          </a:p>
        </p:txBody>
      </p:sp>
      <p:sp>
        <p:nvSpPr>
          <p:cNvPr id="8" name="TextBox 7"/>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9" name="Picture 8" descr="56.png"/>
          <p:cNvPicPr>
            <a:picLocks noChangeAspect="1"/>
          </p:cNvPicPr>
          <p:nvPr/>
        </p:nvPicPr>
        <p:blipFill>
          <a:blip r:embed="rId3"/>
          <a:stretch>
            <a:fillRect/>
          </a:stretch>
        </p:blipFill>
        <p:spPr>
          <a:xfrm>
            <a:off x="10488168" y="201168"/>
            <a:ext cx="1316736" cy="1316736"/>
          </a:xfrm>
          <a:prstGeom prst="rect">
            <a:avLst/>
          </a:prstGeom>
        </p:spPr>
      </p:pic>
      <p:sp>
        <p:nvSpPr>
          <p:cNvPr id="10" name="Rounded Rectangle 9"/>
          <p:cNvSpPr/>
          <p:nvPr/>
        </p:nvSpPr>
        <p:spPr>
          <a:xfrm>
            <a:off x="612648" y="2057400"/>
            <a:ext cx="2606040" cy="18288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2240280"/>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SANDBOXED FILES</a:t>
            </a:r>
          </a:p>
        </p:txBody>
      </p:sp>
      <p:sp>
        <p:nvSpPr>
          <p:cNvPr id="12" name="TextBox 11"/>
          <p:cNvSpPr txBox="1"/>
          <p:nvPr/>
        </p:nvSpPr>
        <p:spPr>
          <a:xfrm>
            <a:off x="813816" y="2527744"/>
            <a:ext cx="220370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Every path is resolved inside the project; a path that escapes it is refused.</a:t>
            </a:r>
          </a:p>
        </p:txBody>
      </p:sp>
      <p:sp>
        <p:nvSpPr>
          <p:cNvPr id="13" name="Rounded Rectangle 12"/>
          <p:cNvSpPr/>
          <p:nvPr/>
        </p:nvSpPr>
        <p:spPr>
          <a:xfrm>
            <a:off x="3401568" y="2057400"/>
            <a:ext cx="2606040" cy="18288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02736" y="2240280"/>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SOURCE GUARD</a:t>
            </a:r>
          </a:p>
        </p:txBody>
      </p:sp>
      <p:sp>
        <p:nvSpPr>
          <p:cNvPr id="15" name="TextBox 14"/>
          <p:cNvSpPr txBox="1"/>
          <p:nvPr/>
        </p:nvSpPr>
        <p:spPr>
          <a:xfrm>
            <a:off x="3602736" y="2527744"/>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AgentForge's own code is snapshotted around every command and restored if a project command changes it.</a:t>
            </a:r>
          </a:p>
        </p:txBody>
      </p:sp>
      <p:sp>
        <p:nvSpPr>
          <p:cNvPr id="16" name="Rounded Rectangle 15"/>
          <p:cNvSpPr/>
          <p:nvPr/>
        </p:nvSpPr>
        <p:spPr>
          <a:xfrm>
            <a:off x="6190488" y="2057400"/>
            <a:ext cx="2606040" cy="18288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6" y="2240280"/>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PROCESS SAFETY</a:t>
            </a:r>
          </a:p>
        </p:txBody>
      </p:sp>
      <p:sp>
        <p:nvSpPr>
          <p:cNvPr id="18" name="TextBox 17"/>
          <p:cNvSpPr txBox="1"/>
          <p:nvPr/>
        </p:nvSpPr>
        <p:spPr>
          <a:xfrm>
            <a:off x="6391656" y="2527744"/>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Agents cannot kill every Node process or run a dev server; only the preview's own PID is ever stopped.</a:t>
            </a:r>
          </a:p>
        </p:txBody>
      </p:sp>
      <p:sp>
        <p:nvSpPr>
          <p:cNvPr id="19" name="Rounded Rectangle 18"/>
          <p:cNvSpPr/>
          <p:nvPr/>
        </p:nvSpPr>
        <p:spPr>
          <a:xfrm>
            <a:off x="8979408" y="2057400"/>
            <a:ext cx="2606040" cy="18288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0576" y="2240280"/>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SECRET GUARD</a:t>
            </a:r>
          </a:p>
        </p:txBody>
      </p:sp>
      <p:sp>
        <p:nvSpPr>
          <p:cNvPr id="21" name="TextBox 20"/>
          <p:cNvSpPr txBox="1"/>
          <p:nvPr/>
        </p:nvSpPr>
        <p:spPr>
          <a:xfrm>
            <a:off x="9180576" y="2527744"/>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Credentials typed into chat are detected and refused; command and monitor output is masked.</a:t>
            </a:r>
          </a:p>
        </p:txBody>
      </p:sp>
      <p:sp>
        <p:nvSpPr>
          <p:cNvPr id="22" name="Rounded Rectangle 21"/>
          <p:cNvSpPr/>
          <p:nvPr/>
        </p:nvSpPr>
        <p:spPr>
          <a:xfrm>
            <a:off x="612648" y="4050791"/>
            <a:ext cx="2606040" cy="18288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 y="4233672"/>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ENCRYPTED KEYS</a:t>
            </a:r>
          </a:p>
        </p:txBody>
      </p:sp>
      <p:sp>
        <p:nvSpPr>
          <p:cNvPr id="24" name="TextBox 23"/>
          <p:cNvSpPr txBox="1"/>
          <p:nvPr/>
        </p:nvSpPr>
        <p:spPr>
          <a:xfrm>
            <a:off x="813816" y="4521136"/>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Integration keys are encrypted per user (Fernet); the builder sees only a secret-free contract.</a:t>
            </a:r>
          </a:p>
        </p:txBody>
      </p:sp>
      <p:sp>
        <p:nvSpPr>
          <p:cNvPr id="25" name="Rounded Rectangle 24"/>
          <p:cNvSpPr/>
          <p:nvPr/>
        </p:nvSpPr>
        <p:spPr>
          <a:xfrm>
            <a:off x="3401568" y="4050791"/>
            <a:ext cx="2606040" cy="18288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02736" y="4233672"/>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DEPLOY VARIABLES</a:t>
            </a:r>
          </a:p>
        </p:txBody>
      </p:sp>
      <p:sp>
        <p:nvSpPr>
          <p:cNvPr id="27" name="TextBox 26"/>
          <p:cNvSpPr txBox="1"/>
          <p:nvPr/>
        </p:nvSpPr>
        <p:spPr>
          <a:xfrm>
            <a:off x="3602736" y="4521136"/>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Saved once, shown only as names and last 4 characters, injected only into deploy commands.</a:t>
            </a:r>
          </a:p>
        </p:txBody>
      </p:sp>
      <p:sp>
        <p:nvSpPr>
          <p:cNvPr id="28" name="Rounded Rectangle 27"/>
          <p:cNvSpPr/>
          <p:nvPr/>
        </p:nvSpPr>
        <p:spPr>
          <a:xfrm>
            <a:off x="6190488" y="4050791"/>
            <a:ext cx="2606040" cy="18288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91656" y="4233672"/>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BROWSER SIGN-IN</a:t>
            </a:r>
          </a:p>
        </p:txBody>
      </p:sp>
      <p:sp>
        <p:nvSpPr>
          <p:cNvPr id="30" name="TextBox 29"/>
          <p:cNvSpPr txBox="1"/>
          <p:nvPr/>
        </p:nvSpPr>
        <p:spPr>
          <a:xfrm>
            <a:off x="6391656" y="4521136"/>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Provider CLIs sign in through their own browser flow or GitHub's device flow — no long-lived token is pasted.</a:t>
            </a:r>
          </a:p>
        </p:txBody>
      </p:sp>
      <p:sp>
        <p:nvSpPr>
          <p:cNvPr id="31" name="Rounded Rectangle 30"/>
          <p:cNvSpPr/>
          <p:nvPr/>
        </p:nvSpPr>
        <p:spPr>
          <a:xfrm>
            <a:off x="8979408" y="4050791"/>
            <a:ext cx="2606040" cy="182880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80576" y="4233672"/>
            <a:ext cx="2203704"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PASSIVE SECURITY TESTS</a:t>
            </a:r>
          </a:p>
        </p:txBody>
      </p:sp>
      <p:sp>
        <p:nvSpPr>
          <p:cNvPr id="33" name="TextBox 32"/>
          <p:cNvSpPr txBox="1"/>
          <p:nvPr/>
        </p:nvSpPr>
        <p:spPr>
          <a:xfrm>
            <a:off x="9180576" y="4521136"/>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ZAP sends GET requests only, to the isolated local server — never to production or third-party hosts.</a:t>
            </a:r>
          </a:p>
        </p:txBody>
      </p:sp>
      <p:sp>
        <p:nvSpPr>
          <p:cNvPr id="34" name="Rounded Rectangle 33"/>
          <p:cNvSpPr/>
          <p:nvPr/>
        </p:nvSpPr>
        <p:spPr>
          <a:xfrm>
            <a:off x="612648" y="6035040"/>
            <a:ext cx="10972800" cy="329184"/>
          </a:xfrm>
          <a:prstGeom prst="roundRect">
            <a:avLst>
              <a:gd name="adj" fmla="val 25000"/>
            </a:avLst>
          </a:prstGeom>
          <a:solidFill>
            <a:srgbClr val="CCD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6035040"/>
            <a:ext cx="10698480" cy="329184"/>
          </a:xfrm>
          <a:prstGeom prst="rect">
            <a:avLst/>
          </a:prstGeom>
          <a:noFill/>
        </p:spPr>
        <p:txBody>
          <a:bodyPr wrap="square" lIns="0" rIns="0" tIns="0" bIns="0" anchor="ctr"/>
          <a:lstStyle/>
          <a:p>
            <a:pPr algn="l"/>
            <a:r>
              <a:rPr sz="1050" b="0" i="0" spc="220">
                <a:solidFill>
                  <a:srgbClr val="111111"/>
                </a:solidFill>
                <a:latin typeface="Urbanist SemiBold"/>
                <a:ea typeface="Urbanist SemiBold"/>
                <a:cs typeface="Urbanist SemiBold"/>
              </a:rPr>
              <a:t>EACH GUARDRAIL IS ENFORCED BY THE BACKEND — NONE DEPENDS ON THE MODEL BEHAVING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TECHNOLOGY</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Toolchain: what each tool does</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26</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21.png"/>
          <p:cNvPicPr>
            <a:picLocks noChangeAspect="1"/>
          </p:cNvPicPr>
          <p:nvPr/>
        </p:nvPicPr>
        <p:blipFill>
          <a:blip r:embed="rId3"/>
          <a:stretch>
            <a:fillRect/>
          </a:stretch>
        </p:blipFill>
        <p:spPr>
          <a:xfrm>
            <a:off x="10488168" y="201168"/>
            <a:ext cx="1316736" cy="1316736"/>
          </a:xfrm>
          <a:prstGeom prst="rect">
            <a:avLst/>
          </a:prstGeom>
        </p:spPr>
      </p:pic>
      <p:pic>
        <p:nvPicPr>
          <p:cNvPr id="9" name="Picture 8" descr="11.png"/>
          <p:cNvPicPr>
            <a:picLocks noChangeAspect="1"/>
          </p:cNvPicPr>
          <p:nvPr/>
        </p:nvPicPr>
        <p:blipFill>
          <a:blip r:embed="rId4"/>
          <a:stretch>
            <a:fillRect/>
          </a:stretch>
        </p:blipFill>
        <p:spPr>
          <a:xfrm>
            <a:off x="989584" y="1691640"/>
            <a:ext cx="384048" cy="384048"/>
          </a:xfrm>
          <a:prstGeom prst="rect">
            <a:avLst/>
          </a:prstGeom>
        </p:spPr>
      </p:pic>
      <p:sp>
        <p:nvSpPr>
          <p:cNvPr id="10" name="TextBox 9"/>
          <p:cNvSpPr txBox="1"/>
          <p:nvPr/>
        </p:nvSpPr>
        <p:spPr>
          <a:xfrm>
            <a:off x="612648" y="2103120"/>
            <a:ext cx="1137920" cy="182880"/>
          </a:xfrm>
          <a:prstGeom prst="rect">
            <a:avLst/>
          </a:prstGeom>
          <a:noFill/>
        </p:spPr>
        <p:txBody>
          <a:bodyPr wrap="square" lIns="0" rIns="0" tIns="0" bIns="0" anchor="t"/>
          <a:lstStyle/>
          <a:p>
            <a:pPr algn="ctr"/>
            <a:r>
              <a:rPr sz="1000" b="0" i="0">
                <a:solidFill>
                  <a:srgbClr val="1F2937"/>
                </a:solidFill>
                <a:latin typeface="Inter"/>
                <a:ea typeface="Inter"/>
                <a:cs typeface="Inter"/>
              </a:rPr>
              <a:t>Ollama</a:t>
            </a:r>
          </a:p>
        </p:txBody>
      </p:sp>
      <p:pic>
        <p:nvPicPr>
          <p:cNvPr id="11" name="Picture 10" descr="12.png"/>
          <p:cNvPicPr>
            <a:picLocks noChangeAspect="1"/>
          </p:cNvPicPr>
          <p:nvPr/>
        </p:nvPicPr>
        <p:blipFill>
          <a:blip r:embed="rId5"/>
          <a:stretch>
            <a:fillRect/>
          </a:stretch>
        </p:blipFill>
        <p:spPr>
          <a:xfrm>
            <a:off x="2218944" y="1691640"/>
            <a:ext cx="384048" cy="384048"/>
          </a:xfrm>
          <a:prstGeom prst="rect">
            <a:avLst/>
          </a:prstGeom>
        </p:spPr>
      </p:pic>
      <p:sp>
        <p:nvSpPr>
          <p:cNvPr id="12" name="TextBox 11"/>
          <p:cNvSpPr txBox="1"/>
          <p:nvPr/>
        </p:nvSpPr>
        <p:spPr>
          <a:xfrm>
            <a:off x="1842008" y="2103120"/>
            <a:ext cx="1137920" cy="182880"/>
          </a:xfrm>
          <a:prstGeom prst="rect">
            <a:avLst/>
          </a:prstGeom>
          <a:noFill/>
        </p:spPr>
        <p:txBody>
          <a:bodyPr wrap="square" lIns="0" rIns="0" tIns="0" bIns="0" anchor="t"/>
          <a:lstStyle/>
          <a:p>
            <a:pPr algn="ctr"/>
            <a:r>
              <a:rPr sz="1000" b="0" i="0">
                <a:solidFill>
                  <a:srgbClr val="1F2937"/>
                </a:solidFill>
                <a:latin typeface="Inter"/>
                <a:ea typeface="Inter"/>
                <a:cs typeface="Inter"/>
              </a:rPr>
              <a:t>Python</a:t>
            </a:r>
          </a:p>
        </p:txBody>
      </p:sp>
      <p:pic>
        <p:nvPicPr>
          <p:cNvPr id="13" name="Picture 12" descr="13.png"/>
          <p:cNvPicPr>
            <a:picLocks noChangeAspect="1"/>
          </p:cNvPicPr>
          <p:nvPr/>
        </p:nvPicPr>
        <p:blipFill>
          <a:blip r:embed="rId6"/>
          <a:stretch>
            <a:fillRect/>
          </a:stretch>
        </p:blipFill>
        <p:spPr>
          <a:xfrm>
            <a:off x="3448304" y="1691640"/>
            <a:ext cx="384048" cy="384048"/>
          </a:xfrm>
          <a:prstGeom prst="rect">
            <a:avLst/>
          </a:prstGeom>
        </p:spPr>
      </p:pic>
      <p:sp>
        <p:nvSpPr>
          <p:cNvPr id="14" name="TextBox 13"/>
          <p:cNvSpPr txBox="1"/>
          <p:nvPr/>
        </p:nvSpPr>
        <p:spPr>
          <a:xfrm>
            <a:off x="3071368" y="2103120"/>
            <a:ext cx="1137920" cy="182880"/>
          </a:xfrm>
          <a:prstGeom prst="rect">
            <a:avLst/>
          </a:prstGeom>
          <a:noFill/>
        </p:spPr>
        <p:txBody>
          <a:bodyPr wrap="square" lIns="0" rIns="0" tIns="0" bIns="0" anchor="t"/>
          <a:lstStyle/>
          <a:p>
            <a:pPr algn="ctr"/>
            <a:r>
              <a:rPr sz="1000" b="0" i="0">
                <a:solidFill>
                  <a:srgbClr val="1F2937"/>
                </a:solidFill>
                <a:latin typeface="Inter"/>
                <a:ea typeface="Inter"/>
                <a:cs typeface="Inter"/>
              </a:rPr>
              <a:t>Next.js</a:t>
            </a:r>
          </a:p>
        </p:txBody>
      </p:sp>
      <p:pic>
        <p:nvPicPr>
          <p:cNvPr id="15" name="Picture 14" descr="15.png"/>
          <p:cNvPicPr>
            <a:picLocks noChangeAspect="1"/>
          </p:cNvPicPr>
          <p:nvPr/>
        </p:nvPicPr>
        <p:blipFill>
          <a:blip r:embed="rId7"/>
          <a:stretch>
            <a:fillRect/>
          </a:stretch>
        </p:blipFill>
        <p:spPr>
          <a:xfrm>
            <a:off x="4677664" y="1691640"/>
            <a:ext cx="384048" cy="384048"/>
          </a:xfrm>
          <a:prstGeom prst="rect">
            <a:avLst/>
          </a:prstGeom>
        </p:spPr>
      </p:pic>
      <p:sp>
        <p:nvSpPr>
          <p:cNvPr id="16" name="TextBox 15"/>
          <p:cNvSpPr txBox="1"/>
          <p:nvPr/>
        </p:nvSpPr>
        <p:spPr>
          <a:xfrm>
            <a:off x="4300728" y="2103120"/>
            <a:ext cx="1137920" cy="182880"/>
          </a:xfrm>
          <a:prstGeom prst="rect">
            <a:avLst/>
          </a:prstGeom>
          <a:noFill/>
        </p:spPr>
        <p:txBody>
          <a:bodyPr wrap="square" lIns="0" rIns="0" tIns="0" bIns="0" anchor="t"/>
          <a:lstStyle/>
          <a:p>
            <a:pPr algn="ctr"/>
            <a:r>
              <a:rPr sz="1000" b="0" i="0">
                <a:solidFill>
                  <a:srgbClr val="1F2937"/>
                </a:solidFill>
                <a:latin typeface="Inter"/>
                <a:ea typeface="Inter"/>
                <a:cs typeface="Inter"/>
              </a:rPr>
              <a:t>MongoDB</a:t>
            </a:r>
          </a:p>
        </p:txBody>
      </p:sp>
      <p:pic>
        <p:nvPicPr>
          <p:cNvPr id="17" name="Picture 16" descr="16.png"/>
          <p:cNvPicPr>
            <a:picLocks noChangeAspect="1"/>
          </p:cNvPicPr>
          <p:nvPr/>
        </p:nvPicPr>
        <p:blipFill>
          <a:blip r:embed="rId8"/>
          <a:stretch>
            <a:fillRect/>
          </a:stretch>
        </p:blipFill>
        <p:spPr>
          <a:xfrm>
            <a:off x="5907024" y="1691640"/>
            <a:ext cx="384048" cy="384048"/>
          </a:xfrm>
          <a:prstGeom prst="rect">
            <a:avLst/>
          </a:prstGeom>
        </p:spPr>
      </p:pic>
      <p:sp>
        <p:nvSpPr>
          <p:cNvPr id="18" name="TextBox 17"/>
          <p:cNvSpPr txBox="1"/>
          <p:nvPr/>
        </p:nvSpPr>
        <p:spPr>
          <a:xfrm>
            <a:off x="5530088" y="2103120"/>
            <a:ext cx="1137920" cy="182880"/>
          </a:xfrm>
          <a:prstGeom prst="rect">
            <a:avLst/>
          </a:prstGeom>
          <a:noFill/>
        </p:spPr>
        <p:txBody>
          <a:bodyPr wrap="square" lIns="0" rIns="0" tIns="0" bIns="0" anchor="t"/>
          <a:lstStyle/>
          <a:p>
            <a:pPr algn="ctr"/>
            <a:r>
              <a:rPr sz="1000" b="0" i="0">
                <a:solidFill>
                  <a:srgbClr val="1F2937"/>
                </a:solidFill>
                <a:latin typeface="Inter"/>
                <a:ea typeface="Inter"/>
                <a:cs typeface="Inter"/>
              </a:rPr>
              <a:t>Vitest</a:t>
            </a:r>
          </a:p>
        </p:txBody>
      </p:sp>
      <p:pic>
        <p:nvPicPr>
          <p:cNvPr id="19" name="Picture 18" descr="17.png"/>
          <p:cNvPicPr>
            <a:picLocks noChangeAspect="1"/>
          </p:cNvPicPr>
          <p:nvPr/>
        </p:nvPicPr>
        <p:blipFill>
          <a:blip r:embed="rId9"/>
          <a:stretch>
            <a:fillRect/>
          </a:stretch>
        </p:blipFill>
        <p:spPr>
          <a:xfrm>
            <a:off x="7136384" y="1691640"/>
            <a:ext cx="384048" cy="384048"/>
          </a:xfrm>
          <a:prstGeom prst="rect">
            <a:avLst/>
          </a:prstGeom>
        </p:spPr>
      </p:pic>
      <p:sp>
        <p:nvSpPr>
          <p:cNvPr id="20" name="TextBox 19"/>
          <p:cNvSpPr txBox="1"/>
          <p:nvPr/>
        </p:nvSpPr>
        <p:spPr>
          <a:xfrm>
            <a:off x="6759448" y="2103120"/>
            <a:ext cx="1137920" cy="182880"/>
          </a:xfrm>
          <a:prstGeom prst="rect">
            <a:avLst/>
          </a:prstGeom>
          <a:noFill/>
        </p:spPr>
        <p:txBody>
          <a:bodyPr wrap="square" lIns="0" rIns="0" tIns="0" bIns="0" anchor="t"/>
          <a:lstStyle/>
          <a:p>
            <a:pPr algn="ctr"/>
            <a:r>
              <a:rPr sz="1000" b="0" i="0">
                <a:solidFill>
                  <a:srgbClr val="1F2937"/>
                </a:solidFill>
                <a:latin typeface="Inter"/>
                <a:ea typeface="Inter"/>
                <a:cs typeface="Inter"/>
              </a:rPr>
              <a:t>Playwright</a:t>
            </a:r>
          </a:p>
        </p:txBody>
      </p:sp>
      <p:pic>
        <p:nvPicPr>
          <p:cNvPr id="21" name="Picture 20" descr="18.png"/>
          <p:cNvPicPr>
            <a:picLocks noChangeAspect="1"/>
          </p:cNvPicPr>
          <p:nvPr/>
        </p:nvPicPr>
        <p:blipFill>
          <a:blip r:embed="rId10"/>
          <a:stretch>
            <a:fillRect/>
          </a:stretch>
        </p:blipFill>
        <p:spPr>
          <a:xfrm>
            <a:off x="8365744" y="1691640"/>
            <a:ext cx="384048" cy="384048"/>
          </a:xfrm>
          <a:prstGeom prst="rect">
            <a:avLst/>
          </a:prstGeom>
        </p:spPr>
      </p:pic>
      <p:sp>
        <p:nvSpPr>
          <p:cNvPr id="22" name="TextBox 21"/>
          <p:cNvSpPr txBox="1"/>
          <p:nvPr/>
        </p:nvSpPr>
        <p:spPr>
          <a:xfrm>
            <a:off x="7988808" y="2103120"/>
            <a:ext cx="1137920" cy="182880"/>
          </a:xfrm>
          <a:prstGeom prst="rect">
            <a:avLst/>
          </a:prstGeom>
          <a:noFill/>
        </p:spPr>
        <p:txBody>
          <a:bodyPr wrap="square" lIns="0" rIns="0" tIns="0" bIns="0" anchor="t"/>
          <a:lstStyle/>
          <a:p>
            <a:pPr algn="ctr"/>
            <a:r>
              <a:rPr sz="1000" b="0" i="0">
                <a:solidFill>
                  <a:srgbClr val="1F2937"/>
                </a:solidFill>
                <a:latin typeface="Inter"/>
                <a:ea typeface="Inter"/>
                <a:cs typeface="Inter"/>
              </a:rPr>
              <a:t>Lighthouse</a:t>
            </a:r>
          </a:p>
        </p:txBody>
      </p:sp>
      <p:pic>
        <p:nvPicPr>
          <p:cNvPr id="23" name="Picture 22" descr="19.png"/>
          <p:cNvPicPr>
            <a:picLocks noChangeAspect="1"/>
          </p:cNvPicPr>
          <p:nvPr/>
        </p:nvPicPr>
        <p:blipFill>
          <a:blip r:embed="rId11"/>
          <a:stretch>
            <a:fillRect/>
          </a:stretch>
        </p:blipFill>
        <p:spPr>
          <a:xfrm>
            <a:off x="9595104" y="1691640"/>
            <a:ext cx="384048" cy="384048"/>
          </a:xfrm>
          <a:prstGeom prst="rect">
            <a:avLst/>
          </a:prstGeom>
        </p:spPr>
      </p:pic>
      <p:sp>
        <p:nvSpPr>
          <p:cNvPr id="24" name="TextBox 23"/>
          <p:cNvSpPr txBox="1"/>
          <p:nvPr/>
        </p:nvSpPr>
        <p:spPr>
          <a:xfrm>
            <a:off x="9218168" y="2103120"/>
            <a:ext cx="1137920" cy="182880"/>
          </a:xfrm>
          <a:prstGeom prst="rect">
            <a:avLst/>
          </a:prstGeom>
          <a:noFill/>
        </p:spPr>
        <p:txBody>
          <a:bodyPr wrap="square" lIns="0" rIns="0" tIns="0" bIns="0" anchor="t"/>
          <a:lstStyle/>
          <a:p>
            <a:pPr algn="ctr"/>
            <a:r>
              <a:rPr sz="1000" b="0" i="0">
                <a:solidFill>
                  <a:srgbClr val="1F2937"/>
                </a:solidFill>
                <a:latin typeface="Inter"/>
                <a:ea typeface="Inter"/>
                <a:cs typeface="Inter"/>
              </a:rPr>
              <a:t>OWASP ZAP</a:t>
            </a:r>
          </a:p>
        </p:txBody>
      </p:sp>
      <p:pic>
        <p:nvPicPr>
          <p:cNvPr id="25" name="Picture 24" descr="20.png"/>
          <p:cNvPicPr>
            <a:picLocks noChangeAspect="1"/>
          </p:cNvPicPr>
          <p:nvPr/>
        </p:nvPicPr>
        <p:blipFill>
          <a:blip r:embed="rId12"/>
          <a:stretch>
            <a:fillRect/>
          </a:stretch>
        </p:blipFill>
        <p:spPr>
          <a:xfrm>
            <a:off x="10824464" y="1691640"/>
            <a:ext cx="384048" cy="384048"/>
          </a:xfrm>
          <a:prstGeom prst="rect">
            <a:avLst/>
          </a:prstGeom>
        </p:spPr>
      </p:pic>
      <p:sp>
        <p:nvSpPr>
          <p:cNvPr id="26" name="TextBox 25"/>
          <p:cNvSpPr txBox="1"/>
          <p:nvPr/>
        </p:nvSpPr>
        <p:spPr>
          <a:xfrm>
            <a:off x="10447528" y="2103120"/>
            <a:ext cx="1137920" cy="182880"/>
          </a:xfrm>
          <a:prstGeom prst="rect">
            <a:avLst/>
          </a:prstGeom>
          <a:noFill/>
        </p:spPr>
        <p:txBody>
          <a:bodyPr wrap="square" lIns="0" rIns="0" tIns="0" bIns="0" anchor="t"/>
          <a:lstStyle/>
          <a:p>
            <a:pPr algn="ctr"/>
            <a:r>
              <a:rPr sz="1000" b="0" i="0">
                <a:solidFill>
                  <a:srgbClr val="1F2937"/>
                </a:solidFill>
                <a:latin typeface="Inter"/>
                <a:ea typeface="Inter"/>
                <a:cs typeface="Inter"/>
              </a:rPr>
              <a:t>GitHub</a:t>
            </a:r>
          </a:p>
        </p:txBody>
      </p:sp>
      <p:graphicFrame>
        <p:nvGraphicFramePr>
          <p:cNvPr id="27" name="Table 26"/>
          <p:cNvGraphicFramePr>
            <a:graphicFrameLocks noGrp="1"/>
          </p:cNvGraphicFramePr>
          <p:nvPr/>
        </p:nvGraphicFramePr>
        <p:xfrm>
          <a:off x="612648" y="2450592"/>
          <a:ext cx="10972800" cy="3849624"/>
        </p:xfrm>
        <a:graphic>
          <a:graphicData uri="http://schemas.openxmlformats.org/drawingml/2006/table">
            <a:tbl>
              <a:tblPr firstRow="0" bandRow="0" firstCol="0" lastRow="0" lastCol="0" bandCol="0">
                <a:tableStyleId>{2D5ABB26-0587-4C30-8999-92F81FD0307C}</a:tableStyleId>
              </a:tblPr>
              <a:tblGrid>
                <a:gridCol w="3291840"/>
                <a:gridCol w="5760720"/>
                <a:gridCol w="1920240"/>
              </a:tblGrid>
              <a:tr h="329184">
                <a:tc>
                  <a:txBody>
                    <a:bodyPr wrap="square"/>
                    <a:lstStyle/>
                    <a:p>
                      <a:pPr algn="l"/>
                      <a:r>
                        <a:rPr sz="1100" b="0" i="0">
                          <a:solidFill>
                            <a:srgbClr val="111111"/>
                          </a:solidFill>
                          <a:latin typeface="Outfit ExtraBold"/>
                          <a:ea typeface="Outfit ExtraBold"/>
                          <a:cs typeface="Outfit ExtraBold"/>
                        </a:rPr>
                        <a:t>Tool</a:t>
                      </a:r>
                    </a:p>
                  </a:txBody>
                  <a:tcPr marL="109728" marR="91440" marT="36576" marB="36576" anchor="ctr">
                    <a:lnL w="0">
                      <a:noFill/>
                    </a:lnL>
                    <a:lnR w="0">
                      <a:noFill/>
                    </a:lnR>
                    <a:lnT w="0">
                      <a:noFill/>
                    </a:lnT>
                    <a:lnB w="9525">
                      <a:solidFill>
                        <a:srgbClr val="D5DEEF"/>
                      </a:solidFill>
                    </a:lnB>
                    <a:solidFill>
                      <a:srgbClr val="CCDDFF"/>
                    </a:solidFill>
                  </a:tcPr>
                </a:tc>
                <a:tc>
                  <a:txBody>
                    <a:bodyPr wrap="square"/>
                    <a:lstStyle/>
                    <a:p>
                      <a:pPr algn="l"/>
                      <a:r>
                        <a:rPr sz="1100" b="0" i="0">
                          <a:solidFill>
                            <a:srgbClr val="111111"/>
                          </a:solidFill>
                          <a:latin typeface="Outfit ExtraBold"/>
                          <a:ea typeface="Outfit ExtraBold"/>
                          <a:cs typeface="Outfit ExtraBold"/>
                        </a:rPr>
                        <a:t>What it does in AgentForge</a:t>
                      </a:r>
                    </a:p>
                  </a:txBody>
                  <a:tcPr marL="109728" marR="91440" marT="36576" marB="36576" anchor="ctr">
                    <a:lnL w="0">
                      <a:noFill/>
                    </a:lnL>
                    <a:lnR w="0">
                      <a:noFill/>
                    </a:lnR>
                    <a:lnT w="0">
                      <a:noFill/>
                    </a:lnT>
                    <a:lnB w="9525">
                      <a:solidFill>
                        <a:srgbClr val="D5DEEF"/>
                      </a:solidFill>
                    </a:lnB>
                    <a:solidFill>
                      <a:srgbClr val="CCDDFF"/>
                    </a:solidFill>
                  </a:tcPr>
                </a:tc>
                <a:tc>
                  <a:txBody>
                    <a:bodyPr wrap="square"/>
                    <a:lstStyle/>
                    <a:p>
                      <a:pPr algn="l"/>
                      <a:r>
                        <a:rPr sz="1100" b="0" i="0">
                          <a:solidFill>
                            <a:srgbClr val="111111"/>
                          </a:solidFill>
                          <a:latin typeface="Outfit ExtraBold"/>
                          <a:ea typeface="Outfit ExtraBold"/>
                          <a:cs typeface="Outfit ExtraBold"/>
                        </a:rPr>
                        <a:t>Used by</a:t>
                      </a:r>
                    </a:p>
                  </a:txBody>
                  <a:tcPr marL="109728" marR="91440" marT="36576" marB="36576" anchor="ctr">
                    <a:lnL w="0">
                      <a:noFill/>
                    </a:lnL>
                    <a:lnR w="0">
                      <a:noFill/>
                    </a:lnR>
                    <a:lnT w="0">
                      <a:noFill/>
                    </a:lnT>
                    <a:lnB w="9525">
                      <a:solidFill>
                        <a:srgbClr val="D5DEEF"/>
                      </a:solidFill>
                    </a:lnB>
                    <a:solidFill>
                      <a:srgbClr val="CCDDFF"/>
                    </a:solidFill>
                  </a:tcPr>
                </a:tc>
              </a:tr>
              <a:tr h="352044">
                <a:tc>
                  <a:txBody>
                    <a:bodyPr wrap="square"/>
                    <a:lstStyle/>
                    <a:p>
                      <a:pPr algn="l"/>
                      <a:r>
                        <a:rPr sz="1150" b="1" i="0">
                          <a:solidFill>
                            <a:srgbClr val="111111"/>
                          </a:solidFill>
                          <a:latin typeface="Inter"/>
                          <a:ea typeface="Inter"/>
                          <a:cs typeface="Inter"/>
                        </a:rPr>
                        <a:t>Ollama (local or cloud)</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Runs the LLM with native tool calling, web search and web fetch</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All agents</a:t>
                      </a:r>
                    </a:p>
                  </a:txBody>
                  <a:tcPr marL="109728" marR="91440" marT="36576" marB="36576" anchor="ctr">
                    <a:lnL w="0">
                      <a:noFill/>
                    </a:lnL>
                    <a:lnR w="0">
                      <a:noFill/>
                    </a:lnR>
                    <a:lnT w="0">
                      <a:noFill/>
                    </a:lnT>
                    <a:lnB w="9525">
                      <a:solidFill>
                        <a:srgbClr val="D5DEEF"/>
                      </a:solidFill>
                    </a:lnB>
                    <a:noFill/>
                  </a:tcPr>
                </a:tc>
              </a:tr>
              <a:tr h="352044">
                <a:tc>
                  <a:txBody>
                    <a:bodyPr wrap="square"/>
                    <a:lstStyle/>
                    <a:p>
                      <a:pPr algn="l"/>
                      <a:r>
                        <a:rPr sz="1150" b="1" i="0">
                          <a:solidFill>
                            <a:srgbClr val="111111"/>
                          </a:solidFill>
                          <a:latin typeface="Inter"/>
                          <a:ea typeface="Inter"/>
                          <a:cs typeface="Inter"/>
                        </a:rPr>
                        <a:t>Python · Pydantic · Fernet</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Backend runtime, SRS schema validation, credential encryption</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Platform · SRS</a:t>
                      </a:r>
                    </a:p>
                  </a:txBody>
                  <a:tcPr marL="109728" marR="91440" marT="36576" marB="36576" anchor="ctr">
                    <a:lnL w="0">
                      <a:noFill/>
                    </a:lnL>
                    <a:lnR w="0">
                      <a:noFill/>
                    </a:lnR>
                    <a:lnT w="0">
                      <a:noFill/>
                    </a:lnT>
                    <a:lnB w="9525">
                      <a:solidFill>
                        <a:srgbClr val="D5DEEF"/>
                      </a:solidFill>
                    </a:lnB>
                    <a:noFill/>
                  </a:tcPr>
                </a:tc>
              </a:tr>
              <a:tr h="352044">
                <a:tc>
                  <a:txBody>
                    <a:bodyPr wrap="square"/>
                    <a:lstStyle/>
                    <a:p>
                      <a:pPr algn="l"/>
                      <a:r>
                        <a:rPr sz="1150" b="1" i="0">
                          <a:solidFill>
                            <a:srgbClr val="111111"/>
                          </a:solidFill>
                          <a:latin typeface="Inter"/>
                          <a:ea typeface="Inter"/>
                          <a:cs typeface="Inter"/>
                        </a:rPr>
                        <a:t>Next.js · React</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The Studio interface for every stage</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Platform</a:t>
                      </a:r>
                    </a:p>
                  </a:txBody>
                  <a:tcPr marL="109728" marR="91440" marT="36576" marB="36576" anchor="ctr">
                    <a:lnL w="0">
                      <a:noFill/>
                    </a:lnL>
                    <a:lnR w="0">
                      <a:noFill/>
                    </a:lnR>
                    <a:lnT w="0">
                      <a:noFill/>
                    </a:lnT>
                    <a:lnB w="9525">
                      <a:solidFill>
                        <a:srgbClr val="D5DEEF"/>
                      </a:solidFill>
                    </a:lnB>
                    <a:noFill/>
                  </a:tcPr>
                </a:tc>
              </a:tr>
              <a:tr h="352044">
                <a:tc>
                  <a:txBody>
                    <a:bodyPr wrap="square"/>
                    <a:lstStyle/>
                    <a:p>
                      <a:pPr algn="l"/>
                      <a:r>
                        <a:rPr sz="1150" b="1" i="0">
                          <a:solidFill>
                            <a:srgbClr val="111111"/>
                          </a:solidFill>
                          <a:latin typeface="Inter"/>
                          <a:ea typeface="Inter"/>
                          <a:cs typeface="Inter"/>
                        </a:rPr>
                        <a:t>Mermaid CLI · Chromium</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Renders the 11 diagram types to SVG</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SRS</a:t>
                      </a:r>
                    </a:p>
                  </a:txBody>
                  <a:tcPr marL="109728" marR="91440" marT="36576" marB="36576" anchor="ctr">
                    <a:lnL w="0">
                      <a:noFill/>
                    </a:lnL>
                    <a:lnR w="0">
                      <a:noFill/>
                    </a:lnR>
                    <a:lnT w="0">
                      <a:noFill/>
                    </a:lnT>
                    <a:lnB w="9525">
                      <a:solidFill>
                        <a:srgbClr val="D5DEEF"/>
                      </a:solidFill>
                    </a:lnB>
                    <a:noFill/>
                  </a:tcPr>
                </a:tc>
              </a:tr>
              <a:tr h="352044">
                <a:tc>
                  <a:txBody>
                    <a:bodyPr wrap="square"/>
                    <a:lstStyle/>
                    <a:p>
                      <a:pPr algn="l"/>
                      <a:r>
                        <a:rPr sz="1150" b="1" i="0">
                          <a:solidFill>
                            <a:srgbClr val="111111"/>
                          </a:solidFill>
                          <a:latin typeface="Inter"/>
                          <a:ea typeface="Inter"/>
                          <a:cs typeface="Inter"/>
                        </a:rPr>
                        <a:t>Next.js · Remix · Express · MongoDB</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Bundled application scaffolds and data layer</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Builder</a:t>
                      </a:r>
                    </a:p>
                  </a:txBody>
                  <a:tcPr marL="109728" marR="91440" marT="36576" marB="36576" anchor="ctr">
                    <a:lnL w="0">
                      <a:noFill/>
                    </a:lnL>
                    <a:lnR w="0">
                      <a:noFill/>
                    </a:lnR>
                    <a:lnT w="0">
                      <a:noFill/>
                    </a:lnT>
                    <a:lnB w="9525">
                      <a:solidFill>
                        <a:srgbClr val="D5DEEF"/>
                      </a:solidFill>
                    </a:lnB>
                    <a:noFill/>
                  </a:tcPr>
                </a:tc>
              </a:tr>
              <a:tr h="352044">
                <a:tc>
                  <a:txBody>
                    <a:bodyPr wrap="square"/>
                    <a:lstStyle/>
                    <a:p>
                      <a:pPr algn="l"/>
                      <a:r>
                        <a:rPr sz="1150" b="1" i="0">
                          <a:solidFill>
                            <a:srgbClr val="111111"/>
                          </a:solidFill>
                          <a:latin typeface="Inter"/>
                          <a:ea typeface="Inter"/>
                          <a:cs typeface="Inter"/>
                        </a:rPr>
                        <a:t>Vitest</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Unit tests for business logic</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Builder · QA</a:t>
                      </a:r>
                    </a:p>
                  </a:txBody>
                  <a:tcPr marL="109728" marR="91440" marT="36576" marB="36576" anchor="ctr">
                    <a:lnL w="0">
                      <a:noFill/>
                    </a:lnL>
                    <a:lnR w="0">
                      <a:noFill/>
                    </a:lnR>
                    <a:lnT w="0">
                      <a:noFill/>
                    </a:lnT>
                    <a:lnB w="9525">
                      <a:solidFill>
                        <a:srgbClr val="D5DEEF"/>
                      </a:solidFill>
                    </a:lnB>
                    <a:noFill/>
                  </a:tcPr>
                </a:tc>
              </a:tr>
              <a:tr h="352044">
                <a:tc>
                  <a:txBody>
                    <a:bodyPr wrap="square"/>
                    <a:lstStyle/>
                    <a:p>
                      <a:pPr algn="l"/>
                      <a:r>
                        <a:rPr sz="1150" b="1" i="0">
                          <a:solidFill>
                            <a:srgbClr val="111111"/>
                          </a:solidFill>
                          <a:latin typeface="Inter"/>
                          <a:ea typeface="Inter"/>
                          <a:cs typeface="Inter"/>
                        </a:rPr>
                        <a:t>Playwright · axe-core</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E2E journeys, screenshots, live view, WCAG accessibility</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Builder · QA</a:t>
                      </a:r>
                    </a:p>
                  </a:txBody>
                  <a:tcPr marL="109728" marR="91440" marT="36576" marB="36576" anchor="ctr">
                    <a:lnL w="0">
                      <a:noFill/>
                    </a:lnL>
                    <a:lnR w="0">
                      <a:noFill/>
                    </a:lnR>
                    <a:lnT w="0">
                      <a:noFill/>
                    </a:lnT>
                    <a:lnB w="9525">
                      <a:solidFill>
                        <a:srgbClr val="D5DEEF"/>
                      </a:solidFill>
                    </a:lnB>
                    <a:noFill/>
                  </a:tcPr>
                </a:tc>
              </a:tr>
              <a:tr h="352044">
                <a:tc>
                  <a:txBody>
                    <a:bodyPr wrap="square"/>
                    <a:lstStyle/>
                    <a:p>
                      <a:pPr algn="l"/>
                      <a:r>
                        <a:rPr sz="1150" b="1" i="0">
                          <a:solidFill>
                            <a:srgbClr val="111111"/>
                          </a:solidFill>
                          <a:latin typeface="Inter"/>
                          <a:ea typeface="Inter"/>
                          <a:cs typeface="Inter"/>
                        </a:rPr>
                        <a:t>Lighthouse CI · OWASP ZAP · npm audit</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Performance, passive security, dependency advisories</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QA</a:t>
                      </a:r>
                    </a:p>
                  </a:txBody>
                  <a:tcPr marL="109728" marR="91440" marT="36576" marB="36576" anchor="ctr">
                    <a:lnL w="0">
                      <a:noFill/>
                    </a:lnL>
                    <a:lnR w="0">
                      <a:noFill/>
                    </a:lnR>
                    <a:lnT w="0">
                      <a:noFill/>
                    </a:lnT>
                    <a:lnB w="9525">
                      <a:solidFill>
                        <a:srgbClr val="D5DEEF"/>
                      </a:solidFill>
                    </a:lnB>
                    <a:noFill/>
                  </a:tcPr>
                </a:tc>
              </a:tr>
              <a:tr h="352044">
                <a:tc>
                  <a:txBody>
                    <a:bodyPr wrap="square"/>
                    <a:lstStyle/>
                    <a:p>
                      <a:pPr algn="l"/>
                      <a:r>
                        <a:rPr sz="1150" b="1" i="0">
                          <a:solidFill>
                            <a:srgbClr val="111111"/>
                          </a:solidFill>
                          <a:latin typeface="Inter"/>
                          <a:ea typeface="Inter"/>
                          <a:cs typeface="Inter"/>
                        </a:rPr>
                        <a:t>git · GitHub CLI</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Repository, commits under the customer's name, CI insight</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Deploy</a:t>
                      </a:r>
                    </a:p>
                  </a:txBody>
                  <a:tcPr marL="109728" marR="91440" marT="36576" marB="36576" anchor="ctr">
                    <a:lnL w="0">
                      <a:noFill/>
                    </a:lnL>
                    <a:lnR w="0">
                      <a:noFill/>
                    </a:lnR>
                    <a:lnT w="0">
                      <a:noFill/>
                    </a:lnT>
                    <a:lnB w="9525">
                      <a:solidFill>
                        <a:srgbClr val="D5DEEF"/>
                      </a:solidFill>
                    </a:lnB>
                    <a:noFill/>
                  </a:tcPr>
                </a:tc>
              </a:tr>
              <a:tr h="352044">
                <a:tc>
                  <a:txBody>
                    <a:bodyPr wrap="square"/>
                    <a:lstStyle/>
                    <a:p>
                      <a:pPr algn="l"/>
                      <a:r>
                        <a:rPr sz="1150" b="1" i="0">
                          <a:solidFill>
                            <a:srgbClr val="111111"/>
                          </a:solidFill>
                          <a:latin typeface="Inter"/>
                          <a:ea typeface="Inter"/>
                          <a:cs typeface="Inter"/>
                        </a:rPr>
                        <a:t>Vercel · Netlify · Azure · AWS CLIs</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Provider sign-in, release and read-only monitors</a:t>
                      </a:r>
                    </a:p>
                  </a:txBody>
                  <a:tcPr marL="109728" marR="91440" marT="36576" marB="36576" anchor="ctr">
                    <a:lnL w="0">
                      <a:noFill/>
                    </a:lnL>
                    <a:lnR w="0">
                      <a:noFill/>
                    </a:lnR>
                    <a:lnT w="0">
                      <a:noFill/>
                    </a:lnT>
                    <a:lnB w="9525">
                      <a:solidFill>
                        <a:srgbClr val="D5DEEF"/>
                      </a:solidFill>
                    </a:lnB>
                    <a:noFill/>
                  </a:tcPr>
                </a:tc>
                <a:tc>
                  <a:txBody>
                    <a:bodyPr wrap="square"/>
                    <a:lstStyle/>
                    <a:p>
                      <a:pPr algn="l"/>
                      <a:r>
                        <a:rPr sz="1150" b="0" i="0">
                          <a:solidFill>
                            <a:srgbClr val="111111"/>
                          </a:solidFill>
                          <a:latin typeface="Inter"/>
                          <a:ea typeface="Inter"/>
                          <a:cs typeface="Inter"/>
                        </a:rPr>
                        <a:t>Deploy</a:t>
                      </a:r>
                    </a:p>
                  </a:txBody>
                  <a:tcPr marL="109728" marR="91440" marT="36576" marB="36576" anchor="ctr">
                    <a:lnL w="0">
                      <a:noFill/>
                    </a:lnL>
                    <a:lnR w="0">
                      <a:noFill/>
                    </a:lnR>
                    <a:lnT w="0">
                      <a:noFill/>
                    </a:lnT>
                    <a:lnB w="9525">
                      <a:solidFill>
                        <a:srgbClr val="D5DEEF"/>
                      </a:solidFill>
                    </a:lnB>
                    <a:no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RESEARCH METHOD</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How AgentForge will be evaluated</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27</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75.png"/>
          <p:cNvPicPr>
            <a:picLocks noChangeAspect="1"/>
          </p:cNvPicPr>
          <p:nvPr/>
        </p:nvPicPr>
        <p:blipFill>
          <a:blip r:embed="rId3"/>
          <a:stretch>
            <a:fillRect/>
          </a:stretch>
        </p:blipFill>
        <p:spPr>
          <a:xfrm>
            <a:off x="10488168" y="201168"/>
            <a:ext cx="1316736" cy="1316736"/>
          </a:xfrm>
          <a:prstGeom prst="rect">
            <a:avLst/>
          </a:prstGeom>
        </p:spPr>
      </p:pic>
      <p:sp>
        <p:nvSpPr>
          <p:cNvPr id="9" name="Rounded Rectangle 8"/>
          <p:cNvSpPr/>
          <p:nvPr/>
        </p:nvSpPr>
        <p:spPr>
          <a:xfrm>
            <a:off x="612648" y="1783080"/>
            <a:ext cx="2606040" cy="23317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1947672"/>
            <a:ext cx="2203704"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COMPLETENESS</a:t>
            </a:r>
          </a:p>
        </p:txBody>
      </p:sp>
      <p:sp>
        <p:nvSpPr>
          <p:cNvPr id="11" name="TextBox 10"/>
          <p:cNvSpPr txBox="1"/>
          <p:nvPr/>
        </p:nvSpPr>
        <p:spPr>
          <a:xfrm>
            <a:off x="813816" y="2258949"/>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Share of planned screens, roles, records and features traced into SRS, prototype and built routes.</a:t>
            </a:r>
          </a:p>
        </p:txBody>
      </p:sp>
      <p:sp>
        <p:nvSpPr>
          <p:cNvPr id="12" name="TextBox 11"/>
          <p:cNvSpPr txBox="1"/>
          <p:nvPr/>
        </p:nvSpPr>
        <p:spPr>
          <a:xfrm>
            <a:off x="813816" y="3429000"/>
            <a:ext cx="2203704" cy="182880"/>
          </a:xfrm>
          <a:prstGeom prst="rect">
            <a:avLst/>
          </a:prstGeom>
          <a:noFill/>
        </p:spPr>
        <p:txBody>
          <a:bodyPr wrap="square" lIns="0" rIns="0" tIns="0" bIns="0" anchor="t"/>
          <a:lstStyle/>
          <a:p>
            <a:pPr algn="l"/>
            <a:r>
              <a:rPr sz="950" b="0" i="0" spc="200">
                <a:solidFill>
                  <a:srgbClr val="1F6BFF"/>
                </a:solidFill>
                <a:latin typeface="Urbanist SemiBold"/>
                <a:ea typeface="Urbanist SemiBold"/>
                <a:cs typeface="Urbanist SemiBold"/>
              </a:rPr>
              <a:t>SOURCE</a:t>
            </a:r>
          </a:p>
        </p:txBody>
      </p:sp>
      <p:sp>
        <p:nvSpPr>
          <p:cNvPr id="13" name="TextBox 12"/>
          <p:cNvSpPr txBox="1"/>
          <p:nvPr/>
        </p:nvSpPr>
        <p:spPr>
          <a:xfrm>
            <a:off x="813816" y="3630168"/>
            <a:ext cx="2203704" cy="411480"/>
          </a:xfrm>
          <a:prstGeom prst="rect">
            <a:avLst/>
          </a:prstGeom>
          <a:noFill/>
        </p:spPr>
        <p:txBody>
          <a:bodyPr wrap="square" lIns="0" rIns="0" tIns="0" bIns="0" anchor="t"/>
          <a:lstStyle/>
          <a:p>
            <a:pPr algn="l"/>
            <a:r>
              <a:rPr sz="1050" b="0" i="0">
                <a:solidFill>
                  <a:srgbClr val="4B5563"/>
                </a:solidFill>
                <a:latin typeface="Inter"/>
                <a:ea typeface="Inter"/>
                <a:cs typeface="Inter"/>
              </a:rPr>
              <a:t>plan.json · srs.json · routes.json · build report</a:t>
            </a:r>
          </a:p>
        </p:txBody>
      </p:sp>
      <p:sp>
        <p:nvSpPr>
          <p:cNvPr id="14" name="Rounded Rectangle 13"/>
          <p:cNvSpPr/>
          <p:nvPr/>
        </p:nvSpPr>
        <p:spPr>
          <a:xfrm>
            <a:off x="3401568" y="1783080"/>
            <a:ext cx="2606040" cy="23317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2736" y="1947672"/>
            <a:ext cx="2203704"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CORRECTNESS</a:t>
            </a:r>
          </a:p>
        </p:txBody>
      </p:sp>
      <p:sp>
        <p:nvSpPr>
          <p:cNvPr id="16" name="TextBox 15"/>
          <p:cNvSpPr txBox="1"/>
          <p:nvPr/>
        </p:nvSpPr>
        <p:spPr>
          <a:xfrm>
            <a:off x="3602736" y="2258949"/>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Build success, healthy runtime routes, unit pass rate, SRS journeys passing in Playwright.</a:t>
            </a:r>
          </a:p>
        </p:txBody>
      </p:sp>
      <p:sp>
        <p:nvSpPr>
          <p:cNvPr id="17" name="TextBox 16"/>
          <p:cNvSpPr txBox="1"/>
          <p:nvPr/>
        </p:nvSpPr>
        <p:spPr>
          <a:xfrm>
            <a:off x="3602736" y="3429000"/>
            <a:ext cx="2203704" cy="182880"/>
          </a:xfrm>
          <a:prstGeom prst="rect">
            <a:avLst/>
          </a:prstGeom>
          <a:noFill/>
        </p:spPr>
        <p:txBody>
          <a:bodyPr wrap="square" lIns="0" rIns="0" tIns="0" bIns="0" anchor="t"/>
          <a:lstStyle/>
          <a:p>
            <a:pPr algn="l"/>
            <a:r>
              <a:rPr sz="950" b="0" i="0" spc="200">
                <a:solidFill>
                  <a:srgbClr val="1F6BFF"/>
                </a:solidFill>
                <a:latin typeface="Urbanist SemiBold"/>
                <a:ea typeface="Urbanist SemiBold"/>
                <a:cs typeface="Urbanist SemiBold"/>
              </a:rPr>
              <a:t>SOURCE</a:t>
            </a:r>
          </a:p>
        </p:txBody>
      </p:sp>
      <p:sp>
        <p:nvSpPr>
          <p:cNvPr id="18" name="TextBox 17"/>
          <p:cNvSpPr txBox="1"/>
          <p:nvPr/>
        </p:nvSpPr>
        <p:spPr>
          <a:xfrm>
            <a:off x="3602736" y="3630168"/>
            <a:ext cx="2203704" cy="411480"/>
          </a:xfrm>
          <a:prstGeom prst="rect">
            <a:avLst/>
          </a:prstGeom>
          <a:noFill/>
        </p:spPr>
        <p:txBody>
          <a:bodyPr wrap="square" lIns="0" rIns="0" tIns="0" bIns="0" anchor="t"/>
          <a:lstStyle/>
          <a:p>
            <a:pPr algn="l"/>
            <a:r>
              <a:rPr sz="1050" b="0" i="0">
                <a:solidFill>
                  <a:srgbClr val="4B5563"/>
                </a:solidFill>
                <a:latin typeface="Inter"/>
                <a:ea typeface="Inter"/>
                <a:cs typeface="Inter"/>
              </a:rPr>
              <a:t>runner JSON · qa/report.json</a:t>
            </a:r>
          </a:p>
        </p:txBody>
      </p:sp>
      <p:sp>
        <p:nvSpPr>
          <p:cNvPr id="19" name="Rounded Rectangle 18"/>
          <p:cNvSpPr/>
          <p:nvPr/>
        </p:nvSpPr>
        <p:spPr>
          <a:xfrm>
            <a:off x="6190488" y="1783080"/>
            <a:ext cx="2606040" cy="23317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1656" y="1947672"/>
            <a:ext cx="2203704"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QUALITY</a:t>
            </a:r>
          </a:p>
        </p:txBody>
      </p:sp>
      <p:sp>
        <p:nvSpPr>
          <p:cNvPr id="21" name="TextBox 20"/>
          <p:cNvSpPr txBox="1"/>
          <p:nvPr/>
        </p:nvSpPr>
        <p:spPr>
          <a:xfrm>
            <a:off x="6391656" y="2258949"/>
            <a:ext cx="2203704"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axe violations by impact, Lighthouse scores, ZAP findings, dependency advisories.</a:t>
            </a:r>
          </a:p>
        </p:txBody>
      </p:sp>
      <p:sp>
        <p:nvSpPr>
          <p:cNvPr id="22" name="TextBox 21"/>
          <p:cNvSpPr txBox="1"/>
          <p:nvPr/>
        </p:nvSpPr>
        <p:spPr>
          <a:xfrm>
            <a:off x="6391656" y="3429000"/>
            <a:ext cx="2203704" cy="182880"/>
          </a:xfrm>
          <a:prstGeom prst="rect">
            <a:avLst/>
          </a:prstGeom>
          <a:noFill/>
        </p:spPr>
        <p:txBody>
          <a:bodyPr wrap="square" lIns="0" rIns="0" tIns="0" bIns="0" anchor="t"/>
          <a:lstStyle/>
          <a:p>
            <a:pPr algn="l"/>
            <a:r>
              <a:rPr sz="950" b="0" i="0" spc="200">
                <a:solidFill>
                  <a:srgbClr val="1F6BFF"/>
                </a:solidFill>
                <a:latin typeface="Urbanist SemiBold"/>
                <a:ea typeface="Urbanist SemiBold"/>
                <a:cs typeface="Urbanist SemiBold"/>
              </a:rPr>
              <a:t>SOURCE</a:t>
            </a:r>
          </a:p>
        </p:txBody>
      </p:sp>
      <p:sp>
        <p:nvSpPr>
          <p:cNvPr id="23" name="TextBox 22"/>
          <p:cNvSpPr txBox="1"/>
          <p:nvPr/>
        </p:nvSpPr>
        <p:spPr>
          <a:xfrm>
            <a:off x="6391656" y="3630168"/>
            <a:ext cx="2203704" cy="411480"/>
          </a:xfrm>
          <a:prstGeom prst="rect">
            <a:avLst/>
          </a:prstGeom>
          <a:noFill/>
        </p:spPr>
        <p:txBody>
          <a:bodyPr wrap="square" lIns="0" rIns="0" tIns="0" bIns="0" anchor="t"/>
          <a:lstStyle/>
          <a:p>
            <a:pPr algn="l"/>
            <a:r>
              <a:rPr sz="1050" b="0" i="0">
                <a:solidFill>
                  <a:srgbClr val="4B5563"/>
                </a:solidFill>
                <a:latin typeface="Inter"/>
                <a:ea typeface="Inter"/>
                <a:cs typeface="Inter"/>
              </a:rPr>
              <a:t>QA artifacts per route</a:t>
            </a:r>
          </a:p>
        </p:txBody>
      </p:sp>
      <p:sp>
        <p:nvSpPr>
          <p:cNvPr id="24" name="Rounded Rectangle 23"/>
          <p:cNvSpPr/>
          <p:nvPr/>
        </p:nvSpPr>
        <p:spPr>
          <a:xfrm>
            <a:off x="8979408" y="1783080"/>
            <a:ext cx="2606040" cy="23317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0576" y="1947672"/>
            <a:ext cx="2203704"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EFFORT AND COST</a:t>
            </a:r>
          </a:p>
        </p:txBody>
      </p:sp>
      <p:sp>
        <p:nvSpPr>
          <p:cNvPr id="26" name="TextBox 25"/>
          <p:cNvSpPr txBox="1"/>
          <p:nvPr/>
        </p:nvSpPr>
        <p:spPr>
          <a:xfrm>
            <a:off x="9180576" y="2258949"/>
            <a:ext cx="2203704"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Human interventions, repair rounds, tokens and time from idea to a probed live URL.</a:t>
            </a:r>
          </a:p>
        </p:txBody>
      </p:sp>
      <p:sp>
        <p:nvSpPr>
          <p:cNvPr id="27" name="TextBox 26"/>
          <p:cNvSpPr txBox="1"/>
          <p:nvPr/>
        </p:nvSpPr>
        <p:spPr>
          <a:xfrm>
            <a:off x="9180576" y="3429000"/>
            <a:ext cx="2203704" cy="182880"/>
          </a:xfrm>
          <a:prstGeom prst="rect">
            <a:avLst/>
          </a:prstGeom>
          <a:noFill/>
        </p:spPr>
        <p:txBody>
          <a:bodyPr wrap="square" lIns="0" rIns="0" tIns="0" bIns="0" anchor="t"/>
          <a:lstStyle/>
          <a:p>
            <a:pPr algn="l"/>
            <a:r>
              <a:rPr sz="950" b="0" i="0" spc="200">
                <a:solidFill>
                  <a:srgbClr val="1F6BFF"/>
                </a:solidFill>
                <a:latin typeface="Urbanist SemiBold"/>
                <a:ea typeface="Urbanist SemiBold"/>
                <a:cs typeface="Urbanist SemiBold"/>
              </a:rPr>
              <a:t>SOURCE</a:t>
            </a:r>
          </a:p>
        </p:txBody>
      </p:sp>
      <p:sp>
        <p:nvSpPr>
          <p:cNvPr id="28" name="TextBox 27"/>
          <p:cNvSpPr txBox="1"/>
          <p:nvPr/>
        </p:nvSpPr>
        <p:spPr>
          <a:xfrm>
            <a:off x="9180576" y="3630168"/>
            <a:ext cx="2203704" cy="411480"/>
          </a:xfrm>
          <a:prstGeom prst="rect">
            <a:avLst/>
          </a:prstGeom>
          <a:noFill/>
        </p:spPr>
        <p:txBody>
          <a:bodyPr wrap="square" lIns="0" rIns="0" tIns="0" bIns="0" anchor="t"/>
          <a:lstStyle/>
          <a:p>
            <a:pPr algn="l"/>
            <a:r>
              <a:rPr sz="1050" b="0" i="0">
                <a:solidFill>
                  <a:srgbClr val="4B5563"/>
                </a:solidFill>
                <a:latin typeface="Inter"/>
                <a:ea typeface="Inter"/>
                <a:cs typeface="Inter"/>
              </a:rPr>
              <a:t>events.jsonl · versions · deploy run</a:t>
            </a:r>
          </a:p>
        </p:txBody>
      </p:sp>
      <p:sp>
        <p:nvSpPr>
          <p:cNvPr id="29" name="Rounded Rectangle 28"/>
          <p:cNvSpPr/>
          <p:nvPr/>
        </p:nvSpPr>
        <p:spPr>
          <a:xfrm>
            <a:off x="612648" y="4343400"/>
            <a:ext cx="10972800" cy="2011680"/>
          </a:xfrm>
          <a:prstGeom prst="roundRect">
            <a:avLst>
              <a:gd name="adj" fmla="val 3500"/>
            </a:avLst>
          </a:prstGeom>
          <a:solidFill>
            <a:srgbClr val="EEF3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968" y="4498848"/>
            <a:ext cx="548640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STUDY DESIGN</a:t>
            </a:r>
          </a:p>
        </p:txBody>
      </p:sp>
      <p:sp>
        <p:nvSpPr>
          <p:cNvPr id="31" name="TextBox 30"/>
          <p:cNvSpPr txBox="1"/>
          <p:nvPr/>
        </p:nvSpPr>
        <p:spPr>
          <a:xfrm>
            <a:off x="886968" y="4919472"/>
            <a:ext cx="240030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CORPUS</a:t>
            </a:r>
          </a:p>
        </p:txBody>
      </p:sp>
      <p:sp>
        <p:nvSpPr>
          <p:cNvPr id="32" name="TextBox 31"/>
          <p:cNvSpPr txBox="1"/>
          <p:nvPr/>
        </p:nvSpPr>
        <p:spPr>
          <a:xfrm>
            <a:off x="886968" y="5198999"/>
            <a:ext cx="2400300" cy="807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10+ projects spread across the 10 app types: POS, booking, e-commerce, SaaS, dashboard…</a:t>
            </a:r>
          </a:p>
        </p:txBody>
      </p:sp>
      <p:sp>
        <p:nvSpPr>
          <p:cNvPr id="33" name="TextBox 32"/>
          <p:cNvSpPr txBox="1"/>
          <p:nvPr/>
        </p:nvSpPr>
        <p:spPr>
          <a:xfrm>
            <a:off x="3561587" y="4919472"/>
            <a:ext cx="240030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BASELINES</a:t>
            </a:r>
          </a:p>
        </p:txBody>
      </p:sp>
      <p:sp>
        <p:nvSpPr>
          <p:cNvPr id="34" name="TextBox 33"/>
          <p:cNvSpPr txBox="1"/>
          <p:nvPr/>
        </p:nvSpPr>
        <p:spPr>
          <a:xfrm>
            <a:off x="3561587" y="5198999"/>
            <a:ext cx="2400300"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Single-prompt code generation, and a multi-agent pipeline with isolated contexts.</a:t>
            </a:r>
          </a:p>
        </p:txBody>
      </p:sp>
      <p:sp>
        <p:nvSpPr>
          <p:cNvPr id="35" name="TextBox 34"/>
          <p:cNvSpPr txBox="1"/>
          <p:nvPr/>
        </p:nvSpPr>
        <p:spPr>
          <a:xfrm>
            <a:off x="6236207" y="4919472"/>
            <a:ext cx="240030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ABLATIONS</a:t>
            </a:r>
          </a:p>
        </p:txBody>
      </p:sp>
      <p:sp>
        <p:nvSpPr>
          <p:cNvPr id="36" name="TextBox 35"/>
          <p:cNvSpPr txBox="1"/>
          <p:nvPr/>
        </p:nvSpPr>
        <p:spPr>
          <a:xfrm>
            <a:off x="6236207" y="5198999"/>
            <a:ext cx="2400300"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Remove the coverage gate, the shared context or the QA repair loop — one at a time.</a:t>
            </a:r>
          </a:p>
        </p:txBody>
      </p:sp>
      <p:sp>
        <p:nvSpPr>
          <p:cNvPr id="37" name="TextBox 36"/>
          <p:cNvSpPr txBox="1"/>
          <p:nvPr/>
        </p:nvSpPr>
        <p:spPr>
          <a:xfrm>
            <a:off x="8910828" y="4919472"/>
            <a:ext cx="2400300" cy="206375"/>
          </a:xfrm>
          <a:prstGeom prst="rect">
            <a:avLst/>
          </a:prstGeom>
          <a:noFill/>
        </p:spPr>
        <p:txBody>
          <a:bodyPr wrap="square" lIns="0" rIns="0" tIns="0" bIns="0" anchor="t"/>
          <a:lstStyle/>
          <a:p>
            <a:pPr algn="l"/>
            <a:r>
              <a:rPr sz="1300" b="0" i="0" spc="13">
                <a:solidFill>
                  <a:srgbClr val="111111"/>
                </a:solidFill>
                <a:latin typeface="Outfit ExtraBold"/>
                <a:ea typeface="Outfit ExtraBold"/>
                <a:cs typeface="Outfit ExtraBold"/>
              </a:rPr>
              <a:t>MODELS</a:t>
            </a:r>
          </a:p>
        </p:txBody>
      </p:sp>
      <p:sp>
        <p:nvSpPr>
          <p:cNvPr id="38" name="TextBox 37"/>
          <p:cNvSpPr txBox="1"/>
          <p:nvPr/>
        </p:nvSpPr>
        <p:spPr>
          <a:xfrm>
            <a:off x="8910828" y="5198999"/>
            <a:ext cx="2400300" cy="6172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Local open-weight versus cloud models, through the same Ollama interface.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INTERPRETATION</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Known limits and how they are handled</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28</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pic>
        <p:nvPicPr>
          <p:cNvPr id="8" name="Picture 7" descr="69.png"/>
          <p:cNvPicPr>
            <a:picLocks noChangeAspect="1"/>
          </p:cNvPicPr>
          <p:nvPr/>
        </p:nvPicPr>
        <p:blipFill>
          <a:blip r:embed="rId3"/>
          <a:stretch>
            <a:fillRect/>
          </a:stretch>
        </p:blipFill>
        <p:spPr>
          <a:xfrm>
            <a:off x="10488168" y="201168"/>
            <a:ext cx="1316736" cy="1316736"/>
          </a:xfrm>
          <a:prstGeom prst="rect">
            <a:avLst/>
          </a:prstGeom>
        </p:spPr>
      </p:pic>
      <p:sp>
        <p:nvSpPr>
          <p:cNvPr id="9" name="Rounded Rectangle 8"/>
          <p:cNvSpPr/>
          <p:nvPr/>
        </p:nvSpPr>
        <p:spPr>
          <a:xfrm>
            <a:off x="612648" y="1783080"/>
            <a:ext cx="3505200" cy="21031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1965960"/>
            <a:ext cx="304800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MODEL QUALITY</a:t>
            </a:r>
          </a:p>
        </p:txBody>
      </p:sp>
      <p:sp>
        <p:nvSpPr>
          <p:cNvPr id="11" name="TextBox 10"/>
          <p:cNvSpPr txBox="1"/>
          <p:nvPr/>
        </p:nvSpPr>
        <p:spPr>
          <a:xfrm>
            <a:off x="841248" y="2313432"/>
            <a:ext cx="3048000" cy="457200"/>
          </a:xfrm>
          <a:prstGeom prst="rect">
            <a:avLst/>
          </a:prstGeom>
          <a:noFill/>
        </p:spPr>
        <p:txBody>
          <a:bodyPr wrap="square" lIns="0" rIns="0" tIns="0" bIns="0" anchor="t"/>
          <a:lstStyle/>
          <a:p>
            <a:pPr algn="l"/>
            <a:r>
              <a:rPr sz="1250" b="0" i="0">
                <a:solidFill>
                  <a:srgbClr val="111111"/>
                </a:solidFill>
                <a:latin typeface="Inter"/>
                <a:ea typeface="Inter"/>
                <a:cs typeface="Inter"/>
              </a:rPr>
              <a:t>Weaker local models need more repair rounds.</a:t>
            </a:r>
          </a:p>
        </p:txBody>
      </p:sp>
      <p:sp>
        <p:nvSpPr>
          <p:cNvPr id="12" name="TextBox 11"/>
          <p:cNvSpPr txBox="1"/>
          <p:nvPr/>
        </p:nvSpPr>
        <p:spPr>
          <a:xfrm>
            <a:off x="841248" y="2880360"/>
            <a:ext cx="3048000" cy="182880"/>
          </a:xfrm>
          <a:prstGeom prst="rect">
            <a:avLst/>
          </a:prstGeom>
          <a:noFill/>
        </p:spPr>
        <p:txBody>
          <a:bodyPr wrap="square" lIns="0" rIns="0" tIns="0" bIns="0" anchor="t"/>
          <a:lstStyle/>
          <a:p>
            <a:pPr algn="l"/>
            <a:r>
              <a:rPr sz="950" b="0" i="0" spc="200">
                <a:solidFill>
                  <a:srgbClr val="1F6BFF"/>
                </a:solidFill>
                <a:latin typeface="Urbanist SemiBold"/>
                <a:ea typeface="Urbanist SemiBold"/>
                <a:cs typeface="Urbanist SemiBold"/>
              </a:rPr>
              <a:t>MITIGATION</a:t>
            </a:r>
          </a:p>
        </p:txBody>
      </p:sp>
      <p:sp>
        <p:nvSpPr>
          <p:cNvPr id="13" name="TextBox 12"/>
          <p:cNvSpPr txBox="1"/>
          <p:nvPr/>
        </p:nvSpPr>
        <p:spPr>
          <a:xfrm>
            <a:off x="841248" y="3090672"/>
            <a:ext cx="3048000" cy="685800"/>
          </a:xfrm>
          <a:prstGeom prst="rect">
            <a:avLst/>
          </a:prstGeom>
          <a:noFill/>
        </p:spPr>
        <p:txBody>
          <a:bodyPr wrap="square" lIns="0" rIns="0" tIns="0" bIns="0" anchor="t"/>
          <a:lstStyle/>
          <a:p>
            <a:pPr algn="l">
              <a:lnSpc>
                <a:spcPct val="103000"/>
              </a:lnSpc>
            </a:pPr>
            <a:r>
              <a:rPr sz="1200" b="0" i="0">
                <a:solidFill>
                  <a:srgbClr val="1F2937"/>
                </a:solidFill>
                <a:latin typeface="Inter"/>
                <a:ea typeface="Inter"/>
                <a:cs typeface="Inter"/>
              </a:rPr>
              <a:t>Gates and in-context repair; switching model keeps the context.</a:t>
            </a:r>
          </a:p>
        </p:txBody>
      </p:sp>
      <p:sp>
        <p:nvSpPr>
          <p:cNvPr id="14" name="Rounded Rectangle 13"/>
          <p:cNvSpPr/>
          <p:nvPr/>
        </p:nvSpPr>
        <p:spPr>
          <a:xfrm>
            <a:off x="4346448" y="1783080"/>
            <a:ext cx="3505200" cy="21031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5048" y="1965960"/>
            <a:ext cx="304800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CONTEXT WINDOW</a:t>
            </a:r>
          </a:p>
        </p:txBody>
      </p:sp>
      <p:sp>
        <p:nvSpPr>
          <p:cNvPr id="16" name="TextBox 15"/>
          <p:cNvSpPr txBox="1"/>
          <p:nvPr/>
        </p:nvSpPr>
        <p:spPr>
          <a:xfrm>
            <a:off x="4575048" y="2313432"/>
            <a:ext cx="3048000" cy="457200"/>
          </a:xfrm>
          <a:prstGeom prst="rect">
            <a:avLst/>
          </a:prstGeom>
          <a:noFill/>
        </p:spPr>
        <p:txBody>
          <a:bodyPr wrap="square" lIns="0" rIns="0" tIns="0" bIns="0" anchor="t"/>
          <a:lstStyle/>
          <a:p>
            <a:pPr algn="l"/>
            <a:r>
              <a:rPr sz="1250" b="0" i="0">
                <a:solidFill>
                  <a:srgbClr val="111111"/>
                </a:solidFill>
                <a:latin typeface="Inter"/>
                <a:ea typeface="Inter"/>
                <a:cs typeface="Inter"/>
              </a:rPr>
              <a:t>Long builds exceed the model's window.</a:t>
            </a:r>
          </a:p>
        </p:txBody>
      </p:sp>
      <p:sp>
        <p:nvSpPr>
          <p:cNvPr id="17" name="TextBox 16"/>
          <p:cNvSpPr txBox="1"/>
          <p:nvPr/>
        </p:nvSpPr>
        <p:spPr>
          <a:xfrm>
            <a:off x="4575048" y="2880360"/>
            <a:ext cx="3048000" cy="182880"/>
          </a:xfrm>
          <a:prstGeom prst="rect">
            <a:avLst/>
          </a:prstGeom>
          <a:noFill/>
        </p:spPr>
        <p:txBody>
          <a:bodyPr wrap="square" lIns="0" rIns="0" tIns="0" bIns="0" anchor="t"/>
          <a:lstStyle/>
          <a:p>
            <a:pPr algn="l"/>
            <a:r>
              <a:rPr sz="950" b="0" i="0" spc="200">
                <a:solidFill>
                  <a:srgbClr val="1F6BFF"/>
                </a:solidFill>
                <a:latin typeface="Urbanist SemiBold"/>
                <a:ea typeface="Urbanist SemiBold"/>
                <a:cs typeface="Urbanist SemiBold"/>
              </a:rPr>
              <a:t>MITIGATION</a:t>
            </a:r>
          </a:p>
        </p:txBody>
      </p:sp>
      <p:sp>
        <p:nvSpPr>
          <p:cNvPr id="18" name="TextBox 17"/>
          <p:cNvSpPr txBox="1"/>
          <p:nvPr/>
        </p:nvSpPr>
        <p:spPr>
          <a:xfrm>
            <a:off x="4575048" y="3090672"/>
            <a:ext cx="3048000" cy="685800"/>
          </a:xfrm>
          <a:prstGeom prst="rect">
            <a:avLst/>
          </a:prstGeom>
          <a:noFill/>
        </p:spPr>
        <p:txBody>
          <a:bodyPr wrap="square" lIns="0" rIns="0" tIns="0" bIns="0" anchor="t"/>
          <a:lstStyle/>
          <a:p>
            <a:pPr algn="l">
              <a:lnSpc>
                <a:spcPct val="103000"/>
              </a:lnSpc>
            </a:pPr>
            <a:r>
              <a:rPr sz="1200" b="0" i="0">
                <a:solidFill>
                  <a:srgbClr val="1F2937"/>
                </a:solidFill>
                <a:latin typeface="Inter"/>
                <a:ea typeface="Inter"/>
                <a:cs typeface="Inter"/>
              </a:rPr>
              <a:t>Summarised memory with a digest fallback; files stay the source of truth.</a:t>
            </a:r>
          </a:p>
        </p:txBody>
      </p:sp>
      <p:sp>
        <p:nvSpPr>
          <p:cNvPr id="19" name="Rounded Rectangle 18"/>
          <p:cNvSpPr/>
          <p:nvPr/>
        </p:nvSpPr>
        <p:spPr>
          <a:xfrm>
            <a:off x="8080248" y="1783080"/>
            <a:ext cx="3505200" cy="21031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8848" y="1965960"/>
            <a:ext cx="304800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EXTERNAL SERVICES</a:t>
            </a:r>
          </a:p>
        </p:txBody>
      </p:sp>
      <p:sp>
        <p:nvSpPr>
          <p:cNvPr id="21" name="TextBox 20"/>
          <p:cNvSpPr txBox="1"/>
          <p:nvPr/>
        </p:nvSpPr>
        <p:spPr>
          <a:xfrm>
            <a:off x="8308848" y="2313432"/>
            <a:ext cx="3048000" cy="457200"/>
          </a:xfrm>
          <a:prstGeom prst="rect">
            <a:avLst/>
          </a:prstGeom>
          <a:noFill/>
        </p:spPr>
        <p:txBody>
          <a:bodyPr wrap="square" lIns="0" rIns="0" tIns="0" bIns="0" anchor="t"/>
          <a:lstStyle/>
          <a:p>
            <a:pPr algn="l"/>
            <a:r>
              <a:rPr sz="1250" b="0" i="0">
                <a:solidFill>
                  <a:srgbClr val="111111"/>
                </a:solidFill>
                <a:latin typeface="Inter"/>
                <a:ea typeface="Inter"/>
                <a:cs typeface="Inter"/>
              </a:rPr>
              <a:t>Database, CLIs and cloud accounts must be ready.</a:t>
            </a:r>
          </a:p>
        </p:txBody>
      </p:sp>
      <p:sp>
        <p:nvSpPr>
          <p:cNvPr id="22" name="TextBox 21"/>
          <p:cNvSpPr txBox="1"/>
          <p:nvPr/>
        </p:nvSpPr>
        <p:spPr>
          <a:xfrm>
            <a:off x="8308848" y="2880360"/>
            <a:ext cx="3048000" cy="182880"/>
          </a:xfrm>
          <a:prstGeom prst="rect">
            <a:avLst/>
          </a:prstGeom>
          <a:noFill/>
        </p:spPr>
        <p:txBody>
          <a:bodyPr wrap="square" lIns="0" rIns="0" tIns="0" bIns="0" anchor="t"/>
          <a:lstStyle/>
          <a:p>
            <a:pPr algn="l"/>
            <a:r>
              <a:rPr sz="950" b="0" i="0" spc="200">
                <a:solidFill>
                  <a:srgbClr val="1F6BFF"/>
                </a:solidFill>
                <a:latin typeface="Urbanist SemiBold"/>
                <a:ea typeface="Urbanist SemiBold"/>
                <a:cs typeface="Urbanist SemiBold"/>
              </a:rPr>
              <a:t>MITIGATION</a:t>
            </a:r>
          </a:p>
        </p:txBody>
      </p:sp>
      <p:sp>
        <p:nvSpPr>
          <p:cNvPr id="23" name="TextBox 22"/>
          <p:cNvSpPr txBox="1"/>
          <p:nvPr/>
        </p:nvSpPr>
        <p:spPr>
          <a:xfrm>
            <a:off x="8308848" y="3090672"/>
            <a:ext cx="3048000" cy="685800"/>
          </a:xfrm>
          <a:prstGeom prst="rect">
            <a:avLst/>
          </a:prstGeom>
          <a:noFill/>
        </p:spPr>
        <p:txBody>
          <a:bodyPr wrap="square" lIns="0" rIns="0" tIns="0" bIns="0" anchor="t"/>
          <a:lstStyle/>
          <a:p>
            <a:pPr algn="l">
              <a:lnSpc>
                <a:spcPct val="103000"/>
              </a:lnSpc>
            </a:pPr>
            <a:r>
              <a:rPr sz="1200" b="0" i="0">
                <a:solidFill>
                  <a:srgbClr val="1F2937"/>
                </a:solidFill>
                <a:latin typeface="Inter"/>
                <a:ea typeface="Inter"/>
                <a:cs typeface="Inter"/>
              </a:rPr>
              <a:t>Machine facts are measured; the plan asks instead of assuming.</a:t>
            </a:r>
          </a:p>
        </p:txBody>
      </p:sp>
      <p:sp>
        <p:nvSpPr>
          <p:cNvPr id="24" name="Rounded Rectangle 23"/>
          <p:cNvSpPr/>
          <p:nvPr/>
        </p:nvSpPr>
        <p:spPr>
          <a:xfrm>
            <a:off x="612648" y="4069080"/>
            <a:ext cx="3505200" cy="21031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4251960"/>
            <a:ext cx="304800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TEST COVERAGE</a:t>
            </a:r>
          </a:p>
        </p:txBody>
      </p:sp>
      <p:sp>
        <p:nvSpPr>
          <p:cNvPr id="26" name="TextBox 25"/>
          <p:cNvSpPr txBox="1"/>
          <p:nvPr/>
        </p:nvSpPr>
        <p:spPr>
          <a:xfrm>
            <a:off x="841248" y="4599432"/>
            <a:ext cx="3048000" cy="457200"/>
          </a:xfrm>
          <a:prstGeom prst="rect">
            <a:avLst/>
          </a:prstGeom>
          <a:noFill/>
        </p:spPr>
        <p:txBody>
          <a:bodyPr wrap="square" lIns="0" rIns="0" tIns="0" bIns="0" anchor="t"/>
          <a:lstStyle/>
          <a:p>
            <a:pPr algn="l"/>
            <a:r>
              <a:rPr sz="1250" b="0" i="0">
                <a:solidFill>
                  <a:srgbClr val="111111"/>
                </a:solidFill>
                <a:latin typeface="Inter"/>
                <a:ea typeface="Inter"/>
                <a:cs typeface="Inter"/>
              </a:rPr>
              <a:t>A passing runner cannot prove a requirement it never tested.</a:t>
            </a:r>
          </a:p>
        </p:txBody>
      </p:sp>
      <p:sp>
        <p:nvSpPr>
          <p:cNvPr id="27" name="TextBox 26"/>
          <p:cNvSpPr txBox="1"/>
          <p:nvPr/>
        </p:nvSpPr>
        <p:spPr>
          <a:xfrm>
            <a:off x="841248" y="5166360"/>
            <a:ext cx="3048000" cy="182880"/>
          </a:xfrm>
          <a:prstGeom prst="rect">
            <a:avLst/>
          </a:prstGeom>
          <a:noFill/>
        </p:spPr>
        <p:txBody>
          <a:bodyPr wrap="square" lIns="0" rIns="0" tIns="0" bIns="0" anchor="t"/>
          <a:lstStyle/>
          <a:p>
            <a:pPr algn="l"/>
            <a:r>
              <a:rPr sz="950" b="0" i="0" spc="200">
                <a:solidFill>
                  <a:srgbClr val="1F6BFF"/>
                </a:solidFill>
                <a:latin typeface="Urbanist SemiBold"/>
                <a:ea typeface="Urbanist SemiBold"/>
                <a:cs typeface="Urbanist SemiBold"/>
              </a:rPr>
              <a:t>MITIGATION</a:t>
            </a:r>
          </a:p>
        </p:txBody>
      </p:sp>
      <p:sp>
        <p:nvSpPr>
          <p:cNvPr id="28" name="TextBox 27"/>
          <p:cNvSpPr txBox="1"/>
          <p:nvPr/>
        </p:nvSpPr>
        <p:spPr>
          <a:xfrm>
            <a:off x="841248" y="5376672"/>
            <a:ext cx="3048000" cy="685800"/>
          </a:xfrm>
          <a:prstGeom prst="rect">
            <a:avLst/>
          </a:prstGeom>
          <a:noFill/>
        </p:spPr>
        <p:txBody>
          <a:bodyPr wrap="square" lIns="0" rIns="0" tIns="0" bIns="0" anchor="t"/>
          <a:lstStyle/>
          <a:p>
            <a:pPr algn="l">
              <a:lnSpc>
                <a:spcPct val="103000"/>
              </a:lnSpc>
            </a:pPr>
            <a:r>
              <a:rPr sz="1200" b="0" i="0">
                <a:solidFill>
                  <a:srgbClr val="1F2937"/>
                </a:solidFill>
                <a:latin typeface="Inter"/>
                <a:ea typeface="Inter"/>
                <a:cs typeface="Inter"/>
              </a:rPr>
              <a:t>Journey IDs come from the SRS; gaps are disclosed; missing ≠ pass.</a:t>
            </a:r>
          </a:p>
        </p:txBody>
      </p:sp>
      <p:sp>
        <p:nvSpPr>
          <p:cNvPr id="29" name="Rounded Rectangle 28"/>
          <p:cNvSpPr/>
          <p:nvPr/>
        </p:nvSpPr>
        <p:spPr>
          <a:xfrm>
            <a:off x="4346448" y="4069080"/>
            <a:ext cx="3505200" cy="21031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5048" y="4251960"/>
            <a:ext cx="304800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EVIDENCE BREADTH</a:t>
            </a:r>
          </a:p>
        </p:txBody>
      </p:sp>
      <p:sp>
        <p:nvSpPr>
          <p:cNvPr id="31" name="TextBox 30"/>
          <p:cNvSpPr txBox="1"/>
          <p:nvPr/>
        </p:nvSpPr>
        <p:spPr>
          <a:xfrm>
            <a:off x="4575048" y="4599432"/>
            <a:ext cx="3048000" cy="457200"/>
          </a:xfrm>
          <a:prstGeom prst="rect">
            <a:avLst/>
          </a:prstGeom>
          <a:noFill/>
        </p:spPr>
        <p:txBody>
          <a:bodyPr wrap="square" lIns="0" rIns="0" tIns="0" bIns="0" anchor="t"/>
          <a:lstStyle/>
          <a:p>
            <a:pPr algn="l"/>
            <a:r>
              <a:rPr sz="1250" b="0" i="0">
                <a:solidFill>
                  <a:srgbClr val="111111"/>
                </a:solidFill>
                <a:latin typeface="Inter"/>
                <a:ea typeface="Inter"/>
                <a:cs typeface="Inter"/>
              </a:rPr>
              <a:t>Few complete end-to-end runs so far.</a:t>
            </a:r>
          </a:p>
        </p:txBody>
      </p:sp>
      <p:sp>
        <p:nvSpPr>
          <p:cNvPr id="32" name="TextBox 31"/>
          <p:cNvSpPr txBox="1"/>
          <p:nvPr/>
        </p:nvSpPr>
        <p:spPr>
          <a:xfrm>
            <a:off x="4575048" y="5166360"/>
            <a:ext cx="3048000" cy="182880"/>
          </a:xfrm>
          <a:prstGeom prst="rect">
            <a:avLst/>
          </a:prstGeom>
          <a:noFill/>
        </p:spPr>
        <p:txBody>
          <a:bodyPr wrap="square" lIns="0" rIns="0" tIns="0" bIns="0" anchor="t"/>
          <a:lstStyle/>
          <a:p>
            <a:pPr algn="l"/>
            <a:r>
              <a:rPr sz="950" b="0" i="0" spc="200">
                <a:solidFill>
                  <a:srgbClr val="1F6BFF"/>
                </a:solidFill>
                <a:latin typeface="Urbanist SemiBold"/>
                <a:ea typeface="Urbanist SemiBold"/>
                <a:cs typeface="Urbanist SemiBold"/>
              </a:rPr>
              <a:t>MITIGATION</a:t>
            </a:r>
          </a:p>
        </p:txBody>
      </p:sp>
      <p:sp>
        <p:nvSpPr>
          <p:cNvPr id="33" name="TextBox 32"/>
          <p:cNvSpPr txBox="1"/>
          <p:nvPr/>
        </p:nvSpPr>
        <p:spPr>
          <a:xfrm>
            <a:off x="4575048" y="5376672"/>
            <a:ext cx="3048000" cy="685800"/>
          </a:xfrm>
          <a:prstGeom prst="rect">
            <a:avLst/>
          </a:prstGeom>
          <a:noFill/>
        </p:spPr>
        <p:txBody>
          <a:bodyPr wrap="square" lIns="0" rIns="0" tIns="0" bIns="0" anchor="t"/>
          <a:lstStyle/>
          <a:p>
            <a:pPr algn="l">
              <a:lnSpc>
                <a:spcPct val="103000"/>
              </a:lnSpc>
            </a:pPr>
            <a:r>
              <a:rPr sz="1200" b="0" i="0">
                <a:solidFill>
                  <a:srgbClr val="1F2937"/>
                </a:solidFill>
                <a:latin typeface="Inter"/>
                <a:ea typeface="Inter"/>
                <a:cs typeface="Inter"/>
              </a:rPr>
              <a:t>Repeated runs across app types in the evaluation plan.</a:t>
            </a:r>
          </a:p>
        </p:txBody>
      </p:sp>
      <p:sp>
        <p:nvSpPr>
          <p:cNvPr id="34" name="Rounded Rectangle 33"/>
          <p:cNvSpPr/>
          <p:nvPr/>
        </p:nvSpPr>
        <p:spPr>
          <a:xfrm>
            <a:off x="8080248" y="4069080"/>
            <a:ext cx="3505200" cy="210312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8848" y="4251960"/>
            <a:ext cx="3048000" cy="238125"/>
          </a:xfrm>
          <a:prstGeom prst="rect">
            <a:avLst/>
          </a:prstGeom>
          <a:noFill/>
        </p:spPr>
        <p:txBody>
          <a:bodyPr wrap="square" lIns="0" rIns="0" tIns="0" bIns="0" anchor="t"/>
          <a:lstStyle/>
          <a:p>
            <a:pPr algn="l"/>
            <a:r>
              <a:rPr sz="1500" b="0" i="0" spc="15">
                <a:solidFill>
                  <a:srgbClr val="111111"/>
                </a:solidFill>
                <a:latin typeface="Outfit ExtraBold"/>
                <a:ea typeface="Outfit ExtraBold"/>
                <a:cs typeface="Outfit ExtraBold"/>
              </a:rPr>
              <a:t>TIME AND COST</a:t>
            </a:r>
          </a:p>
        </p:txBody>
      </p:sp>
      <p:sp>
        <p:nvSpPr>
          <p:cNvPr id="36" name="TextBox 35"/>
          <p:cNvSpPr txBox="1"/>
          <p:nvPr/>
        </p:nvSpPr>
        <p:spPr>
          <a:xfrm>
            <a:off x="8308848" y="4599432"/>
            <a:ext cx="3048000" cy="457200"/>
          </a:xfrm>
          <a:prstGeom prst="rect">
            <a:avLst/>
          </a:prstGeom>
          <a:noFill/>
        </p:spPr>
        <p:txBody>
          <a:bodyPr wrap="square" lIns="0" rIns="0" tIns="0" bIns="0" anchor="t"/>
          <a:lstStyle/>
          <a:p>
            <a:pPr algn="l"/>
            <a:r>
              <a:rPr sz="1250" b="0" i="0">
                <a:solidFill>
                  <a:srgbClr val="111111"/>
                </a:solidFill>
                <a:latin typeface="Inter"/>
                <a:ea typeface="Inter"/>
                <a:cs typeface="Inter"/>
              </a:rPr>
              <a:t>A full build with tests can take hours.</a:t>
            </a:r>
          </a:p>
        </p:txBody>
      </p:sp>
      <p:sp>
        <p:nvSpPr>
          <p:cNvPr id="37" name="TextBox 36"/>
          <p:cNvSpPr txBox="1"/>
          <p:nvPr/>
        </p:nvSpPr>
        <p:spPr>
          <a:xfrm>
            <a:off x="8308848" y="5166360"/>
            <a:ext cx="3048000" cy="182880"/>
          </a:xfrm>
          <a:prstGeom prst="rect">
            <a:avLst/>
          </a:prstGeom>
          <a:noFill/>
        </p:spPr>
        <p:txBody>
          <a:bodyPr wrap="square" lIns="0" rIns="0" tIns="0" bIns="0" anchor="t"/>
          <a:lstStyle/>
          <a:p>
            <a:pPr algn="l"/>
            <a:r>
              <a:rPr sz="950" b="0" i="0" spc="200">
                <a:solidFill>
                  <a:srgbClr val="1F6BFF"/>
                </a:solidFill>
                <a:latin typeface="Urbanist SemiBold"/>
                <a:ea typeface="Urbanist SemiBold"/>
                <a:cs typeface="Urbanist SemiBold"/>
              </a:rPr>
              <a:t>MITIGATION</a:t>
            </a:r>
          </a:p>
        </p:txBody>
      </p:sp>
      <p:sp>
        <p:nvSpPr>
          <p:cNvPr id="38" name="TextBox 37"/>
          <p:cNvSpPr txBox="1"/>
          <p:nvPr/>
        </p:nvSpPr>
        <p:spPr>
          <a:xfrm>
            <a:off x="8308848" y="5376672"/>
            <a:ext cx="3048000" cy="685800"/>
          </a:xfrm>
          <a:prstGeom prst="rect">
            <a:avLst/>
          </a:prstGeom>
          <a:noFill/>
        </p:spPr>
        <p:txBody>
          <a:bodyPr wrap="square" lIns="0" rIns="0" tIns="0" bIns="0" anchor="t"/>
          <a:lstStyle/>
          <a:p>
            <a:pPr algn="l">
              <a:lnSpc>
                <a:spcPct val="103000"/>
              </a:lnSpc>
            </a:pPr>
            <a:r>
              <a:rPr sz="1200" b="0" i="0">
                <a:solidFill>
                  <a:srgbClr val="1F2937"/>
                </a:solidFill>
                <a:latin typeface="Inter"/>
                <a:ea typeface="Inter"/>
                <a:cs typeface="Inter"/>
              </a:rPr>
              <a:t>Selective reruns, parallel writes and resume after interruption.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CONCLUSION</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29</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sp>
        <p:nvSpPr>
          <p:cNvPr id="8" name="Rounded Rectangle 7"/>
          <p:cNvSpPr/>
          <p:nvPr/>
        </p:nvSpPr>
        <p:spPr>
          <a:xfrm>
            <a:off x="612648" y="1051560"/>
            <a:ext cx="7223760" cy="1325880"/>
          </a:xfrm>
          <a:prstGeom prst="roundRect">
            <a:avLst>
              <a:gd name="adj" fmla="val 3500"/>
            </a:avLst>
          </a:prstGeom>
          <a:solidFill>
            <a:srgbClr val="FFFFFF">
              <a:alpha val="80000"/>
            </a:srgbClr>
          </a:solidFill>
          <a:ln w="25400">
            <a:solidFill>
              <a:srgbClr val="B2C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207008"/>
            <a:ext cx="6766560" cy="1051560"/>
          </a:xfrm>
          <a:prstGeom prst="rect">
            <a:avLst/>
          </a:prstGeom>
          <a:noFill/>
        </p:spPr>
        <p:txBody>
          <a:bodyPr wrap="square" lIns="0" rIns="0" tIns="0" bIns="0" anchor="t"/>
          <a:lstStyle/>
          <a:p>
            <a:pPr algn="l">
              <a:lnSpc>
                <a:spcPct val="92000"/>
              </a:lnSpc>
            </a:pPr>
            <a:r>
              <a:rPr sz="3200" b="1" i="0" spc="-96">
                <a:solidFill>
                  <a:srgbClr val="111111"/>
                </a:solidFill>
                <a:latin typeface="Inter Bold"/>
                <a:ea typeface="Inter Bold"/>
                <a:cs typeface="Inter Bold"/>
              </a:rPr>
              <a:t>AgentForge makes every handoff inspectable</a:t>
            </a:r>
          </a:p>
        </p:txBody>
      </p:sp>
      <p:sp>
        <p:nvSpPr>
          <p:cNvPr id="10" name="TextBox 9"/>
          <p:cNvSpPr txBox="1"/>
          <p:nvPr/>
        </p:nvSpPr>
        <p:spPr>
          <a:xfrm>
            <a:off x="612648" y="2606040"/>
            <a:ext cx="7223760" cy="868680"/>
          </a:xfrm>
          <a:prstGeom prst="rect">
            <a:avLst/>
          </a:prstGeom>
          <a:noFill/>
        </p:spPr>
        <p:txBody>
          <a:bodyPr wrap="square" lIns="0" rIns="0" tIns="0" bIns="0" anchor="t"/>
          <a:lstStyle/>
          <a:p>
            <a:pPr algn="l">
              <a:lnSpc>
                <a:spcPct val="105000"/>
              </a:lnSpc>
            </a:pPr>
            <a:r>
              <a:rPr sz="1350" b="0" i="0">
                <a:solidFill>
                  <a:srgbClr val="111111"/>
                </a:solidFill>
                <a:latin typeface="Inter"/>
                <a:ea typeface="Inter"/>
                <a:cs typeface="Inter"/>
              </a:rPr>
              <a:t>Five specialist LLM agents — SRS, prototype, builder, QA and deploy — work through one persistent project context. Deterministic gates, runner evidence and human approvals turn an idea into an application whose every step can be inspected.</a:t>
            </a:r>
          </a:p>
        </p:txBody>
      </p:sp>
      <p:sp>
        <p:nvSpPr>
          <p:cNvPr id="11" name="TextBox 10"/>
          <p:cNvSpPr txBox="1"/>
          <p:nvPr/>
        </p:nvSpPr>
        <p:spPr>
          <a:xfrm>
            <a:off x="612648" y="3657600"/>
            <a:ext cx="3451860"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C1 · SHARED-CONTEXT AGENTS</a:t>
            </a:r>
          </a:p>
        </p:txBody>
      </p:sp>
      <p:sp>
        <p:nvSpPr>
          <p:cNvPr id="12" name="TextBox 11"/>
          <p:cNvSpPr txBox="1"/>
          <p:nvPr/>
        </p:nvSpPr>
        <p:spPr>
          <a:xfrm>
            <a:off x="612648" y="3917632"/>
            <a:ext cx="3451860" cy="426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Five roles, one conversation and one workspace, persisted across restarts.</a:t>
            </a:r>
          </a:p>
        </p:txBody>
      </p:sp>
      <p:sp>
        <p:nvSpPr>
          <p:cNvPr id="13" name="TextBox 12"/>
          <p:cNvSpPr txBox="1"/>
          <p:nvPr/>
        </p:nvSpPr>
        <p:spPr>
          <a:xfrm>
            <a:off x="4384548" y="3657600"/>
            <a:ext cx="3451860"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C2 · DETERMINISTIC GATES</a:t>
            </a:r>
          </a:p>
        </p:txBody>
      </p:sp>
      <p:sp>
        <p:nvSpPr>
          <p:cNvPr id="14" name="TextBox 13"/>
          <p:cNvSpPr txBox="1"/>
          <p:nvPr/>
        </p:nvSpPr>
        <p:spPr>
          <a:xfrm>
            <a:off x="4384548" y="3917632"/>
            <a:ext cx="3451860" cy="426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Plan depth, schema, coverage and a Python-decided standards review.</a:t>
            </a:r>
          </a:p>
        </p:txBody>
      </p:sp>
      <p:sp>
        <p:nvSpPr>
          <p:cNvPr id="15" name="TextBox 14"/>
          <p:cNvSpPr txBox="1"/>
          <p:nvPr/>
        </p:nvSpPr>
        <p:spPr>
          <a:xfrm>
            <a:off x="612648" y="4645152"/>
            <a:ext cx="3451860"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C3 · EVIDENCE-FIRST QA</a:t>
            </a:r>
          </a:p>
        </p:txBody>
      </p:sp>
      <p:sp>
        <p:nvSpPr>
          <p:cNvPr id="16" name="TextBox 15"/>
          <p:cNvSpPr txBox="1"/>
          <p:nvPr/>
        </p:nvSpPr>
        <p:spPr>
          <a:xfrm>
            <a:off x="612648" y="4905184"/>
            <a:ext cx="3451860" cy="426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Runner artifacts, honest gaps, and repair of only what failed.</a:t>
            </a:r>
          </a:p>
        </p:txBody>
      </p:sp>
      <p:sp>
        <p:nvSpPr>
          <p:cNvPr id="17" name="TextBox 16"/>
          <p:cNvSpPr txBox="1"/>
          <p:nvPr/>
        </p:nvSpPr>
        <p:spPr>
          <a:xfrm>
            <a:off x="4384548" y="4645152"/>
            <a:ext cx="3451860" cy="214312"/>
          </a:xfrm>
          <a:prstGeom prst="rect">
            <a:avLst/>
          </a:prstGeom>
          <a:noFill/>
        </p:spPr>
        <p:txBody>
          <a:bodyPr wrap="square" lIns="0" rIns="0" tIns="0" bIns="0" anchor="t"/>
          <a:lstStyle/>
          <a:p>
            <a:pPr algn="l"/>
            <a:r>
              <a:rPr sz="1350" b="0" i="0" spc="13">
                <a:solidFill>
                  <a:srgbClr val="111111"/>
                </a:solidFill>
                <a:latin typeface="Outfit ExtraBold"/>
                <a:ea typeface="Outfit ExtraBold"/>
                <a:cs typeface="Outfit ExtraBold"/>
              </a:rPr>
              <a:t>C4 · GOVERNED DELIVERY</a:t>
            </a:r>
          </a:p>
        </p:txBody>
      </p:sp>
      <p:sp>
        <p:nvSpPr>
          <p:cNvPr id="18" name="TextBox 17"/>
          <p:cNvSpPr txBox="1"/>
          <p:nvPr/>
        </p:nvSpPr>
        <p:spPr>
          <a:xfrm>
            <a:off x="4384548" y="4905184"/>
            <a:ext cx="3451860" cy="426720"/>
          </a:xfrm>
          <a:prstGeom prst="rect">
            <a:avLst/>
          </a:prstGeom>
          <a:noFill/>
        </p:spPr>
        <p:txBody>
          <a:bodyPr wrap="square" lIns="0" rIns="0" tIns="0" bIns="0" anchor="t"/>
          <a:lstStyle/>
          <a:p>
            <a:pPr algn="l">
              <a:lnSpc>
                <a:spcPct val="105000"/>
              </a:lnSpc>
            </a:pPr>
            <a:r>
              <a:rPr sz="1200" b="0" i="0">
                <a:solidFill>
                  <a:srgbClr val="1F2937"/>
                </a:solidFill>
                <a:latin typeface="Inter"/>
                <a:ea typeface="Inter"/>
                <a:cs typeface="Inter"/>
              </a:rPr>
              <a:t>Plan-first deployment with independent live verification.</a:t>
            </a:r>
          </a:p>
        </p:txBody>
      </p:sp>
      <p:sp>
        <p:nvSpPr>
          <p:cNvPr id="19" name="TextBox 18"/>
          <p:cNvSpPr txBox="1"/>
          <p:nvPr/>
        </p:nvSpPr>
        <p:spPr>
          <a:xfrm>
            <a:off x="612648" y="5596128"/>
            <a:ext cx="7223760" cy="548640"/>
          </a:xfrm>
          <a:prstGeom prst="rect">
            <a:avLst/>
          </a:prstGeom>
          <a:noFill/>
        </p:spPr>
        <p:txBody>
          <a:bodyPr wrap="square" lIns="0" rIns="0" tIns="0" bIns="0" anchor="t"/>
          <a:lstStyle/>
          <a:p>
            <a:pPr algn="l">
              <a:lnSpc>
                <a:spcPct val="100000"/>
              </a:lnSpc>
            </a:pPr>
            <a:r>
              <a:rPr sz="1500" b="0" i="0" spc="15">
                <a:solidFill>
                  <a:srgbClr val="1F6BFF"/>
                </a:solidFill>
                <a:latin typeface="Outfit ExtraBold"/>
                <a:ea typeface="Outfit ExtraBold"/>
                <a:cs typeface="Outfit ExtraBold"/>
              </a:rPr>
              <a:t>NEXT: REPEATED END-TO-END RUNS WITH VERIFIED REQUIREMENTS COVERAGE AND A LIVE, PROBED RELEASE.</a:t>
            </a:r>
          </a:p>
        </p:txBody>
      </p:sp>
      <p:pic>
        <p:nvPicPr>
          <p:cNvPr id="20" name="Picture 19" descr="77.png"/>
          <p:cNvPicPr>
            <a:picLocks noChangeAspect="1"/>
          </p:cNvPicPr>
          <p:nvPr/>
        </p:nvPicPr>
        <p:blipFill>
          <a:blip r:embed="rId3"/>
          <a:stretch>
            <a:fillRect/>
          </a:stretch>
        </p:blipFill>
        <p:spPr>
          <a:xfrm>
            <a:off x="8732520" y="1417320"/>
            <a:ext cx="2834640" cy="377647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jpe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12648" y="585216"/>
            <a:ext cx="9509760" cy="182880"/>
          </a:xfrm>
          <a:prstGeom prst="rect">
            <a:avLst/>
          </a:prstGeom>
          <a:noFill/>
        </p:spPr>
        <p:txBody>
          <a:bodyPr wrap="square" lIns="0" rIns="0" tIns="0" bIns="0" anchor="t"/>
          <a:lstStyle/>
          <a:p>
            <a:pPr algn="l"/>
            <a:r>
              <a:rPr sz="1100" b="0" i="0" spc="308">
                <a:solidFill>
                  <a:srgbClr val="111111"/>
                </a:solidFill>
                <a:latin typeface="Urbanist SemiBold"/>
                <a:ea typeface="Urbanist SemiBold"/>
                <a:cs typeface="Urbanist SemiBold"/>
              </a:rPr>
              <a:t>THANK YOU</a:t>
            </a:r>
          </a:p>
        </p:txBody>
      </p:sp>
      <p:sp>
        <p:nvSpPr>
          <p:cNvPr id="5" name="TextBox 4"/>
          <p:cNvSpPr txBox="1"/>
          <p:nvPr/>
        </p:nvSpPr>
        <p:spPr>
          <a:xfrm>
            <a:off x="612648" y="822960"/>
            <a:ext cx="9692640" cy="658368"/>
          </a:xfrm>
          <a:prstGeom prst="rect">
            <a:avLst/>
          </a:prstGeom>
          <a:noFill/>
        </p:spPr>
        <p:txBody>
          <a:bodyPr wrap="square" lIns="0" rIns="0" tIns="0" bIns="0" anchor="t"/>
          <a:lstStyle/>
          <a:p>
            <a:pPr algn="l">
              <a:lnSpc>
                <a:spcPct val="92000"/>
              </a:lnSpc>
            </a:pPr>
            <a:r>
              <a:rPr sz="4000" b="1" i="0" spc="-120">
                <a:solidFill>
                  <a:srgbClr val="111111"/>
                </a:solidFill>
                <a:latin typeface="Inter Bold"/>
                <a:ea typeface="Inter Bold"/>
                <a:cs typeface="Inter Bold"/>
              </a:rPr>
              <a:t/>
            </a:r>
          </a:p>
        </p:txBody>
      </p:sp>
      <p:sp>
        <p:nvSpPr>
          <p:cNvPr id="6" name="TextBox 5"/>
          <p:cNvSpPr txBox="1"/>
          <p:nvPr/>
        </p:nvSpPr>
        <p:spPr>
          <a:xfrm>
            <a:off x="182880" y="219456"/>
            <a:ext cx="768096" cy="173736"/>
          </a:xfrm>
          <a:prstGeom prst="rect">
            <a:avLst/>
          </a:prstGeom>
          <a:noFill/>
        </p:spPr>
        <p:txBody>
          <a:bodyPr wrap="square" lIns="0" rIns="0" tIns="0" bIns="0" anchor="t"/>
          <a:lstStyle/>
          <a:p>
            <a:pPr algn="l"/>
            <a:r>
              <a:rPr sz="1000" b="0" i="0">
                <a:solidFill>
                  <a:srgbClr val="111111"/>
                </a:solidFill>
                <a:latin typeface="Inter"/>
                <a:ea typeface="Inter"/>
                <a:cs typeface="Inter"/>
              </a:rPr>
              <a:t>30</a:t>
            </a:r>
          </a:p>
        </p:txBody>
      </p:sp>
      <p:sp>
        <p:nvSpPr>
          <p:cNvPr id="7" name="TextBox 6"/>
          <p:cNvSpPr txBox="1"/>
          <p:nvPr/>
        </p:nvSpPr>
        <p:spPr>
          <a:xfrm>
            <a:off x="5669280" y="219456"/>
            <a:ext cx="1463040" cy="173736"/>
          </a:xfrm>
          <a:prstGeom prst="rect">
            <a:avLst/>
          </a:prstGeom>
          <a:noFill/>
        </p:spPr>
        <p:txBody>
          <a:bodyPr wrap="square" lIns="0" rIns="0" tIns="0" bIns="0" anchor="t"/>
          <a:lstStyle/>
          <a:p>
            <a:pPr algn="l"/>
            <a:r>
              <a:rPr sz="1000" b="0" i="0">
                <a:solidFill>
                  <a:srgbClr val="111111"/>
                </a:solidFill>
                <a:latin typeface="Inter"/>
                <a:ea typeface="Inter"/>
                <a:cs typeface="Inter"/>
              </a:rPr>
              <a:t>AGENTFORGE</a:t>
            </a:r>
          </a:p>
        </p:txBody>
      </p:sp>
      <p:sp>
        <p:nvSpPr>
          <p:cNvPr id="8" name="TextBox 7"/>
          <p:cNvSpPr txBox="1"/>
          <p:nvPr/>
        </p:nvSpPr>
        <p:spPr>
          <a:xfrm>
            <a:off x="612648" y="2103120"/>
            <a:ext cx="7315200" cy="914400"/>
          </a:xfrm>
          <a:prstGeom prst="rect">
            <a:avLst/>
          </a:prstGeom>
          <a:noFill/>
        </p:spPr>
        <p:txBody>
          <a:bodyPr wrap="square" lIns="0" rIns="0" tIns="0" bIns="0" anchor="t"/>
          <a:lstStyle/>
          <a:p>
            <a:pPr algn="l"/>
            <a:r>
              <a:rPr sz="6000" b="0" i="0" spc="-120">
                <a:solidFill>
                  <a:srgbClr val="111111"/>
                </a:solidFill>
                <a:latin typeface="Inter"/>
                <a:ea typeface="Inter"/>
                <a:cs typeface="Inter"/>
              </a:rPr>
              <a:t>QUESTIONS?</a:t>
            </a:r>
          </a:p>
        </p:txBody>
      </p:sp>
      <p:sp>
        <p:nvSpPr>
          <p:cNvPr id="9" name="TextBox 8"/>
          <p:cNvSpPr txBox="1"/>
          <p:nvPr/>
        </p:nvSpPr>
        <p:spPr>
          <a:xfrm>
            <a:off x="612648" y="3337560"/>
            <a:ext cx="7498079" cy="320040"/>
          </a:xfrm>
          <a:prstGeom prst="rect">
            <a:avLst/>
          </a:prstGeom>
          <a:noFill/>
        </p:spPr>
        <p:txBody>
          <a:bodyPr wrap="square" lIns="0" rIns="0" tIns="0" bIns="0" anchor="t"/>
          <a:lstStyle/>
          <a:p>
            <a:pPr algn="l"/>
            <a:r>
              <a:rPr sz="1500" b="0" i="0">
                <a:solidFill>
                  <a:srgbClr val="1F2937"/>
                </a:solidFill>
                <a:latin typeface="Inter"/>
                <a:ea typeface="Inter"/>
                <a:cs typeface="Inter"/>
              </a:rPr>
              <a:t>Self-Optimized LLM Multi-Agent System for Software Engineering · PP2</a:t>
            </a:r>
          </a:p>
        </p:txBody>
      </p:sp>
      <p:sp>
        <p:nvSpPr>
          <p:cNvPr id="10" name="TextBox 9"/>
          <p:cNvSpPr txBox="1"/>
          <p:nvPr/>
        </p:nvSpPr>
        <p:spPr>
          <a:xfrm>
            <a:off x="612648" y="3977639"/>
            <a:ext cx="7498079" cy="228600"/>
          </a:xfrm>
          <a:prstGeom prst="rect">
            <a:avLst/>
          </a:prstGeom>
          <a:noFill/>
        </p:spPr>
        <p:txBody>
          <a:bodyPr wrap="square" lIns="0" rIns="0" tIns="0" bIns="0" anchor="t"/>
          <a:lstStyle/>
          <a:p>
            <a:pPr algn="l"/>
            <a:r>
              <a:rPr sz="1100" b="0" i="0" spc="250">
                <a:solidFill>
                  <a:srgbClr val="1F6BFF"/>
                </a:solidFill>
                <a:latin typeface="Urbanist SemiBold"/>
                <a:ea typeface="Urbanist SemiBold"/>
                <a:cs typeface="Urbanist SemiBold"/>
              </a:rPr>
              <a:t>OPEN FOR DISCUSSION</a:t>
            </a:r>
          </a:p>
        </p:txBody>
      </p:sp>
      <p:sp>
        <p:nvSpPr>
          <p:cNvPr id="11" name="TextBox 10"/>
          <p:cNvSpPr txBox="1"/>
          <p:nvPr/>
        </p:nvSpPr>
        <p:spPr>
          <a:xfrm>
            <a:off x="612648" y="4279392"/>
            <a:ext cx="7498079" cy="731520"/>
          </a:xfrm>
          <a:prstGeom prst="rect">
            <a:avLst/>
          </a:prstGeom>
          <a:noFill/>
        </p:spPr>
        <p:txBody>
          <a:bodyPr wrap="square" lIns="0" rIns="0" tIns="0" bIns="0" anchor="t"/>
          <a:lstStyle/>
          <a:p>
            <a:pPr algn="l">
              <a:lnSpc>
                <a:spcPct val="105000"/>
              </a:lnSpc>
            </a:pPr>
            <a:r>
              <a:rPr sz="1400" b="0" i="0">
                <a:solidFill>
                  <a:srgbClr val="111111"/>
                </a:solidFill>
                <a:latin typeface="Inter"/>
                <a:ea typeface="Inter"/>
                <a:cs typeface="Inter"/>
              </a:rPr>
              <a:t>Shared-context architecture · quality gates · runner evidence · governed deployment · evaluation design</a:t>
            </a:r>
          </a:p>
        </p:txBody>
      </p:sp>
      <p:pic>
        <p:nvPicPr>
          <p:cNvPr id="12" name="Picture 11" descr="78.png"/>
          <p:cNvPicPr>
            <a:picLocks noChangeAspect="1"/>
          </p:cNvPicPr>
          <p:nvPr/>
        </p:nvPicPr>
        <p:blipFill>
          <a:blip r:embed="rId3"/>
          <a:stretch>
            <a:fillRect/>
          </a:stretch>
        </p:blipFill>
        <p:spPr>
          <a:xfrm>
            <a:off x="8887968" y="2084831"/>
            <a:ext cx="2688336" cy="26883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0</TotalTime>
  <Application>Honor_Office</Application>
</Properties>
</file>

<file path=docProps/core.xml><?xml version="1.0" encoding="utf-8"?>
<cp:coreProperties xmlns:cp="http://schemas.openxmlformats.org/package/2006/metadata/core-properties" xmlns:dc="http://purl.org/dc/elements/1.1/" xmlns:dcterms="http://purl.org/dc/terms/" xmlns:xsi="http://www.w3.org/2001/XMLSchema-instance">
  <cp:lastModifiedBy>HONOR Docs</cp:lastModifiedBy>
  <cp:revision>1</cp:revision>
  <dcterms:created xsi:type="dcterms:W3CDTF">2026-10-06T20:55:09Z</dcterms:created>
  <dcterms:modified xsi:type="dcterms:W3CDTF">2026-10-07T02:32:16Z</dcterms:modified>
</cp:coreProperties>
</file>